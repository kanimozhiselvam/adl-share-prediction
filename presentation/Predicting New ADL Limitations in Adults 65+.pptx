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2275696d7361a964_3_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h2275696d7361a964_3_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Good morning, everyone! We are ZhiJie, Xiaomin, and Kani.</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According to researchBy 2035, one in four people in Germany will be 67 or older, that‘s why we conducted this research: Can we predict whether older adults will develop difficulties with everyday activities?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focus on people aged 65 and above who can still manage daily activities independently, and try to predict whether they'll develop limitations by the next survey.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used the easySHARE dataset, and here are three key numbers: over 115,000 observations, a final model AUC of 0.784, and 55.6% of new cases captured in the highest-risk 20%.</a:t>
            </a:r>
            <a:endParaRPr sz="1200">
              <a:solidFill>
                <a:schemeClr val="dk1"/>
              </a:solidFill>
            </a:endParaRPr>
          </a:p>
          <a:p>
            <a:pPr indent="0" lvl="0" marL="0" rtl="0" algn="l">
              <a:lnSpc>
                <a:spcPct val="115000"/>
              </a:lnSpc>
              <a:spcBef>
                <a:spcPts val="1200"/>
              </a:spcBef>
              <a:spcAft>
                <a:spcPts val="1200"/>
              </a:spcAft>
              <a:buSzPts val="1100"/>
              <a:buNone/>
            </a:pPr>
            <a:r>
              <a:rPr lang="en-GB" sz="1200">
                <a:solidFill>
                  <a:schemeClr val="dk1"/>
                </a:solidFill>
              </a:rPr>
              <a:t>I'll introduce the problem and data preparation. Then Xiaomin will cover the analysis and features, and Kani will present the models and results.</a:t>
            </a:r>
            <a:endParaRPr sz="1200">
              <a:solidFill>
                <a:schemeClr val="dk1"/>
              </a:solidFill>
            </a:endParaRPr>
          </a:p>
        </p:txBody>
      </p:sp>
      <p:sp>
        <p:nvSpPr>
          <p:cNvPr id="66" name="Google Shape;66;h2275696d7361a964_3_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2275696d7361a964_3_2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h2275696d7361a964_3_2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First, let's talk about Activities of Daily Living, or ADL.</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These are basic everyday tasks, like getting dressed, bathing, eating, or moving around at home.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Our goal is to predict whether someone will develop a new ADL limitation, rather than how severe it might become.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focus on people aged 65 and above who have no limitations at the beginning, and check whether they develop at least one by the next survey, usually around two years later.</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have three main goals: build a dataset that follows people over time, compare models using future survey data, and identify the factors that influence the risk.</a:t>
            </a:r>
            <a:endParaRPr sz="1200">
              <a:solidFill>
                <a:schemeClr val="dk1"/>
              </a:solidFill>
            </a:endParaRPr>
          </a:p>
          <a:p>
            <a:pPr indent="0" lvl="0" marL="0" rtl="0" algn="l">
              <a:lnSpc>
                <a:spcPct val="115000"/>
              </a:lnSpc>
              <a:spcBef>
                <a:spcPts val="1200"/>
              </a:spcBef>
              <a:spcAft>
                <a:spcPts val="1200"/>
              </a:spcAft>
              <a:buSzPts val="1100"/>
              <a:buNone/>
            </a:pPr>
            <a:r>
              <a:rPr lang="en-GB" sz="1200">
                <a:solidFill>
                  <a:schemeClr val="dk1"/>
                </a:solidFill>
              </a:rPr>
              <a:t>Now, let's look at our dataset.</a:t>
            </a:r>
            <a:endParaRPr sz="1200">
              <a:solidFill>
                <a:schemeClr val="dk1"/>
              </a:solidFill>
            </a:endParaRPr>
          </a:p>
        </p:txBody>
      </p:sp>
      <p:sp>
        <p:nvSpPr>
          <p:cNvPr id="83" name="Google Shape;83;h2275696d7361a964_3_2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2275696d7361a964_3_6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h2275696d7361a964_3_6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The original easySHARE dataset contains around 488,000 interviews and 108 variables across nine survey waves.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selected people aged 65 and above with no ADL limitations, then matched them with their next interview.</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Since wave 3 doesn't include the ADL measure we need, we ended up with six transitions and more than 115,000 interview pairs.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Overall, almost 10 </a:t>
            </a:r>
            <a:r>
              <a:rPr lang="en-GB" sz="1200">
                <a:solidFill>
                  <a:schemeClr val="dk1"/>
                </a:solidFill>
              </a:rPr>
              <a:t>percent of them</a:t>
            </a:r>
            <a:r>
              <a:rPr lang="en-GB" sz="1200">
                <a:solidFill>
                  <a:schemeClr val="dk1"/>
                </a:solidFill>
              </a:rPr>
              <a:t> developed at least one new limitation, while some of them developed two or more.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As the chart shows, the rate stays around 8 to 11% across transitions, meaning our data is quite imbalanced.</a:t>
            </a:r>
            <a:endParaRPr sz="1200">
              <a:solidFill>
                <a:schemeClr val="dk1"/>
              </a:solidFill>
            </a:endParaRPr>
          </a:p>
          <a:p>
            <a:pPr indent="0" lvl="0" marL="0" rtl="0" algn="l">
              <a:lnSpc>
                <a:spcPct val="115000"/>
              </a:lnSpc>
              <a:spcBef>
                <a:spcPts val="1200"/>
              </a:spcBef>
              <a:spcAft>
                <a:spcPts val="1200"/>
              </a:spcAft>
              <a:buSzPts val="1100"/>
              <a:buNone/>
            </a:pPr>
            <a:r>
              <a:rPr lang="en-GB" sz="1200">
                <a:solidFill>
                  <a:schemeClr val="dk1"/>
                </a:solidFill>
              </a:rPr>
              <a:t>Also, not everyone returned for follow-up, and the time between interviews varies. So we're predicting limitations by the next survey, not within exactly two years.</a:t>
            </a:r>
            <a:endParaRPr sz="1200">
              <a:solidFill>
                <a:schemeClr val="dk1"/>
              </a:solidFill>
            </a:endParaRPr>
          </a:p>
        </p:txBody>
      </p:sp>
      <p:sp>
        <p:nvSpPr>
          <p:cNvPr id="121" name="Google Shape;121;h2275696d7361a964_3_6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2275696d7361a964_3_8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h2275696d7361a964_3_8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rPr>
              <a:t>One important issue we found was how missing values were recorded.</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In the dataset, missing answers are sometimes stored as negative numbers, like minus 10 or minus 15. At first, our model treated these as real values.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You can see the problem in the red charts, especially for grip strength and depression scores.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After correcting these values, the average depression score changed from 0.28 to 2.29.</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More importantly, just fixing this issue improved our test AUC, without changing the model.</a:t>
            </a:r>
            <a:endParaRPr sz="1200">
              <a:solidFill>
                <a:schemeClr val="dk1"/>
              </a:solidFill>
            </a:endParaRPr>
          </a:p>
          <a:p>
            <a:pPr indent="0" lvl="0" marL="0" rtl="0" algn="l">
              <a:lnSpc>
                <a:spcPct val="115000"/>
              </a:lnSpc>
              <a:spcBef>
                <a:spcPts val="1200"/>
              </a:spcBef>
              <a:spcAft>
                <a:spcPts val="1200"/>
              </a:spcAft>
              <a:buSzPts val="1100"/>
              <a:buNone/>
            </a:pPr>
            <a:r>
              <a:rPr lang="en-GB" sz="1200">
                <a:solidFill>
                  <a:schemeClr val="dk1"/>
                </a:solidFill>
              </a:rPr>
              <a:t>We also found that 76% of eligible observations in wave 7 had missing depression scores. Kani will explain this later.</a:t>
            </a:r>
            <a:endParaRPr sz="1200">
              <a:solidFill>
                <a:schemeClr val="dk1"/>
              </a:solidFill>
            </a:endParaRPr>
          </a:p>
        </p:txBody>
      </p:sp>
      <p:sp>
        <p:nvSpPr>
          <p:cNvPr id="139" name="Google Shape;139;h2275696d7361a964_3_8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2275696d7361a964_3_9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h2275696d7361a964_3_9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Since we're predicting future outcomes, we split the data by time instead of randomly.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used around 45,500 interview pairs for training, 25,000 for validation, and 44,000 from the latest waves for testing.</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For missing data, we chose to fill in the values rather than delete observations, since that would have removed around 40% of our extended dataset.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We also applied scaling, transformations for age and BMI, and country encoding.</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All preprocessing was fitted only on the training data to avoid data leakage. We used validation data for tuning and household-level bootstrapping for confidence intervals.</a:t>
            </a:r>
            <a:endParaRPr sz="1200">
              <a:solidFill>
                <a:schemeClr val="dk1"/>
              </a:solidFill>
            </a:endParaRPr>
          </a:p>
          <a:p>
            <a:pPr indent="0" lvl="0" marL="0" rtl="0" algn="l">
              <a:lnSpc>
                <a:spcPct val="115000"/>
              </a:lnSpc>
              <a:spcBef>
                <a:spcPts val="1200"/>
              </a:spcBef>
              <a:spcAft>
                <a:spcPts val="1200"/>
              </a:spcAft>
              <a:buSzPts val="1100"/>
              <a:buNone/>
            </a:pPr>
            <a:r>
              <a:rPr lang="en-GB" sz="1200">
                <a:solidFill>
                  <a:schemeClr val="dk1"/>
                </a:solidFill>
              </a:rPr>
              <a:t>Now, I'll hand it over to Xiaomin.</a:t>
            </a:r>
            <a:endParaRPr sz="1200">
              <a:solidFill>
                <a:schemeClr val="dk1"/>
              </a:solidFill>
            </a:endParaRPr>
          </a:p>
        </p:txBody>
      </p:sp>
      <p:sp>
        <p:nvSpPr>
          <p:cNvPr id="158" name="Google Shape;158;h2275696d7361a964_3_9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7ce947beaf230dae_6_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h7ce947beaf230dae_6_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a:t>SHARE interviews with the same people about every two years. We always pair two consecutive waves, so that the time between baseline and follow-up is about the same for everyone. We are using a longitudinal dataset.</a:t>
            </a:r>
            <a:endParaRPr/>
          </a:p>
          <a:p>
            <a:pPr indent="0" lvl="0" marL="0" rtl="0" algn="l">
              <a:lnSpc>
                <a:spcPct val="115000"/>
              </a:lnSpc>
              <a:spcBef>
                <a:spcPts val="800"/>
              </a:spcBef>
              <a:spcAft>
                <a:spcPts val="0"/>
              </a:spcAft>
              <a:buClr>
                <a:schemeClr val="dk1"/>
              </a:buClr>
              <a:buSzPts val="1100"/>
              <a:buFont typeface="Arial"/>
              <a:buNone/>
            </a:pPr>
            <a:r>
              <a:rPr lang="en-GB"/>
              <a:t>As mentioned before, we measure performance with the AUC, not with accuracy. Only 9.6 percent of the pairs develop a new limitation, which makes accuracy misleading: a model that simply predicts “nobody” is 91 percent accurate but does not find a single case. The AUC is the probability that a person who develops a limitation gets a higher predicted risk than a person who does not. 0.5 is chance, and 1 is perfect.</a:t>
            </a:r>
            <a:endParaRPr/>
          </a:p>
          <a:p>
            <a:pPr indent="0" lvl="0" marL="0" marR="0" rtl="0" algn="l">
              <a:spcBef>
                <a:spcPts val="800"/>
              </a:spcBef>
              <a:spcAft>
                <a:spcPts val="0"/>
              </a:spcAft>
              <a:buNone/>
            </a:pPr>
            <a:r>
              <a:t/>
            </a:r>
            <a:endParaRPr/>
          </a:p>
        </p:txBody>
      </p:sp>
      <p:sp>
        <p:nvSpPr>
          <p:cNvPr id="174" name="Google Shape;174;h7ce947beaf230dae_6_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7ce947beaf230dae_6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t>Before modelling, we did an exploratory data analysis to see who develops a limitation.</a:t>
            </a:r>
            <a:endParaRPr/>
          </a:p>
          <a:p>
            <a:pPr indent="0" lvl="0" marL="0" rtl="0" algn="l">
              <a:lnSpc>
                <a:spcPct val="115000"/>
              </a:lnSpc>
              <a:spcBef>
                <a:spcPts val="800"/>
              </a:spcBef>
              <a:spcAft>
                <a:spcPts val="0"/>
              </a:spcAft>
              <a:buClr>
                <a:schemeClr val="dk1"/>
              </a:buClr>
              <a:buSzPts val="1100"/>
              <a:buFont typeface="Arial"/>
              <a:buNone/>
            </a:pPr>
            <a:r>
              <a:rPr lang="en-GB"/>
              <a:t>First, age: 5 percent of people aged 65 to 69 develop a new limitation by the next wave, compared with 26 percent of those aged 85 and over, five times as many.</a:t>
            </a:r>
            <a:endParaRPr/>
          </a:p>
          <a:p>
            <a:pPr indent="0" lvl="0" marL="0" rtl="0" algn="l">
              <a:lnSpc>
                <a:spcPct val="115000"/>
              </a:lnSpc>
              <a:spcBef>
                <a:spcPts val="800"/>
              </a:spcBef>
              <a:spcAft>
                <a:spcPts val="0"/>
              </a:spcAft>
              <a:buClr>
                <a:schemeClr val="dk1"/>
              </a:buClr>
              <a:buSzPts val="1100"/>
              <a:buFont typeface="Arial"/>
              <a:buNone/>
            </a:pPr>
            <a:r>
              <a:rPr lang="en-GB"/>
              <a:t>Second, self-rated health shows an even steeper gradient: from about 3 percent for excellent to 28 percent for poor health, roughly ten times.</a:t>
            </a:r>
            <a:endParaRPr/>
          </a:p>
          <a:p>
            <a:pPr indent="0" lvl="0" marL="0" rtl="0" algn="l">
              <a:lnSpc>
                <a:spcPct val="115000"/>
              </a:lnSpc>
              <a:spcBef>
                <a:spcPts val="800"/>
              </a:spcBef>
              <a:spcAft>
                <a:spcPts val="0"/>
              </a:spcAft>
              <a:buClr>
                <a:schemeClr val="dk1"/>
              </a:buClr>
              <a:buSzPts val="1100"/>
              <a:buFont typeface="Arial"/>
              <a:buNone/>
            </a:pPr>
            <a:r>
              <a:rPr lang="en-GB"/>
              <a:t>Third, people who hardly ever do vigorous activity develop a limitation almost three times as often as those who are active more than once a week.</a:t>
            </a:r>
            <a:endParaRPr/>
          </a:p>
          <a:p>
            <a:pPr indent="0" lvl="0" marL="0" rtl="0" algn="l">
              <a:lnSpc>
                <a:spcPct val="115000"/>
              </a:lnSpc>
              <a:spcBef>
                <a:spcPts val="800"/>
              </a:spcBef>
              <a:spcAft>
                <a:spcPts val="0"/>
              </a:spcAft>
              <a:buClr>
                <a:schemeClr val="dk1"/>
              </a:buClr>
              <a:buSzPts val="1100"/>
              <a:buFont typeface="Arial"/>
              <a:buNone/>
            </a:pPr>
            <a:r>
              <a:rPr lang="en-GB"/>
              <a:t>Finally, people who already receive help develop one about twice as often, 15 versus 8 percent.</a:t>
            </a:r>
            <a:endParaRPr/>
          </a:p>
          <a:p>
            <a:pPr indent="0" lvl="0" marL="0" rtl="0" algn="l">
              <a:lnSpc>
                <a:spcPct val="115000"/>
              </a:lnSpc>
              <a:spcBef>
                <a:spcPts val="800"/>
              </a:spcBef>
              <a:spcAft>
                <a:spcPts val="0"/>
              </a:spcAft>
              <a:buClr>
                <a:schemeClr val="dk1"/>
              </a:buClr>
              <a:buSzPts val="1100"/>
              <a:buFont typeface="Arial"/>
              <a:buNone/>
            </a:pPr>
            <a:r>
              <a:rPr lang="en-GB"/>
              <a:t>Even so, the best single variable, self-rated health, reaches an AUC of only 0.685, far from the 0.78 we reach later, so we have to combine variables.</a:t>
            </a:r>
            <a:endParaRPr/>
          </a:p>
          <a:p>
            <a:pPr indent="0" lvl="0" marL="0" rtl="0" algn="l">
              <a:lnSpc>
                <a:spcPct val="115000"/>
              </a:lnSpc>
              <a:spcBef>
                <a:spcPts val="800"/>
              </a:spcBef>
              <a:spcAft>
                <a:spcPts val="0"/>
              </a:spcAft>
              <a:buClr>
                <a:schemeClr val="dk1"/>
              </a:buClr>
              <a:buSzPts val="1100"/>
              <a:buFont typeface="Arial"/>
              <a:buNone/>
            </a:pPr>
            <a:r>
              <a:rPr lang="en-GB"/>
              <a:t>Keep in mind that these are descriptive associations, not causal effects.</a:t>
            </a:r>
            <a:endParaRPr/>
          </a:p>
          <a:p>
            <a:pPr indent="0" lvl="0" marL="0" rtl="0" algn="l">
              <a:spcBef>
                <a:spcPts val="800"/>
              </a:spcBef>
              <a:spcAft>
                <a:spcPts val="0"/>
              </a:spcAft>
              <a:buNone/>
            </a:pPr>
            <a:r>
              <a:t/>
            </a:r>
            <a:endParaRPr/>
          </a:p>
        </p:txBody>
      </p:sp>
      <p:sp>
        <p:nvSpPr>
          <p:cNvPr id="230" name="Google Shape;230;h7ce947beaf230dae_6_57:notes"/>
          <p:cNvSpPr/>
          <p:nvPr>
            <p:ph idx="2" type="sldImg"/>
          </p:nvPr>
        </p:nvSpPr>
        <p:spPr>
          <a:xfrm>
            <a:off x="857419" y="685800"/>
            <a:ext cx="34291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7ce947beaf230dae_6_7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h7ce947beaf230dae_6_7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a:t>In this step we did feature selection. Instead of putting all variables into one model, we built five nested feature sets, each adding one block of information, and fitted the same logistic regression on each. Because only one block changes at a time, the difference in AUC shows exactly what that block adds.</a:t>
            </a:r>
            <a:endParaRPr/>
          </a:p>
          <a:p>
            <a:pPr indent="0" lvl="0" marL="0" rtl="0" algn="l">
              <a:lnSpc>
                <a:spcPct val="115000"/>
              </a:lnSpc>
              <a:spcBef>
                <a:spcPts val="800"/>
              </a:spcBef>
              <a:spcAft>
                <a:spcPts val="0"/>
              </a:spcAft>
              <a:buClr>
                <a:schemeClr val="dk1"/>
              </a:buClr>
              <a:buSzPts val="1100"/>
              <a:buFont typeface="Arial"/>
              <a:buNone/>
            </a:pPr>
            <a:r>
              <a:rPr lang="en-GB"/>
              <a:t>Set A, a minimal health core with five variables, reaches an AUC of 0.739.</a:t>
            </a:r>
            <a:br>
              <a:rPr lang="en-GB"/>
            </a:br>
            <a:r>
              <a:rPr lang="en-GB"/>
              <a:t> Set B adds mental health, BMI, income and memory; these are the nine variables of our original project and our reference, with an AUC of 0.750.</a:t>
            </a:r>
            <a:br>
              <a:rPr lang="en-GB"/>
            </a:br>
            <a:r>
              <a:rPr lang="en-GB"/>
              <a:t> Set C adds the social and lifestyle context and reaches 0.763.</a:t>
            </a:r>
            <a:br>
              <a:rPr lang="en-GB"/>
            </a:br>
            <a:r>
              <a:rPr lang="en-GB"/>
              <a:t> Set D adds three indices of milder functional difficulty and jumps to 0.784, the largest single step.</a:t>
            </a:r>
            <a:br>
              <a:rPr lang="en-GB"/>
            </a:br>
            <a:r>
              <a:rPr lang="en-GB"/>
              <a:t> Set D+T adds how eight variables changed since the previous wave, but only reaches 0.790.</a:t>
            </a:r>
            <a:endParaRPr/>
          </a:p>
          <a:p>
            <a:pPr indent="0" lvl="0" marL="0" rtl="0" algn="l">
              <a:lnSpc>
                <a:spcPct val="115000"/>
              </a:lnSpc>
              <a:spcBef>
                <a:spcPts val="800"/>
              </a:spcBef>
              <a:spcAft>
                <a:spcPts val="0"/>
              </a:spcAft>
              <a:buClr>
                <a:schemeClr val="dk1"/>
              </a:buClr>
              <a:buSzPts val="1100"/>
              <a:buFont typeface="Arial"/>
              <a:buNone/>
            </a:pPr>
            <a:r>
              <a:rPr lang="en-GB"/>
              <a:t>We also tried a purely data-driven set, the twelve variables with the highest single AUC. It reached only 0.750, no better than B.</a:t>
            </a:r>
            <a:endParaRPr/>
          </a:p>
          <a:p>
            <a:pPr indent="0" lvl="0" marL="0" rtl="0" algn="l">
              <a:lnSpc>
                <a:spcPct val="115000"/>
              </a:lnSpc>
              <a:spcBef>
                <a:spcPts val="800"/>
              </a:spcBef>
              <a:spcAft>
                <a:spcPts val="0"/>
              </a:spcAft>
              <a:buClr>
                <a:schemeClr val="dk1"/>
              </a:buClr>
              <a:buSzPts val="1100"/>
              <a:buFont typeface="Arial"/>
              <a:buNone/>
            </a:pPr>
            <a:r>
              <a:rPr lang="en-GB"/>
              <a:t>So the functional difficulty indices bring the largest improvement, while changes over time add only a little, and selecting variables by domain knowledge works at least as well as automatic selection.</a:t>
            </a:r>
            <a:endParaRPr/>
          </a:p>
          <a:p>
            <a:pPr indent="0" lvl="0" marL="0" marR="0" rtl="0" algn="l">
              <a:spcBef>
                <a:spcPts val="800"/>
              </a:spcBef>
              <a:spcAft>
                <a:spcPts val="0"/>
              </a:spcAft>
              <a:buNone/>
            </a:pPr>
            <a:r>
              <a:t/>
            </a:r>
            <a:endParaRPr/>
          </a:p>
        </p:txBody>
      </p:sp>
      <p:sp>
        <p:nvSpPr>
          <p:cNvPr id="251" name="Google Shape;251;h7ce947beaf230dae_6_7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h7ce947beaf230dae_6_9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h7ce947beaf230dae_6_9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a:t>So, why do the functional indices help so much?</a:t>
            </a:r>
            <a:endParaRPr/>
          </a:p>
          <a:p>
            <a:pPr indent="0" lvl="0" marL="0" rtl="0" algn="l">
              <a:lnSpc>
                <a:spcPct val="115000"/>
              </a:lnSpc>
              <a:spcBef>
                <a:spcPts val="800"/>
              </a:spcBef>
              <a:spcAft>
                <a:spcPts val="0"/>
              </a:spcAft>
              <a:buClr>
                <a:schemeClr val="dk1"/>
              </a:buClr>
              <a:buSzPts val="1100"/>
              <a:buFont typeface="Arial"/>
              <a:buNone/>
            </a:pPr>
            <a:r>
              <a:rPr lang="en-GB"/>
              <a:t>Everyone in our data has no ADL limitation at baseline, but many already have milder difficulties, for example climbing stairs, walking 100 metres or rising from a chair.</a:t>
            </a:r>
            <a:endParaRPr/>
          </a:p>
          <a:p>
            <a:pPr indent="0" lvl="0" marL="0" rtl="0" algn="l">
              <a:lnSpc>
                <a:spcPct val="115000"/>
              </a:lnSpc>
              <a:spcBef>
                <a:spcPts val="800"/>
              </a:spcBef>
              <a:spcAft>
                <a:spcPts val="0"/>
              </a:spcAft>
              <a:buClr>
                <a:schemeClr val="dk1"/>
              </a:buClr>
              <a:buSzPts val="1100"/>
              <a:buFont typeface="Arial"/>
              <a:buNone/>
            </a:pPr>
            <a:r>
              <a:rPr lang="en-GB"/>
              <a:t>The chart shows a clear dose-response: with no mobility difficulty, 6 percent develop a limitation; with three or more, 35 percent. The large-muscle index shows the same pattern.</a:t>
            </a:r>
            <a:endParaRPr/>
          </a:p>
          <a:p>
            <a:pPr indent="0" lvl="0" marL="0" rtl="0" algn="l">
              <a:lnSpc>
                <a:spcPct val="115000"/>
              </a:lnSpc>
              <a:spcBef>
                <a:spcPts val="800"/>
              </a:spcBef>
              <a:spcAft>
                <a:spcPts val="0"/>
              </a:spcAft>
              <a:buClr>
                <a:schemeClr val="dk1"/>
              </a:buClr>
              <a:buSzPts val="1100"/>
              <a:buFont typeface="Arial"/>
              <a:buNone/>
            </a:pPr>
            <a:r>
              <a:rPr lang="en-GB"/>
              <a:t>Adding these indices raises the AUC by 0.021 on top of set C, and by 0.033 over the original variables. This is not leakage, because they are measured at baseline, before the outcome.</a:t>
            </a:r>
            <a:endParaRPr/>
          </a:p>
          <a:p>
            <a:pPr indent="0" lvl="0" marL="0" rtl="0" algn="l">
              <a:lnSpc>
                <a:spcPct val="115000"/>
              </a:lnSpc>
              <a:spcBef>
                <a:spcPts val="800"/>
              </a:spcBef>
              <a:spcAft>
                <a:spcPts val="0"/>
              </a:spcAft>
              <a:buClr>
                <a:schemeClr val="dk1"/>
              </a:buClr>
              <a:buSzPts val="1100"/>
              <a:buFont typeface="Arial"/>
              <a:buNone/>
            </a:pPr>
            <a:r>
              <a:rPr lang="en-GB"/>
              <a:t>These results suggest that disability develops step by step, and mild difficulties come first.</a:t>
            </a:r>
            <a:endParaRPr/>
          </a:p>
          <a:p>
            <a:pPr indent="0" lvl="0" marL="0" marR="0" rtl="0" algn="l">
              <a:spcBef>
                <a:spcPts val="800"/>
              </a:spcBef>
              <a:spcAft>
                <a:spcPts val="0"/>
              </a:spcAft>
              <a:buNone/>
            </a:pPr>
            <a:r>
              <a:t/>
            </a:r>
            <a:endParaRPr/>
          </a:p>
        </p:txBody>
      </p:sp>
      <p:sp>
        <p:nvSpPr>
          <p:cNvPr id="275" name="Google Shape;275;h7ce947beaf230dae_6_9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7ce947beaf230dae_6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t>Moving on to dimension reduction.</a:t>
            </a:r>
            <a:endParaRPr/>
          </a:p>
          <a:p>
            <a:pPr indent="0" lvl="0" marL="0" rtl="0" algn="l">
              <a:lnSpc>
                <a:spcPct val="115000"/>
              </a:lnSpc>
              <a:spcBef>
                <a:spcPts val="800"/>
              </a:spcBef>
              <a:spcAft>
                <a:spcPts val="0"/>
              </a:spcAft>
              <a:buClr>
                <a:schemeClr val="dk1"/>
              </a:buClr>
              <a:buSzPts val="1100"/>
              <a:buFont typeface="Arial"/>
              <a:buNone/>
            </a:pPr>
            <a:r>
              <a:rPr lang="en-GB"/>
              <a:t>PCA only helps if predictors are strongly correlated, so that a few components carry most of the information. This matrix shows the correlations between our eight main predictors.</a:t>
            </a:r>
            <a:endParaRPr/>
          </a:p>
          <a:p>
            <a:pPr indent="0" lvl="0" marL="0" rtl="0" algn="l">
              <a:lnSpc>
                <a:spcPct val="115000"/>
              </a:lnSpc>
              <a:spcBef>
                <a:spcPts val="800"/>
              </a:spcBef>
              <a:spcAft>
                <a:spcPts val="0"/>
              </a:spcAft>
              <a:buClr>
                <a:schemeClr val="dk1"/>
              </a:buClr>
              <a:buSzPts val="1100"/>
              <a:buFont typeface="Arial"/>
              <a:buNone/>
            </a:pPr>
            <a:r>
              <a:rPr lang="en-GB"/>
              <a:t>So there is little redundancy: each variable carries its own information, and that is exactly why PCA cannot compress them.</a:t>
            </a:r>
            <a:endParaRPr/>
          </a:p>
          <a:p>
            <a:pPr indent="0" lvl="0" marL="0" rtl="0" algn="l">
              <a:spcBef>
                <a:spcPts val="800"/>
              </a:spcBef>
              <a:spcAft>
                <a:spcPts val="0"/>
              </a:spcAft>
              <a:buNone/>
            </a:pPr>
            <a:r>
              <a:t/>
            </a:r>
            <a:endParaRPr/>
          </a:p>
        </p:txBody>
      </p:sp>
      <p:sp>
        <p:nvSpPr>
          <p:cNvPr id="292" name="Google Shape;292;h7ce947beaf230dae_6_116:notes"/>
          <p:cNvSpPr/>
          <p:nvPr>
            <p:ph idx="2" type="sldImg"/>
          </p:nvPr>
        </p:nvSpPr>
        <p:spPr>
          <a:xfrm>
            <a:off x="857419" y="685800"/>
            <a:ext cx="34291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7ce947beaf230dae_6_12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h7ce947beaf230dae_6_12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a:t>Here are the results.</a:t>
            </a:r>
            <a:endParaRPr/>
          </a:p>
          <a:p>
            <a:pPr indent="0" lvl="0" marL="0" rtl="0" algn="l">
              <a:lnSpc>
                <a:spcPct val="115000"/>
              </a:lnSpc>
              <a:spcBef>
                <a:spcPts val="800"/>
              </a:spcBef>
              <a:spcAft>
                <a:spcPts val="0"/>
              </a:spcAft>
              <a:buClr>
                <a:schemeClr val="dk1"/>
              </a:buClr>
              <a:buSzPts val="1100"/>
              <a:buFont typeface="Arial"/>
              <a:buNone/>
            </a:pPr>
            <a:r>
              <a:rPr lang="en-GB"/>
              <a:t>The scree plot on the left shows the eigenvalues of the eight components: only two are above one,</a:t>
            </a:r>
            <a:endParaRPr/>
          </a:p>
          <a:p>
            <a:pPr indent="0" lvl="0" marL="0" rtl="0" algn="l">
              <a:lnSpc>
                <a:spcPct val="115000"/>
              </a:lnSpc>
              <a:spcBef>
                <a:spcPts val="800"/>
              </a:spcBef>
              <a:spcAft>
                <a:spcPts val="0"/>
              </a:spcAft>
              <a:buClr>
                <a:schemeClr val="dk1"/>
              </a:buClr>
              <a:buSzPts val="1100"/>
              <a:buFont typeface="Arial"/>
              <a:buNone/>
            </a:pPr>
            <a:r>
              <a:rPr lang="en-GB"/>
              <a:t>and we need seven of eight components to keep 90 percent of the variance. The right panel shows the validation AUC of PCA plus logistic regression for each number of components.</a:t>
            </a:r>
            <a:endParaRPr/>
          </a:p>
          <a:p>
            <a:pPr indent="0" lvl="0" marL="0" rtl="0" algn="l">
              <a:lnSpc>
                <a:spcPct val="115000"/>
              </a:lnSpc>
              <a:spcBef>
                <a:spcPts val="800"/>
              </a:spcBef>
              <a:spcAft>
                <a:spcPts val="0"/>
              </a:spcAft>
              <a:buClr>
                <a:schemeClr val="dk1"/>
              </a:buClr>
              <a:buSzPts val="1100"/>
              <a:buFont typeface="Arial"/>
              <a:buNone/>
            </a:pPr>
            <a:r>
              <a:rPr lang="en-GB"/>
              <a:t>It rises as we keep more components, is best with all eight, which means no compression at all,</a:t>
            </a:r>
            <a:endParaRPr/>
          </a:p>
          <a:p>
            <a:pPr indent="0" lvl="0" marL="0" rtl="0" algn="l">
              <a:lnSpc>
                <a:spcPct val="115000"/>
              </a:lnSpc>
              <a:spcBef>
                <a:spcPts val="800"/>
              </a:spcBef>
              <a:spcAft>
                <a:spcPts val="0"/>
              </a:spcAft>
              <a:buClr>
                <a:schemeClr val="dk1"/>
              </a:buClr>
              <a:buSzPts val="1100"/>
              <a:buFont typeface="Arial"/>
              <a:buNone/>
            </a:pPr>
            <a:r>
              <a:rPr lang="en-GB"/>
              <a:t>From the green dashed line. We repeated this for the larger sets with the same result, and the test AUC is 0.001 to 0.002 lower.</a:t>
            </a:r>
            <a:endParaRPr/>
          </a:p>
          <a:p>
            <a:pPr indent="0" lvl="0" marL="0" rtl="0" algn="l">
              <a:lnSpc>
                <a:spcPct val="115000"/>
              </a:lnSpc>
              <a:spcBef>
                <a:spcPts val="800"/>
              </a:spcBef>
              <a:spcAft>
                <a:spcPts val="0"/>
              </a:spcAft>
              <a:buClr>
                <a:schemeClr val="dk1"/>
              </a:buClr>
              <a:buSzPts val="1100"/>
              <a:buFont typeface="Arial"/>
              <a:buNone/>
            </a:pPr>
            <a:r>
              <a:rPr lang="en-GB"/>
              <a:t>PCA would also cost us interpretability, because components have no odds ratios. To make sure we understand the methods, we also implemented PCA and logistic regression ourselves in NumPy; both reproduce scikit-learn. So we keep the original variables, and [name] will now show how the models compare.</a:t>
            </a:r>
            <a:endParaRPr/>
          </a:p>
          <a:p>
            <a:pPr indent="0" lvl="0" marL="0" marR="0" rtl="0" algn="l">
              <a:spcBef>
                <a:spcPts val="800"/>
              </a:spcBef>
              <a:spcAft>
                <a:spcPts val="0"/>
              </a:spcAft>
              <a:buNone/>
            </a:pPr>
            <a:r>
              <a:t/>
            </a:r>
            <a:endParaRPr/>
          </a:p>
        </p:txBody>
      </p:sp>
      <p:sp>
        <p:nvSpPr>
          <p:cNvPr id="299" name="Google Shape;299;h7ce947beaf230dae_6_12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2275696d7361a964_3_19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h2275696d7361a964_3_19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Thank you, Xiaomin. </a:t>
            </a:r>
            <a:r>
              <a:rPr lang="en-GB" sz="1200">
                <a:solidFill>
                  <a:schemeClr val="dk1"/>
                </a:solidFill>
              </a:rPr>
              <a:t>We first checked whether our models beat two simple comparisons. If we predict that nobody develops ADL problems, we get 90.95% accuracy, but we miss every real case. So accuracy is not enough.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Our second comparison uses only age and scores 0.666 AUC. We then compared four types of models, with 15 configurations. All were checked on the same future test data.</a:t>
            </a:r>
            <a:endParaRPr sz="1200">
              <a:solidFill>
                <a:schemeClr val="dk1"/>
              </a:solidFill>
            </a:endParaRPr>
          </a:p>
          <a:p>
            <a:pPr indent="0" lvl="0" marL="0" marR="0" rtl="0" algn="l">
              <a:spcBef>
                <a:spcPts val="0"/>
              </a:spcBef>
              <a:spcAft>
                <a:spcPts val="0"/>
              </a:spcAft>
              <a:buNone/>
            </a:pPr>
            <a:r>
              <a:t/>
            </a:r>
            <a:endParaRPr/>
          </a:p>
        </p:txBody>
      </p:sp>
      <p:sp>
        <p:nvSpPr>
          <p:cNvPr id="320" name="Google Shape;320;h2275696d7361a964_3_19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h2275696d7361a964_3_21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h2275696d7361a964_3_21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“This is our main result. Each bar is one model; the colour shows what information it got.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Look within one colour: different algorithms — logistic regression, random forest, PCA — score almost exactly the same. Changing the method changes the score by at most 0.01.</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Now look across colours: giving the model more useful information makes a much bigger difference. Adding early functional difficulties, like trouble climbing stairs or managing money, raised the AUC from 0.750 to 0.784 — three times more than any change of algorithm.</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So our final model, in orange, is simple logistic regression with these functional questions. The top bar is only slightly better and needs an extra earlier interview for every person, so it isn’t worth it.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rPr>
              <a:t>In short: better questions beat a fancier model.”</a:t>
            </a:r>
            <a:endParaRPr sz="12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343" name="Google Shape;343;h2275696d7361a964_3_21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2275696d7361a964_3_22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h2275696d7361a964_3_22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rPr>
              <a:t>Our final model scored 0.784 ROC-AUC on later waves it had not been trained on.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We ranked everyone from lowest to highest predicted risk and split them into ten equal groups. In the safest group, only 1 in 100 developed a limitation. In the riskiest group, it was 1 in 3. And the top two groups together contained more than half of all new cases.</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rPr>
              <a:t>This means the model could help decide whom to invite for extra assessment, not diagnose individuals.</a:t>
            </a:r>
            <a:r>
              <a:rPr lang="en-GB" sz="1100">
                <a:solidFill>
                  <a:schemeClr val="dk1"/>
                </a:solidFill>
              </a:rPr>
              <a:t> </a:t>
            </a:r>
            <a:endParaRPr/>
          </a:p>
        </p:txBody>
      </p:sp>
      <p:sp>
        <p:nvSpPr>
          <p:cNvPr id="360" name="Google Shape;360;h2275696d7361a964_3_22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h2275696d7361a964_3_24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h2275696d7361a964_3_24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Now we ask which information matters most. On the left, we shuffle one variable and see how much the model gets worse.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Among these variables , Age and large-muscle difficulties cause the biggest drops.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On the right, odds ratios describe how a characteristic relates to the odds of a future limitation, after accounting for other model variables.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For example One extra IADL difficulty has an odds ratio of 1.44, meaning 44% higher odds, not 44 percentage points higher probability.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100">
                <a:solidFill>
                  <a:schemeClr val="dk1"/>
                </a:solidFill>
              </a:rPr>
              <a:t>The model shows that people with IADL difficulties are </a:t>
            </a:r>
            <a:r>
              <a:rPr i="1" lang="en-GB" sz="1100">
                <a:solidFill>
                  <a:schemeClr val="dk1"/>
                </a:solidFill>
              </a:rPr>
              <a:t>more likely</a:t>
            </a:r>
            <a:r>
              <a:rPr lang="en-GB" sz="1100">
                <a:solidFill>
                  <a:schemeClr val="dk1"/>
                </a:solidFill>
              </a:rPr>
              <a:t> to develop an ADL limitation later. It doesn’t show that the IADL difficulty </a:t>
            </a:r>
            <a:r>
              <a:rPr i="1" lang="en-GB" sz="1100">
                <a:solidFill>
                  <a:schemeClr val="dk1"/>
                </a:solidFill>
              </a:rPr>
              <a:t>causes</a:t>
            </a:r>
            <a:r>
              <a:rPr lang="en-GB" sz="1100">
                <a:solidFill>
                  <a:schemeClr val="dk1"/>
                </a:solidFill>
              </a:rPr>
              <a:t> it. Both are probably driven by something underneath, such as frailty, illness or cognitive decline.</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These are associations, not proof of cause.</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377" name="Google Shape;377;h2275696d7361a964_3_24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h2275696d7361a964_3_26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h2275696d7361a964_3_26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A good score is not enough — we also need to know what happens if someone actually </a:t>
            </a:r>
            <a:r>
              <a:rPr i="1" lang="en-GB" sz="1100">
                <a:solidFill>
                  <a:schemeClr val="dk1"/>
                </a:solidFill>
              </a:rPr>
              <a:t>uses</a:t>
            </a:r>
            <a:r>
              <a:rPr lang="en-GB" sz="1100">
                <a:solidFill>
                  <a:schemeClr val="dk1"/>
                </a:solidFill>
              </a:rPr>
              <a:t> the model.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Imagine a care provider with 100 older adults. About 9 of them will develop a new limitation. The model gives everyone a risk score, and the provider decides: </a:t>
            </a:r>
            <a:r>
              <a:rPr i="1" lang="en-GB" sz="1100">
                <a:solidFill>
                  <a:schemeClr val="dk1"/>
                </a:solidFill>
              </a:rPr>
              <a:t>above which score do we invite someone for a check-up?</a:t>
            </a:r>
            <a:endParaRPr i="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If we set the bar </a:t>
            </a:r>
            <a:r>
              <a:rPr b="1" lang="en-GB" sz="1100">
                <a:solidFill>
                  <a:schemeClr val="dk1"/>
                </a:solidFill>
              </a:rPr>
              <a:t>low, at 10%</a:t>
            </a:r>
            <a:r>
              <a:rPr lang="en-GB" sz="1100">
                <a:solidFill>
                  <a:schemeClr val="dk1"/>
                </a:solidFill>
              </a:rPr>
              <a:t>, we invite about 29 people and catch 6 of the 9 future cases — but most invited people would have been fine.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With </a:t>
            </a:r>
            <a:r>
              <a:rPr b="1" lang="en-GB" sz="1100">
                <a:solidFill>
                  <a:schemeClr val="dk1"/>
                </a:solidFill>
              </a:rPr>
              <a:t>our chosen bar of 18%</a:t>
            </a:r>
            <a:r>
              <a:rPr lang="en-GB" sz="1100">
                <a:solidFill>
                  <a:schemeClr val="dk1"/>
                </a:solidFill>
              </a:rPr>
              <a:t>, we invite only 13 people and still catch 4 of the 9 cases. Roughly 1 in 3 people we invite really goes on to decline.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If we set the bar </a:t>
            </a:r>
            <a:r>
              <a:rPr b="1" lang="en-GB" sz="1100">
                <a:solidFill>
                  <a:schemeClr val="dk1"/>
                </a:solidFill>
              </a:rPr>
              <a:t>high, at 30%</a:t>
            </a:r>
            <a:r>
              <a:rPr lang="en-GB" sz="1100">
                <a:solidFill>
                  <a:schemeClr val="dk1"/>
                </a:solidFill>
              </a:rPr>
              <a:t>, we invite just 6 people, and more of them are real cases — but we miss most of the 9.</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So it is a trade-off: invite more people and catch more cases, or invite fewer and be more precise. The right choice depends on how costly a check-up is compared with missing someone.”</a:t>
            </a:r>
            <a:endParaRPr sz="11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400" name="Google Shape;400;h2275696d7361a964_3_26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2275696d7361a964_3_28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h2275696d7361a964_3_28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We checked whether our result survives when we change the analysis design.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The main AUC was 0.784. Testing only people not seen during training gave 0.785, and using just one pair per person gave 0.783. Those are very close. We also trained on earlier waves and tested on later waves repeatedly.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200">
                <a:solidFill>
                  <a:schemeClr val="dk1"/>
                </a:solidFill>
              </a:rPr>
              <a:t>The results stayed around 0.778 to 0.799. Other checks, including missing follow-ups and a stricter ADL outcome, did not overturn the main finding.</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418" name="Google Shape;418;h2275696d7361a964_3_28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h2275696d7361a964_3_30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h2275696d7361a964_3_30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GB" sz="1200">
                <a:solidFill>
                  <a:schemeClr val="dk1"/>
                </a:solidFill>
              </a:rPr>
              <a:t>Our model has limitations. At the selected cutoff, only about 30% of flagged people actually develop a limitation, and we identify 43% of all cases. Some participants do not return, and some die, so we cannot observe every outcome. </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SzPts val="1100"/>
              <a:buNone/>
            </a:pPr>
            <a:r>
              <a:rPr lang="en-GB" sz="1200">
                <a:solidFill>
                  <a:schemeClr val="dk1"/>
                </a:solidFill>
              </a:rPr>
              <a:t>Some SHARELIFE interviews are missing whole sections of information, which makes prediction harder. We also used the test period for a few design checks, so the results may be slightly optimistic. Next, we should test the model on another dataset and choose thresholds with care providers.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435" name="Google Shape;435;h2275696d7361a964_3_30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2275696d7361a964_3_31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h2275696d7361a964_3_31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To conclude, three takeaways. </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GB" sz="1200">
                <a:solidFill>
                  <a:schemeClr val="dk1"/>
                </a:solidFill>
                <a:latin typeface="Arial"/>
                <a:ea typeface="Arial"/>
                <a:cs typeface="Arial"/>
                <a:sym typeface="Arial"/>
              </a:rPr>
              <a:t>First, we cleaned the data before anything else: masking easySHARE's survey codes alone raised the original model from 0.734 to 0.749.</a:t>
            </a:r>
            <a:endParaRPr sz="1200">
              <a:solidFill>
                <a:schemeClr val="dk1"/>
              </a:solidFill>
              <a:latin typeface="Arial"/>
              <a:ea typeface="Arial"/>
              <a:cs typeface="Arial"/>
              <a:sym typeface="Arial"/>
            </a:endParaRPr>
          </a:p>
          <a:p>
            <a:pPr indent="0" lvl="0" marL="0" marR="0" rtl="0" algn="l">
              <a:spcBef>
                <a:spcPts val="0"/>
              </a:spcBef>
              <a:spcAft>
                <a:spcPts val="0"/>
              </a:spcAft>
              <a:buNone/>
            </a:pP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Second, information beats algorithm. Adding baseline functional indicators raised the AUC from 0.750 to 0.784, while the choice of algorithm changed it by at most one hundredth, and PCA did not help because our predictors are only weakly correlated.</a:t>
            </a:r>
            <a:endParaRPr sz="1200">
              <a:solidFill>
                <a:schemeClr val="dk1"/>
              </a:solidFill>
              <a:latin typeface="Arial"/>
              <a:ea typeface="Arial"/>
              <a:cs typeface="Arial"/>
              <a:sym typeface="Arial"/>
            </a:endParaRPr>
          </a:p>
          <a:p>
            <a:pPr indent="0" lvl="0" marL="0" marR="0" rtl="0" algn="l">
              <a:spcBef>
                <a:spcPts val="0"/>
              </a:spcBef>
              <a:spcAft>
                <a:spcPts val="0"/>
              </a:spcAft>
              <a:buNone/>
            </a:pP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Third, the model is useful for screening: the top 20% of predicted risk contains 56% of new cases, and its probabilities track the observed rates.</a:t>
            </a:r>
            <a:endParaRPr sz="1200">
              <a:solidFill>
                <a:schemeClr val="dk1"/>
              </a:solidFill>
              <a:latin typeface="Arial"/>
              <a:ea typeface="Arial"/>
              <a:cs typeface="Arial"/>
              <a:sym typeface="Arial"/>
            </a:endParaRPr>
          </a:p>
          <a:p>
            <a:pPr indent="0" lvl="0" marL="0" marR="0" rtl="0" algn="l">
              <a:spcBef>
                <a:spcPts val="0"/>
              </a:spcBef>
              <a:spcAft>
                <a:spcPts val="0"/>
              </a:spcAft>
              <a:buNone/>
            </a:pP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Our recommendation: a short set of questions on mobility, large-muscle and everyday-task difficulties, plus self-rated health, can help target prevention at the people most likely to lose independence. It ranks risk; it does not diagnose individuals</a:t>
            </a:r>
            <a:r>
              <a:rPr lang="en-GB"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0" lvl="0" marL="0" marR="0" rtl="0" algn="l">
              <a:spcBef>
                <a:spcPts val="0"/>
              </a:spcBef>
              <a:spcAft>
                <a:spcPts val="0"/>
              </a:spcAft>
              <a:buNone/>
            </a:pP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Thank you. We are happy to take your questions.</a:t>
            </a:r>
            <a:endParaRPr/>
          </a:p>
        </p:txBody>
      </p:sp>
      <p:sp>
        <p:nvSpPr>
          <p:cNvPr id="452" name="Google Shape;452;h2275696d7361a964_3_31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2275696d7361a964_3_33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h2275696d7361a964_3_33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472" name="Google Shape;472;h2275696d7361a964_3_33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h2275696d7361a964_3_34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h2275696d7361a964_3_34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479" name="Google Shape;479;h2275696d7361a964_3_34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23B44"/>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480060" y="411480"/>
            <a:ext cx="6995160" cy="6858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lt1"/>
              </a:buClr>
              <a:buSzPts val="2600"/>
              <a:buFont typeface="Cambria"/>
              <a:buNone/>
              <a:defRPr b="1" i="0" sz="2600" u="none" cap="none" strike="noStrike">
                <a:solidFill>
                  <a:schemeClr val="lt1"/>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54" name="Shape 54"/>
        <p:cNvGrpSpPr/>
        <p:nvPr/>
      </p:nvGrpSpPr>
      <p:grpSpPr>
        <a:xfrm>
          <a:off x="0" y="0"/>
          <a:ext cx="0" cy="0"/>
          <a:chOff x="0" y="0"/>
          <a:chExt cx="0" cy="0"/>
        </a:xfrm>
      </p:grpSpPr>
      <p:sp>
        <p:nvSpPr>
          <p:cNvPr id="55" name="Google Shape;55;p15"/>
          <p:cNvSpPr txBox="1"/>
          <p:nvPr>
            <p:ph type="title"/>
          </p:nvPr>
        </p:nvSpPr>
        <p:spPr>
          <a:xfrm>
            <a:off x="411480" y="240030"/>
            <a:ext cx="7063740" cy="65151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2"/>
              </a:buClr>
              <a:buSzPts val="2100"/>
              <a:buFont typeface="Cambria"/>
              <a:buNone/>
              <a:defRPr b="1" i="0" sz="2100" u="none" cap="none" strike="noStrike">
                <a:solidFill>
                  <a:schemeClr val="dk2"/>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6" name="Google Shape;56;p15"/>
          <p:cNvSpPr/>
          <p:nvPr/>
        </p:nvSpPr>
        <p:spPr>
          <a:xfrm>
            <a:off x="411480" y="4800600"/>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75"/>
              </a:buClr>
              <a:buSzPts val="800"/>
              <a:buFont typeface="Calibri"/>
              <a:buNone/>
            </a:pPr>
            <a:r>
              <a:rPr lang="en-GB" sz="800">
                <a:solidFill>
                  <a:srgbClr val="5F6F75"/>
                </a:solidFill>
                <a:latin typeface="Calibri"/>
                <a:ea typeface="Calibri"/>
                <a:cs typeface="Calibri"/>
                <a:sym typeface="Calibri"/>
              </a:rPr>
              <a:t>ADL onset prediction  ·  easySHARE release 9.0.0</a:t>
            </a:r>
            <a:endParaRPr sz="800">
              <a:solidFill>
                <a:schemeClr val="dk1"/>
              </a:solidFill>
              <a:latin typeface="Calibri"/>
              <a:ea typeface="Calibri"/>
              <a:cs typeface="Calibri"/>
              <a:sym typeface="Calibri"/>
            </a:endParaRPr>
          </a:p>
        </p:txBody>
      </p:sp>
      <p:sp>
        <p:nvSpPr>
          <p:cNvPr id="57" name="Google Shape;57;p15"/>
          <p:cNvSpPr txBox="1"/>
          <p:nvPr>
            <p:ph idx="12"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sz="800">
                <a:solidFill>
                  <a:srgbClr val="5F6F75"/>
                </a:solidFill>
                <a:latin typeface="Calibri"/>
                <a:ea typeface="Calibri"/>
                <a:cs typeface="Calibri"/>
                <a:sym typeface="Calibri"/>
              </a:defRPr>
            </a:lvl1pPr>
            <a:lvl2pPr indent="0" lvl="1" marL="0" marR="0" algn="r">
              <a:spcBef>
                <a:spcPts val="0"/>
              </a:spcBef>
              <a:buNone/>
              <a:defRPr b="0" sz="800">
                <a:solidFill>
                  <a:srgbClr val="5F6F75"/>
                </a:solidFill>
                <a:latin typeface="Calibri"/>
                <a:ea typeface="Calibri"/>
                <a:cs typeface="Calibri"/>
                <a:sym typeface="Calibri"/>
              </a:defRPr>
            </a:lvl2pPr>
            <a:lvl3pPr indent="0" lvl="2" marL="0" marR="0" algn="r">
              <a:spcBef>
                <a:spcPts val="0"/>
              </a:spcBef>
              <a:buNone/>
              <a:defRPr b="0" sz="800">
                <a:solidFill>
                  <a:srgbClr val="5F6F75"/>
                </a:solidFill>
                <a:latin typeface="Calibri"/>
                <a:ea typeface="Calibri"/>
                <a:cs typeface="Calibri"/>
                <a:sym typeface="Calibri"/>
              </a:defRPr>
            </a:lvl3pPr>
            <a:lvl4pPr indent="0" lvl="3" marL="0" marR="0" algn="r">
              <a:spcBef>
                <a:spcPts val="0"/>
              </a:spcBef>
              <a:buNone/>
              <a:defRPr b="0" sz="800">
                <a:solidFill>
                  <a:srgbClr val="5F6F75"/>
                </a:solidFill>
                <a:latin typeface="Calibri"/>
                <a:ea typeface="Calibri"/>
                <a:cs typeface="Calibri"/>
                <a:sym typeface="Calibri"/>
              </a:defRPr>
            </a:lvl4pPr>
            <a:lvl5pPr indent="0" lvl="4" marL="0" marR="0" algn="r">
              <a:spcBef>
                <a:spcPts val="0"/>
              </a:spcBef>
              <a:buNone/>
              <a:defRPr b="0" sz="800">
                <a:solidFill>
                  <a:srgbClr val="5F6F75"/>
                </a:solidFill>
                <a:latin typeface="Calibri"/>
                <a:ea typeface="Calibri"/>
                <a:cs typeface="Calibri"/>
                <a:sym typeface="Calibri"/>
              </a:defRPr>
            </a:lvl5pPr>
            <a:lvl6pPr indent="0" lvl="5" marL="0" marR="0" algn="r">
              <a:spcBef>
                <a:spcPts val="0"/>
              </a:spcBef>
              <a:buNone/>
              <a:defRPr b="0" sz="800">
                <a:solidFill>
                  <a:srgbClr val="5F6F75"/>
                </a:solidFill>
                <a:latin typeface="Calibri"/>
                <a:ea typeface="Calibri"/>
                <a:cs typeface="Calibri"/>
                <a:sym typeface="Calibri"/>
              </a:defRPr>
            </a:lvl6pPr>
            <a:lvl7pPr indent="0" lvl="6" marL="0" marR="0" algn="r">
              <a:spcBef>
                <a:spcPts val="0"/>
              </a:spcBef>
              <a:buNone/>
              <a:defRPr b="0" sz="800">
                <a:solidFill>
                  <a:srgbClr val="5F6F75"/>
                </a:solidFill>
                <a:latin typeface="Calibri"/>
                <a:ea typeface="Calibri"/>
                <a:cs typeface="Calibri"/>
                <a:sym typeface="Calibri"/>
              </a:defRPr>
            </a:lvl7pPr>
            <a:lvl8pPr indent="0" lvl="7" marL="0" marR="0" algn="r">
              <a:spcBef>
                <a:spcPts val="0"/>
              </a:spcBef>
              <a:buNone/>
              <a:defRPr b="0" sz="800">
                <a:solidFill>
                  <a:srgbClr val="5F6F75"/>
                </a:solidFill>
                <a:latin typeface="Calibri"/>
                <a:ea typeface="Calibri"/>
                <a:cs typeface="Calibri"/>
                <a:sym typeface="Calibri"/>
              </a:defRPr>
            </a:lvl8pPr>
            <a:lvl9pPr indent="0" lvl="8" marL="0" marR="0" algn="r">
              <a:spcBef>
                <a:spcPts val="0"/>
              </a:spcBef>
              <a:buNone/>
              <a:defRPr b="0" sz="800">
                <a:solidFill>
                  <a:srgbClr val="5F6F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8" name="Shape 5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2">
  <p:cSld name="CONTENT2">
    <p:bg>
      <p:bgPr>
        <a:solidFill>
          <a:schemeClr val="lt1"/>
        </a:solidFill>
      </p:bgPr>
    </p:bg>
    <p:spTree>
      <p:nvGrpSpPr>
        <p:cNvPr id="59" name="Shape 59"/>
        <p:cNvGrpSpPr/>
        <p:nvPr/>
      </p:nvGrpSpPr>
      <p:grpSpPr>
        <a:xfrm>
          <a:off x="0" y="0"/>
          <a:ext cx="0" cy="0"/>
          <a:chOff x="0" y="0"/>
          <a:chExt cx="0" cy="0"/>
        </a:xfrm>
      </p:grpSpPr>
      <p:sp>
        <p:nvSpPr>
          <p:cNvPr id="60" name="Google Shape;60;p17"/>
          <p:cNvSpPr/>
          <p:nvPr/>
        </p:nvSpPr>
        <p:spPr>
          <a:xfrm>
            <a:off x="411480" y="4828032"/>
            <a:ext cx="41148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800"/>
              <a:buFont typeface="Calibri"/>
              <a:buNone/>
            </a:pPr>
            <a:r>
              <a:rPr b="0" i="0" lang="en-GB" sz="800" u="none" cap="none" strike="noStrike">
                <a:solidFill>
                  <a:schemeClr val="accent5"/>
                </a:solidFill>
                <a:latin typeface="Calibri"/>
                <a:ea typeface="Calibri"/>
                <a:cs typeface="Calibri"/>
                <a:sym typeface="Calibri"/>
              </a:rPr>
              <a:t>ADL onset prediction  ·  easySHARE release 9.0.0</a:t>
            </a:r>
            <a:endParaRPr b="0" i="0" sz="800" u="none" cap="none" strike="noStrike">
              <a:solidFill>
                <a:schemeClr val="dk1"/>
              </a:solidFill>
              <a:latin typeface="Calibri"/>
              <a:ea typeface="Calibri"/>
              <a:cs typeface="Calibri"/>
              <a:sym typeface="Calibri"/>
            </a:endParaRPr>
          </a:p>
        </p:txBody>
      </p:sp>
      <p:sp>
        <p:nvSpPr>
          <p:cNvPr id="61" name="Google Shape;61;p17"/>
          <p:cNvSpPr txBox="1"/>
          <p:nvPr>
            <p:ph type="title"/>
          </p:nvPr>
        </p:nvSpPr>
        <p:spPr>
          <a:xfrm>
            <a:off x="411480" y="240030"/>
            <a:ext cx="7063740" cy="65151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2"/>
              </a:buClr>
              <a:buSzPts val="2100"/>
              <a:buFont typeface="Cambria"/>
              <a:buNone/>
              <a:defRPr b="1" i="0" sz="2100" u="none" cap="none" strike="noStrike">
                <a:solidFill>
                  <a:schemeClr val="dk2"/>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2" name="Google Shape;62;p17"/>
          <p:cNvSpPr txBox="1"/>
          <p:nvPr>
            <p:ph idx="12" type="sldNum"/>
          </p:nvPr>
        </p:nvSpPr>
        <p:spPr>
          <a:xfrm>
            <a:off x="8229600" y="4828032"/>
            <a:ext cx="500634" cy="20574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5"/>
                </a:solidFill>
                <a:latin typeface="Calibri"/>
                <a:ea typeface="Calibri"/>
                <a:cs typeface="Calibri"/>
                <a:sym typeface="Calibri"/>
              </a:defRPr>
            </a:lvl1pPr>
            <a:lvl2pPr indent="0" lvl="1" marL="0" marR="0" algn="r">
              <a:spcBef>
                <a:spcPts val="0"/>
              </a:spcBef>
              <a:buNone/>
              <a:defRPr b="0" i="0" sz="800" u="none" cap="none" strike="noStrike">
                <a:solidFill>
                  <a:schemeClr val="accent5"/>
                </a:solidFill>
                <a:latin typeface="Calibri"/>
                <a:ea typeface="Calibri"/>
                <a:cs typeface="Calibri"/>
                <a:sym typeface="Calibri"/>
              </a:defRPr>
            </a:lvl2pPr>
            <a:lvl3pPr indent="0" lvl="2" marL="0" marR="0" algn="r">
              <a:spcBef>
                <a:spcPts val="0"/>
              </a:spcBef>
              <a:buNone/>
              <a:defRPr b="0" i="0" sz="800" u="none" cap="none" strike="noStrike">
                <a:solidFill>
                  <a:schemeClr val="accent5"/>
                </a:solidFill>
                <a:latin typeface="Calibri"/>
                <a:ea typeface="Calibri"/>
                <a:cs typeface="Calibri"/>
                <a:sym typeface="Calibri"/>
              </a:defRPr>
            </a:lvl3pPr>
            <a:lvl4pPr indent="0" lvl="3" marL="0" marR="0" algn="r">
              <a:spcBef>
                <a:spcPts val="0"/>
              </a:spcBef>
              <a:buNone/>
              <a:defRPr b="0" i="0" sz="800" u="none" cap="none" strike="noStrike">
                <a:solidFill>
                  <a:schemeClr val="accent5"/>
                </a:solidFill>
                <a:latin typeface="Calibri"/>
                <a:ea typeface="Calibri"/>
                <a:cs typeface="Calibri"/>
                <a:sym typeface="Calibri"/>
              </a:defRPr>
            </a:lvl4pPr>
            <a:lvl5pPr indent="0" lvl="4" marL="0" marR="0" algn="r">
              <a:spcBef>
                <a:spcPts val="0"/>
              </a:spcBef>
              <a:buNone/>
              <a:defRPr b="0" i="0" sz="800" u="none" cap="none" strike="noStrike">
                <a:solidFill>
                  <a:schemeClr val="accent5"/>
                </a:solidFill>
                <a:latin typeface="Calibri"/>
                <a:ea typeface="Calibri"/>
                <a:cs typeface="Calibri"/>
                <a:sym typeface="Calibri"/>
              </a:defRPr>
            </a:lvl5pPr>
            <a:lvl6pPr indent="0" lvl="5" marL="0" marR="0" algn="r">
              <a:spcBef>
                <a:spcPts val="0"/>
              </a:spcBef>
              <a:buNone/>
              <a:defRPr b="0" i="0" sz="800" u="none" cap="none" strike="noStrike">
                <a:solidFill>
                  <a:schemeClr val="accent5"/>
                </a:solidFill>
                <a:latin typeface="Calibri"/>
                <a:ea typeface="Calibri"/>
                <a:cs typeface="Calibri"/>
                <a:sym typeface="Calibri"/>
              </a:defRPr>
            </a:lvl6pPr>
            <a:lvl7pPr indent="0" lvl="6" marL="0" marR="0" algn="r">
              <a:spcBef>
                <a:spcPts val="0"/>
              </a:spcBef>
              <a:buNone/>
              <a:defRPr b="0" i="0" sz="800" u="none" cap="none" strike="noStrike">
                <a:solidFill>
                  <a:schemeClr val="accent5"/>
                </a:solidFill>
                <a:latin typeface="Calibri"/>
                <a:ea typeface="Calibri"/>
                <a:cs typeface="Calibri"/>
                <a:sym typeface="Calibri"/>
              </a:defRPr>
            </a:lvl7pPr>
            <a:lvl8pPr indent="0" lvl="7" marL="0" marR="0" algn="r">
              <a:spcBef>
                <a:spcPts val="0"/>
              </a:spcBef>
              <a:buNone/>
              <a:defRPr b="0" i="0" sz="800" u="none" cap="none" strike="noStrike">
                <a:solidFill>
                  <a:schemeClr val="accent5"/>
                </a:solidFill>
                <a:latin typeface="Calibri"/>
                <a:ea typeface="Calibri"/>
                <a:cs typeface="Calibri"/>
                <a:sym typeface="Calibri"/>
              </a:defRPr>
            </a:lvl8pPr>
            <a:lvl9pPr indent="0" lvl="8" marL="0" marR="0" algn="r">
              <a:spcBef>
                <a:spcPts val="0"/>
              </a:spcBef>
              <a:buNone/>
              <a:defRPr b="0" i="0" sz="8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800" u="none" cap="none" strike="noStrike">
                <a:solidFill>
                  <a:srgbClr val="5F6F75"/>
                </a:solidFill>
                <a:latin typeface="Calibri"/>
                <a:ea typeface="Calibri"/>
                <a:cs typeface="Calibri"/>
                <a:sym typeface="Calibri"/>
              </a:defRPr>
            </a:lvl1pPr>
            <a:lvl2pPr indent="0" lvl="1" marL="0" marR="0" rtl="0" algn="r">
              <a:spcBef>
                <a:spcPts val="0"/>
              </a:spcBef>
              <a:buNone/>
              <a:defRPr b="0" i="0" sz="800" u="none" cap="none" strike="noStrike">
                <a:solidFill>
                  <a:srgbClr val="5F6F75"/>
                </a:solidFill>
                <a:latin typeface="Calibri"/>
                <a:ea typeface="Calibri"/>
                <a:cs typeface="Calibri"/>
                <a:sym typeface="Calibri"/>
              </a:defRPr>
            </a:lvl2pPr>
            <a:lvl3pPr indent="0" lvl="2" marL="0" marR="0" rtl="0" algn="r">
              <a:spcBef>
                <a:spcPts val="0"/>
              </a:spcBef>
              <a:buNone/>
              <a:defRPr b="0" i="0" sz="800" u="none" cap="none" strike="noStrike">
                <a:solidFill>
                  <a:srgbClr val="5F6F75"/>
                </a:solidFill>
                <a:latin typeface="Calibri"/>
                <a:ea typeface="Calibri"/>
                <a:cs typeface="Calibri"/>
                <a:sym typeface="Calibri"/>
              </a:defRPr>
            </a:lvl3pPr>
            <a:lvl4pPr indent="0" lvl="3" marL="0" marR="0" rtl="0" algn="r">
              <a:spcBef>
                <a:spcPts val="0"/>
              </a:spcBef>
              <a:buNone/>
              <a:defRPr b="0" i="0" sz="800" u="none" cap="none" strike="noStrike">
                <a:solidFill>
                  <a:srgbClr val="5F6F75"/>
                </a:solidFill>
                <a:latin typeface="Calibri"/>
                <a:ea typeface="Calibri"/>
                <a:cs typeface="Calibri"/>
                <a:sym typeface="Calibri"/>
              </a:defRPr>
            </a:lvl4pPr>
            <a:lvl5pPr indent="0" lvl="4" marL="0" marR="0" rtl="0" algn="r">
              <a:spcBef>
                <a:spcPts val="0"/>
              </a:spcBef>
              <a:buNone/>
              <a:defRPr b="0" i="0" sz="800" u="none" cap="none" strike="noStrike">
                <a:solidFill>
                  <a:srgbClr val="5F6F75"/>
                </a:solidFill>
                <a:latin typeface="Calibri"/>
                <a:ea typeface="Calibri"/>
                <a:cs typeface="Calibri"/>
                <a:sym typeface="Calibri"/>
              </a:defRPr>
            </a:lvl5pPr>
            <a:lvl6pPr indent="0" lvl="5" marL="0" marR="0" rtl="0" algn="r">
              <a:spcBef>
                <a:spcPts val="0"/>
              </a:spcBef>
              <a:buNone/>
              <a:defRPr b="0" i="0" sz="800" u="none" cap="none" strike="noStrike">
                <a:solidFill>
                  <a:srgbClr val="5F6F75"/>
                </a:solidFill>
                <a:latin typeface="Calibri"/>
                <a:ea typeface="Calibri"/>
                <a:cs typeface="Calibri"/>
                <a:sym typeface="Calibri"/>
              </a:defRPr>
            </a:lvl6pPr>
            <a:lvl7pPr indent="0" lvl="6" marL="0" marR="0" rtl="0" algn="r">
              <a:spcBef>
                <a:spcPts val="0"/>
              </a:spcBef>
              <a:buNone/>
              <a:defRPr b="0" i="0" sz="800" u="none" cap="none" strike="noStrike">
                <a:solidFill>
                  <a:srgbClr val="5F6F75"/>
                </a:solidFill>
                <a:latin typeface="Calibri"/>
                <a:ea typeface="Calibri"/>
                <a:cs typeface="Calibri"/>
                <a:sym typeface="Calibri"/>
              </a:defRPr>
            </a:lvl7pPr>
            <a:lvl8pPr indent="0" lvl="7" marL="0" marR="0" rtl="0" algn="r">
              <a:spcBef>
                <a:spcPts val="0"/>
              </a:spcBef>
              <a:buNone/>
              <a:defRPr b="0" i="0" sz="800" u="none" cap="none" strike="noStrike">
                <a:solidFill>
                  <a:srgbClr val="5F6F75"/>
                </a:solidFill>
                <a:latin typeface="Calibri"/>
                <a:ea typeface="Calibri"/>
                <a:cs typeface="Calibri"/>
                <a:sym typeface="Calibri"/>
              </a:defRPr>
            </a:lvl8pPr>
            <a:lvl9pPr indent="0" lvl="8" marL="0" marR="0" rtl="0" algn="r">
              <a:spcBef>
                <a:spcPts val="0"/>
              </a:spcBef>
              <a:buNone/>
              <a:defRPr b="0" i="0" sz="800" u="none" cap="none" strike="noStrike">
                <a:solidFill>
                  <a:srgbClr val="5F6F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3.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8"/>
          <p:cNvSpPr txBox="1"/>
          <p:nvPr/>
        </p:nvSpPr>
        <p:spPr>
          <a:xfrm>
            <a:off x="238785" y="2571755"/>
            <a:ext cx="4937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GB" sz="1100" u="none" cap="none" strike="noStrike">
                <a:solidFill>
                  <a:srgbClr val="EEF3F3"/>
                </a:solidFill>
                <a:latin typeface="Calibri"/>
                <a:ea typeface="Calibri"/>
                <a:cs typeface="Calibri"/>
                <a:sym typeface="Calibri"/>
              </a:rPr>
              <a:t>Zhijie Tu  ·  Xiaomin Xia  ·  Kanimozhi Selvam</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EEF3F3"/>
              </a:buClr>
              <a:buSzPts val="1100"/>
              <a:buFont typeface="Calibri"/>
              <a:buNone/>
            </a:pPr>
            <a:r>
              <a:rPr lang="en-GB" sz="1100">
                <a:solidFill>
                  <a:srgbClr val="EEF3F3"/>
                </a:solidFill>
                <a:latin typeface="Calibri"/>
                <a:ea typeface="Calibri"/>
                <a:cs typeface="Calibri"/>
                <a:sym typeface="Calibri"/>
              </a:rPr>
              <a:t>Introduction to Data Analytics  ·  29 October 2026</a:t>
            </a:r>
            <a:endParaRPr sz="1100">
              <a:solidFill>
                <a:schemeClr val="dk1"/>
              </a:solidFill>
              <a:latin typeface="Calibri"/>
              <a:ea typeface="Calibri"/>
              <a:cs typeface="Calibri"/>
              <a:sym typeface="Calibri"/>
            </a:endParaRPr>
          </a:p>
        </p:txBody>
      </p:sp>
      <p:sp>
        <p:nvSpPr>
          <p:cNvPr id="69" name="Google Shape;69;p18"/>
          <p:cNvSpPr txBox="1"/>
          <p:nvPr/>
        </p:nvSpPr>
        <p:spPr>
          <a:xfrm>
            <a:off x="238785" y="3188975"/>
            <a:ext cx="493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A7A9"/>
              </a:buClr>
              <a:buSzPts val="900"/>
              <a:buFont typeface="Calibri"/>
              <a:buNone/>
            </a:pPr>
            <a:r>
              <a:rPr lang="en-GB" sz="900">
                <a:solidFill>
                  <a:srgbClr val="7FA7A9"/>
                </a:solidFill>
                <a:latin typeface="Calibri"/>
                <a:ea typeface="Calibri"/>
                <a:cs typeface="Calibri"/>
                <a:sym typeface="Calibri"/>
              </a:rPr>
              <a:t>Data: easySHARE release 9.0.0 (SHARE waves 1–9)</a:t>
            </a:r>
            <a:endParaRPr sz="900">
              <a:solidFill>
                <a:schemeClr val="dk1"/>
              </a:solidFill>
              <a:latin typeface="Calibri"/>
              <a:ea typeface="Calibri"/>
              <a:cs typeface="Calibri"/>
              <a:sym typeface="Calibri"/>
            </a:endParaRPr>
          </a:p>
        </p:txBody>
      </p:sp>
      <p:sp>
        <p:nvSpPr>
          <p:cNvPr id="70" name="Google Shape;70;p18"/>
          <p:cNvSpPr/>
          <p:nvPr/>
        </p:nvSpPr>
        <p:spPr>
          <a:xfrm>
            <a:off x="151044" y="3877468"/>
            <a:ext cx="2811900" cy="781800"/>
          </a:xfrm>
          <a:prstGeom prst="roundRect">
            <a:avLst>
              <a:gd fmla="val 6400" name="adj"/>
            </a:avLst>
          </a:prstGeom>
          <a:solidFill>
            <a:srgbClr val="1D5560"/>
          </a:solidFill>
          <a:ln cap="flat" cmpd="sng" w="12700">
            <a:solidFill>
              <a:srgbClr val="1D556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 name="Google Shape;71;p18"/>
          <p:cNvSpPr txBox="1"/>
          <p:nvPr/>
        </p:nvSpPr>
        <p:spPr>
          <a:xfrm>
            <a:off x="322499" y="3915902"/>
            <a:ext cx="2469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mbria"/>
              <a:buNone/>
            </a:pPr>
            <a:r>
              <a:rPr b="1" lang="en-GB" sz="2300">
                <a:solidFill>
                  <a:srgbClr val="FFFFFF"/>
                </a:solidFill>
                <a:latin typeface="Cambria"/>
                <a:ea typeface="Cambria"/>
                <a:cs typeface="Cambria"/>
                <a:sym typeface="Cambria"/>
              </a:rPr>
              <a:t>115,155</a:t>
            </a:r>
            <a:endParaRPr sz="2300">
              <a:solidFill>
                <a:schemeClr val="dk1"/>
              </a:solidFill>
              <a:latin typeface="Calibri"/>
              <a:ea typeface="Calibri"/>
              <a:cs typeface="Calibri"/>
              <a:sym typeface="Calibri"/>
            </a:endParaRPr>
          </a:p>
        </p:txBody>
      </p:sp>
      <p:sp>
        <p:nvSpPr>
          <p:cNvPr id="72" name="Google Shape;72;p18"/>
          <p:cNvSpPr txBox="1"/>
          <p:nvPr/>
        </p:nvSpPr>
        <p:spPr>
          <a:xfrm>
            <a:off x="322499" y="4341098"/>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F3F3"/>
              </a:buClr>
              <a:buSzPts val="1000"/>
              <a:buFont typeface="Calibri"/>
              <a:buNone/>
            </a:pPr>
            <a:r>
              <a:rPr lang="en-GB" sz="1000">
                <a:solidFill>
                  <a:srgbClr val="EEF3F3"/>
                </a:solidFill>
                <a:latin typeface="Calibri"/>
                <a:ea typeface="Calibri"/>
                <a:cs typeface="Calibri"/>
                <a:sym typeface="Calibri"/>
              </a:rPr>
              <a:t>baseline → follow-up pairs analysed</a:t>
            </a:r>
            <a:endParaRPr sz="1000">
              <a:solidFill>
                <a:schemeClr val="dk1"/>
              </a:solidFill>
              <a:latin typeface="Calibri"/>
              <a:ea typeface="Calibri"/>
              <a:cs typeface="Calibri"/>
              <a:sym typeface="Calibri"/>
            </a:endParaRPr>
          </a:p>
        </p:txBody>
      </p:sp>
      <p:sp>
        <p:nvSpPr>
          <p:cNvPr id="73" name="Google Shape;73;p18"/>
          <p:cNvSpPr/>
          <p:nvPr/>
        </p:nvSpPr>
        <p:spPr>
          <a:xfrm>
            <a:off x="3243869" y="3877469"/>
            <a:ext cx="2811900" cy="781800"/>
          </a:xfrm>
          <a:prstGeom prst="roundRect">
            <a:avLst>
              <a:gd fmla="val 6400" name="adj"/>
            </a:avLst>
          </a:prstGeom>
          <a:solidFill>
            <a:srgbClr val="1D5560"/>
          </a:solidFill>
          <a:ln cap="flat" cmpd="sng" w="12700">
            <a:solidFill>
              <a:srgbClr val="1D556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 name="Google Shape;74;p18"/>
          <p:cNvSpPr txBox="1"/>
          <p:nvPr/>
        </p:nvSpPr>
        <p:spPr>
          <a:xfrm>
            <a:off x="3415324" y="3915902"/>
            <a:ext cx="2469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mbria"/>
              <a:buNone/>
            </a:pPr>
            <a:r>
              <a:rPr b="1" lang="en-GB" sz="2300">
                <a:solidFill>
                  <a:srgbClr val="FFFFFF"/>
                </a:solidFill>
                <a:latin typeface="Cambria"/>
                <a:ea typeface="Cambria"/>
                <a:cs typeface="Cambria"/>
                <a:sym typeface="Cambria"/>
              </a:rPr>
              <a:t>0.784</a:t>
            </a:r>
            <a:endParaRPr sz="2300">
              <a:solidFill>
                <a:schemeClr val="dk1"/>
              </a:solidFill>
              <a:latin typeface="Calibri"/>
              <a:ea typeface="Calibri"/>
              <a:cs typeface="Calibri"/>
              <a:sym typeface="Calibri"/>
            </a:endParaRPr>
          </a:p>
        </p:txBody>
      </p:sp>
      <p:sp>
        <p:nvSpPr>
          <p:cNvPr id="75" name="Google Shape;75;p18"/>
          <p:cNvSpPr txBox="1"/>
          <p:nvPr/>
        </p:nvSpPr>
        <p:spPr>
          <a:xfrm>
            <a:off x="3415324" y="4341098"/>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F3F3"/>
              </a:buClr>
              <a:buSzPts val="1000"/>
              <a:buFont typeface="Calibri"/>
              <a:buNone/>
            </a:pPr>
            <a:r>
              <a:rPr lang="en-GB" sz="1000">
                <a:solidFill>
                  <a:srgbClr val="EEF3F3"/>
                </a:solidFill>
                <a:latin typeface="Calibri"/>
                <a:ea typeface="Calibri"/>
                <a:cs typeface="Calibri"/>
                <a:sym typeface="Calibri"/>
              </a:rPr>
              <a:t>test ROC-AUC of the final model</a:t>
            </a:r>
            <a:endParaRPr sz="1000">
              <a:solidFill>
                <a:schemeClr val="dk1"/>
              </a:solidFill>
              <a:latin typeface="Calibri"/>
              <a:ea typeface="Calibri"/>
              <a:cs typeface="Calibri"/>
              <a:sym typeface="Calibri"/>
            </a:endParaRPr>
          </a:p>
        </p:txBody>
      </p:sp>
      <p:sp>
        <p:nvSpPr>
          <p:cNvPr id="76" name="Google Shape;76;p18"/>
          <p:cNvSpPr/>
          <p:nvPr/>
        </p:nvSpPr>
        <p:spPr>
          <a:xfrm>
            <a:off x="6193994" y="3877469"/>
            <a:ext cx="2811900" cy="781800"/>
          </a:xfrm>
          <a:prstGeom prst="roundRect">
            <a:avLst>
              <a:gd fmla="val 6400" name="adj"/>
            </a:avLst>
          </a:prstGeom>
          <a:solidFill>
            <a:srgbClr val="1D5560"/>
          </a:solidFill>
          <a:ln cap="flat" cmpd="sng" w="12700">
            <a:solidFill>
              <a:srgbClr val="1D556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 name="Google Shape;77;p18"/>
          <p:cNvSpPr txBox="1"/>
          <p:nvPr/>
        </p:nvSpPr>
        <p:spPr>
          <a:xfrm>
            <a:off x="6365449" y="3915902"/>
            <a:ext cx="2469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541"/>
              </a:buClr>
              <a:buSzPts val="2300"/>
              <a:buFont typeface="Cambria"/>
              <a:buNone/>
            </a:pPr>
            <a:r>
              <a:rPr b="1" lang="en-GB" sz="2300">
                <a:solidFill>
                  <a:srgbClr val="F2A541"/>
                </a:solidFill>
                <a:latin typeface="Cambria"/>
                <a:ea typeface="Cambria"/>
                <a:cs typeface="Cambria"/>
                <a:sym typeface="Cambria"/>
              </a:rPr>
              <a:t>55.6%</a:t>
            </a:r>
            <a:endParaRPr sz="2300">
              <a:solidFill>
                <a:schemeClr val="dk1"/>
              </a:solidFill>
              <a:latin typeface="Calibri"/>
              <a:ea typeface="Calibri"/>
              <a:cs typeface="Calibri"/>
              <a:sym typeface="Calibri"/>
            </a:endParaRPr>
          </a:p>
        </p:txBody>
      </p:sp>
      <p:sp>
        <p:nvSpPr>
          <p:cNvPr id="78" name="Google Shape;78;p18"/>
          <p:cNvSpPr txBox="1"/>
          <p:nvPr/>
        </p:nvSpPr>
        <p:spPr>
          <a:xfrm>
            <a:off x="6365449" y="4341098"/>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F3F3"/>
              </a:buClr>
              <a:buSzPts val="1000"/>
              <a:buFont typeface="Calibri"/>
              <a:buNone/>
            </a:pPr>
            <a:r>
              <a:rPr lang="en-GB" sz="1000">
                <a:solidFill>
                  <a:srgbClr val="EEF3F3"/>
                </a:solidFill>
                <a:latin typeface="Calibri"/>
                <a:ea typeface="Calibri"/>
                <a:cs typeface="Calibri"/>
                <a:sym typeface="Calibri"/>
              </a:rPr>
              <a:t>of new cases found in the 20% highest-risk group</a:t>
            </a:r>
            <a:endParaRPr sz="1000">
              <a:solidFill>
                <a:schemeClr val="dk1"/>
              </a:solidFill>
              <a:latin typeface="Calibri"/>
              <a:ea typeface="Calibri"/>
              <a:cs typeface="Calibri"/>
              <a:sym typeface="Calibri"/>
            </a:endParaRPr>
          </a:p>
        </p:txBody>
      </p:sp>
      <p:pic>
        <p:nvPicPr>
          <p:cNvPr id="79" name="Google Shape;79;p18" title="WhatsApp Image 2026-10-28 at 11.55.39.jpeg"/>
          <p:cNvPicPr preferRelativeResize="0"/>
          <p:nvPr/>
        </p:nvPicPr>
        <p:blipFill rotWithShape="1">
          <a:blip r:embed="rId3">
            <a:alphaModFix/>
          </a:blip>
          <a:srcRect b="2988" l="1286" r="1315" t="0"/>
          <a:stretch/>
        </p:blipFill>
        <p:spPr>
          <a:xfrm>
            <a:off x="0" y="0"/>
            <a:ext cx="9144000" cy="22768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Goal: spot older adults at risk before they lose independence</a:t>
            </a:r>
            <a:endParaRPr sz="2100"/>
          </a:p>
        </p:txBody>
      </p:sp>
      <p:sp>
        <p:nvSpPr>
          <p:cNvPr id="86" name="Google Shape;86;p19"/>
          <p:cNvSpPr/>
          <p:nvPr/>
        </p:nvSpPr>
        <p:spPr>
          <a:xfrm>
            <a:off x="411480" y="1097280"/>
            <a:ext cx="2468880" cy="1303020"/>
          </a:xfrm>
          <a:prstGeom prst="roundRect">
            <a:avLst>
              <a:gd fmla="val 4211" name="adj"/>
            </a:avLst>
          </a:prstGeom>
          <a:solidFill>
            <a:srgbClr val="157A82"/>
          </a:solidFill>
          <a:ln cap="flat" cmpd="sng" w="12700">
            <a:solidFill>
              <a:srgbClr val="157A8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Baseline (wave t)" id="87" name="Google Shape;87;p19"/>
          <p:cNvPicPr preferRelativeResize="0"/>
          <p:nvPr/>
        </p:nvPicPr>
        <p:blipFill rotWithShape="1">
          <a:blip r:embed="rId3">
            <a:alphaModFix/>
          </a:blip>
          <a:srcRect b="0" l="0" r="0" t="0"/>
          <a:stretch/>
        </p:blipFill>
        <p:spPr>
          <a:xfrm>
            <a:off x="617220" y="1268730"/>
            <a:ext cx="342900" cy="342900"/>
          </a:xfrm>
          <a:prstGeom prst="rect">
            <a:avLst/>
          </a:prstGeom>
          <a:noFill/>
          <a:ln>
            <a:noFill/>
          </a:ln>
        </p:spPr>
      </p:pic>
      <p:sp>
        <p:nvSpPr>
          <p:cNvPr id="88" name="Google Shape;88;p19"/>
          <p:cNvSpPr txBox="1"/>
          <p:nvPr/>
        </p:nvSpPr>
        <p:spPr>
          <a:xfrm>
            <a:off x="1062990" y="1268730"/>
            <a:ext cx="171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lang="en-GB" sz="1400">
                <a:solidFill>
                  <a:schemeClr val="lt1"/>
                </a:solidFill>
                <a:latin typeface="Calibri"/>
                <a:ea typeface="Calibri"/>
                <a:cs typeface="Calibri"/>
                <a:sym typeface="Calibri"/>
              </a:rPr>
              <a:t>Baseline (wave t)</a:t>
            </a:r>
            <a:endParaRPr sz="1400">
              <a:solidFill>
                <a:schemeClr val="dk1"/>
              </a:solidFill>
              <a:latin typeface="Calibri"/>
              <a:ea typeface="Calibri"/>
              <a:cs typeface="Calibri"/>
              <a:sym typeface="Calibri"/>
            </a:endParaRPr>
          </a:p>
        </p:txBody>
      </p:sp>
      <p:sp>
        <p:nvSpPr>
          <p:cNvPr id="89" name="Google Shape;89;p19"/>
          <p:cNvSpPr txBox="1"/>
          <p:nvPr/>
        </p:nvSpPr>
        <p:spPr>
          <a:xfrm>
            <a:off x="617220" y="1748790"/>
            <a:ext cx="21259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lang="en-GB" sz="1100">
                <a:solidFill>
                  <a:schemeClr val="lt1"/>
                </a:solidFill>
                <a:latin typeface="Calibri"/>
                <a:ea typeface="Calibri"/>
                <a:cs typeface="Calibri"/>
                <a:sym typeface="Calibri"/>
              </a:rPr>
              <a:t>Aged 65+ and no ADL limitation (ADL = 0)</a:t>
            </a:r>
            <a:endParaRPr sz="1100">
              <a:solidFill>
                <a:schemeClr val="dk1"/>
              </a:solidFill>
              <a:latin typeface="Calibri"/>
              <a:ea typeface="Calibri"/>
              <a:cs typeface="Calibri"/>
              <a:sym typeface="Calibri"/>
            </a:endParaRPr>
          </a:p>
        </p:txBody>
      </p:sp>
      <p:sp>
        <p:nvSpPr>
          <p:cNvPr id="90" name="Google Shape;90;p19"/>
          <p:cNvSpPr/>
          <p:nvPr/>
        </p:nvSpPr>
        <p:spPr>
          <a:xfrm>
            <a:off x="2935224" y="1611630"/>
            <a:ext cx="274320" cy="274320"/>
          </a:xfrm>
          <a:prstGeom prst="rightArrow">
            <a:avLst>
              <a:gd fmla="val 50000" name="adj1"/>
              <a:gd fmla="val 50000" name="adj2"/>
            </a:avLst>
          </a:prstGeom>
          <a:solidFill>
            <a:srgbClr val="9AA5AB"/>
          </a:solidFill>
          <a:ln cap="flat" cmpd="sng" w="12700">
            <a:solidFill>
              <a:srgbClr val="9AA5A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 name="Google Shape;91;p19"/>
          <p:cNvSpPr/>
          <p:nvPr/>
        </p:nvSpPr>
        <p:spPr>
          <a:xfrm>
            <a:off x="3257550" y="1097280"/>
            <a:ext cx="2468880" cy="1303020"/>
          </a:xfrm>
          <a:prstGeom prst="roundRect">
            <a:avLst>
              <a:gd fmla="val 4211" name="adj"/>
            </a:avLst>
          </a:prstGeom>
          <a:solidFill>
            <a:srgbClr val="3C6E71"/>
          </a:solidFill>
          <a:ln cap="flat" cmpd="sng" w="12700">
            <a:solidFill>
              <a:srgbClr val="3C6E7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Next SHARE wave" id="92" name="Google Shape;92;p19"/>
          <p:cNvPicPr preferRelativeResize="0"/>
          <p:nvPr/>
        </p:nvPicPr>
        <p:blipFill rotWithShape="1">
          <a:blip r:embed="rId4">
            <a:alphaModFix/>
          </a:blip>
          <a:srcRect b="0" l="0" r="0" t="0"/>
          <a:stretch/>
        </p:blipFill>
        <p:spPr>
          <a:xfrm>
            <a:off x="3463290" y="1268730"/>
            <a:ext cx="342900" cy="342900"/>
          </a:xfrm>
          <a:prstGeom prst="rect">
            <a:avLst/>
          </a:prstGeom>
          <a:noFill/>
          <a:ln>
            <a:noFill/>
          </a:ln>
        </p:spPr>
      </p:pic>
      <p:sp>
        <p:nvSpPr>
          <p:cNvPr id="93" name="Google Shape;93;p19"/>
          <p:cNvSpPr txBox="1"/>
          <p:nvPr/>
        </p:nvSpPr>
        <p:spPr>
          <a:xfrm>
            <a:off x="3909060" y="1268730"/>
            <a:ext cx="171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lang="en-GB" sz="1400">
                <a:solidFill>
                  <a:schemeClr val="lt1"/>
                </a:solidFill>
                <a:latin typeface="Calibri"/>
                <a:ea typeface="Calibri"/>
                <a:cs typeface="Calibri"/>
                <a:sym typeface="Calibri"/>
              </a:rPr>
              <a:t>Next SHARE wave</a:t>
            </a:r>
            <a:endParaRPr sz="1400">
              <a:solidFill>
                <a:schemeClr val="dk1"/>
              </a:solidFill>
              <a:latin typeface="Calibri"/>
              <a:ea typeface="Calibri"/>
              <a:cs typeface="Calibri"/>
              <a:sym typeface="Calibri"/>
            </a:endParaRPr>
          </a:p>
        </p:txBody>
      </p:sp>
      <p:sp>
        <p:nvSpPr>
          <p:cNvPr id="94" name="Google Shape;94;p19"/>
          <p:cNvSpPr txBox="1"/>
          <p:nvPr/>
        </p:nvSpPr>
        <p:spPr>
          <a:xfrm>
            <a:off x="3463290" y="1748790"/>
            <a:ext cx="21259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lang="en-GB" sz="1100">
                <a:solidFill>
                  <a:schemeClr val="lt1"/>
                </a:solidFill>
                <a:latin typeface="Calibri"/>
                <a:ea typeface="Calibri"/>
                <a:cs typeface="Calibri"/>
                <a:sym typeface="Calibri"/>
              </a:rPr>
              <a:t>Follow-up interview, mostly 2 years later</a:t>
            </a:r>
            <a:endParaRPr sz="1100">
              <a:solidFill>
                <a:schemeClr val="dk1"/>
              </a:solidFill>
              <a:latin typeface="Calibri"/>
              <a:ea typeface="Calibri"/>
              <a:cs typeface="Calibri"/>
              <a:sym typeface="Calibri"/>
            </a:endParaRPr>
          </a:p>
        </p:txBody>
      </p:sp>
      <p:sp>
        <p:nvSpPr>
          <p:cNvPr id="95" name="Google Shape;95;p19"/>
          <p:cNvSpPr/>
          <p:nvPr/>
        </p:nvSpPr>
        <p:spPr>
          <a:xfrm>
            <a:off x="5781294" y="1611630"/>
            <a:ext cx="274320" cy="274320"/>
          </a:xfrm>
          <a:prstGeom prst="rightArrow">
            <a:avLst>
              <a:gd fmla="val 50000" name="adj1"/>
              <a:gd fmla="val 50000" name="adj2"/>
            </a:avLst>
          </a:prstGeom>
          <a:solidFill>
            <a:srgbClr val="9AA5AB"/>
          </a:solidFill>
          <a:ln cap="flat" cmpd="sng" w="12700">
            <a:solidFill>
              <a:srgbClr val="9AA5A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6" name="Google Shape;96;p19"/>
          <p:cNvSpPr/>
          <p:nvPr/>
        </p:nvSpPr>
        <p:spPr>
          <a:xfrm>
            <a:off x="6103620" y="1097280"/>
            <a:ext cx="2468880" cy="1303020"/>
          </a:xfrm>
          <a:prstGeom prst="roundRect">
            <a:avLst>
              <a:gd fmla="val 4211" name="adj"/>
            </a:avLst>
          </a:prstGeom>
          <a:solidFill>
            <a:srgbClr val="E4572E"/>
          </a:solidFill>
          <a:ln cap="flat" cmpd="sng" w="12700">
            <a:solidFill>
              <a:srgbClr val="E457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Outcome" id="97" name="Google Shape;97;p19"/>
          <p:cNvPicPr preferRelativeResize="0"/>
          <p:nvPr/>
        </p:nvPicPr>
        <p:blipFill rotWithShape="1">
          <a:blip r:embed="rId5">
            <a:alphaModFix/>
          </a:blip>
          <a:srcRect b="0" l="0" r="0" t="0"/>
          <a:stretch/>
        </p:blipFill>
        <p:spPr>
          <a:xfrm>
            <a:off x="6309360" y="1268730"/>
            <a:ext cx="342900" cy="342900"/>
          </a:xfrm>
          <a:prstGeom prst="rect">
            <a:avLst/>
          </a:prstGeom>
          <a:noFill/>
          <a:ln>
            <a:noFill/>
          </a:ln>
        </p:spPr>
      </p:pic>
      <p:sp>
        <p:nvSpPr>
          <p:cNvPr id="98" name="Google Shape;98;p19"/>
          <p:cNvSpPr txBox="1"/>
          <p:nvPr/>
        </p:nvSpPr>
        <p:spPr>
          <a:xfrm>
            <a:off x="6755130" y="1268730"/>
            <a:ext cx="171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lang="en-GB" sz="1400">
                <a:solidFill>
                  <a:schemeClr val="lt1"/>
                </a:solidFill>
                <a:latin typeface="Calibri"/>
                <a:ea typeface="Calibri"/>
                <a:cs typeface="Calibri"/>
                <a:sym typeface="Calibri"/>
              </a:rPr>
              <a:t>Outcome</a:t>
            </a:r>
            <a:endParaRPr sz="1400">
              <a:solidFill>
                <a:schemeClr val="dk1"/>
              </a:solidFill>
              <a:latin typeface="Calibri"/>
              <a:ea typeface="Calibri"/>
              <a:cs typeface="Calibri"/>
              <a:sym typeface="Calibri"/>
            </a:endParaRPr>
          </a:p>
        </p:txBody>
      </p:sp>
      <p:sp>
        <p:nvSpPr>
          <p:cNvPr id="99" name="Google Shape;99;p19"/>
          <p:cNvSpPr txBox="1"/>
          <p:nvPr/>
        </p:nvSpPr>
        <p:spPr>
          <a:xfrm>
            <a:off x="6309360" y="1748790"/>
            <a:ext cx="21259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lang="en-GB" sz="1100">
                <a:solidFill>
                  <a:schemeClr val="lt1"/>
                </a:solidFill>
                <a:latin typeface="Calibri"/>
                <a:ea typeface="Calibri"/>
                <a:cs typeface="Calibri"/>
                <a:sym typeface="Calibri"/>
              </a:rPr>
              <a:t>New ADL limitation: ADL ≥ 1 (yes / no)</a:t>
            </a:r>
            <a:endParaRPr sz="1100">
              <a:solidFill>
                <a:schemeClr val="dk1"/>
              </a:solidFill>
              <a:latin typeface="Calibri"/>
              <a:ea typeface="Calibri"/>
              <a:cs typeface="Calibri"/>
              <a:sym typeface="Calibri"/>
            </a:endParaRPr>
          </a:p>
        </p:txBody>
      </p:sp>
      <p:sp>
        <p:nvSpPr>
          <p:cNvPr id="100" name="Google Shape;100;p19"/>
          <p:cNvSpPr txBox="1"/>
          <p:nvPr/>
        </p:nvSpPr>
        <p:spPr>
          <a:xfrm>
            <a:off x="411480" y="2503170"/>
            <a:ext cx="829818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ADL index (0–5): difficulty dressing, bathing, eating, walking across a room, getting in or out of bed (easySHARE guide).</a:t>
            </a:r>
            <a:endParaRPr sz="800">
              <a:solidFill>
                <a:schemeClr val="dk1"/>
              </a:solidFill>
              <a:latin typeface="Calibri"/>
              <a:ea typeface="Calibri"/>
              <a:cs typeface="Calibri"/>
              <a:sym typeface="Calibri"/>
            </a:endParaRPr>
          </a:p>
        </p:txBody>
      </p:sp>
      <p:sp>
        <p:nvSpPr>
          <p:cNvPr id="101" name="Google Shape;101;p19"/>
          <p:cNvSpPr txBox="1"/>
          <p:nvPr/>
        </p:nvSpPr>
        <p:spPr>
          <a:xfrm>
            <a:off x="411480" y="288036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lang="en-GB" sz="1400">
                <a:solidFill>
                  <a:schemeClr val="dk2"/>
                </a:solidFill>
                <a:latin typeface="Calibri"/>
                <a:ea typeface="Calibri"/>
                <a:cs typeface="Calibri"/>
                <a:sym typeface="Calibri"/>
              </a:rPr>
              <a:t>Objectives</a:t>
            </a:r>
            <a:endParaRPr sz="1400">
              <a:solidFill>
                <a:schemeClr val="dk1"/>
              </a:solidFill>
              <a:latin typeface="Calibri"/>
              <a:ea typeface="Calibri"/>
              <a:cs typeface="Calibri"/>
              <a:sym typeface="Calibri"/>
            </a:endParaRPr>
          </a:p>
        </p:txBody>
      </p:sp>
      <p:sp>
        <p:nvSpPr>
          <p:cNvPr id="102" name="Google Shape;102;p19"/>
          <p:cNvSpPr/>
          <p:nvPr/>
        </p:nvSpPr>
        <p:spPr>
          <a:xfrm>
            <a:off x="411480" y="3257550"/>
            <a:ext cx="2468880" cy="1200150"/>
          </a:xfrm>
          <a:prstGeom prst="roundRect">
            <a:avLst>
              <a:gd fmla="val 4571"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 name="Google Shape;103;p19"/>
          <p:cNvSpPr/>
          <p:nvPr/>
        </p:nvSpPr>
        <p:spPr>
          <a:xfrm>
            <a:off x="582930" y="3415284"/>
            <a:ext cx="411480" cy="4114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Build" id="104" name="Google Shape;104;p19"/>
          <p:cNvPicPr preferRelativeResize="0"/>
          <p:nvPr/>
        </p:nvPicPr>
        <p:blipFill rotWithShape="1">
          <a:blip r:embed="rId6">
            <a:alphaModFix/>
          </a:blip>
          <a:srcRect b="0" l="0" r="0" t="0"/>
          <a:stretch/>
        </p:blipFill>
        <p:spPr>
          <a:xfrm>
            <a:off x="672084" y="3504438"/>
            <a:ext cx="233172" cy="233172"/>
          </a:xfrm>
          <a:prstGeom prst="rect">
            <a:avLst/>
          </a:prstGeom>
          <a:noFill/>
          <a:ln>
            <a:noFill/>
          </a:ln>
        </p:spPr>
      </p:pic>
      <p:sp>
        <p:nvSpPr>
          <p:cNvPr id="105" name="Google Shape;105;p19"/>
          <p:cNvSpPr txBox="1"/>
          <p:nvPr/>
        </p:nvSpPr>
        <p:spPr>
          <a:xfrm>
            <a:off x="1097280" y="3415284"/>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lang="en-GB" sz="1400">
                <a:solidFill>
                  <a:schemeClr val="accent1"/>
                </a:solidFill>
                <a:latin typeface="Calibri"/>
                <a:ea typeface="Calibri"/>
                <a:cs typeface="Calibri"/>
                <a:sym typeface="Calibri"/>
              </a:rPr>
              <a:t>Build</a:t>
            </a:r>
            <a:endParaRPr sz="1400">
              <a:solidFill>
                <a:schemeClr val="dk1"/>
              </a:solidFill>
              <a:latin typeface="Calibri"/>
              <a:ea typeface="Calibri"/>
              <a:cs typeface="Calibri"/>
              <a:sym typeface="Calibri"/>
            </a:endParaRPr>
          </a:p>
        </p:txBody>
      </p:sp>
      <p:sp>
        <p:nvSpPr>
          <p:cNvPr id="106" name="Google Shape;106;p19"/>
          <p:cNvSpPr txBox="1"/>
          <p:nvPr/>
        </p:nvSpPr>
        <p:spPr>
          <a:xfrm>
            <a:off x="582930" y="3909060"/>
            <a:ext cx="216027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a clean, longitudinal baseline → follow-up dataset</a:t>
            </a:r>
            <a:endParaRPr sz="1100">
              <a:solidFill>
                <a:schemeClr val="dk1"/>
              </a:solidFill>
              <a:latin typeface="Calibri"/>
              <a:ea typeface="Calibri"/>
              <a:cs typeface="Calibri"/>
              <a:sym typeface="Calibri"/>
            </a:endParaRPr>
          </a:p>
        </p:txBody>
      </p:sp>
      <p:sp>
        <p:nvSpPr>
          <p:cNvPr id="107" name="Google Shape;107;p19"/>
          <p:cNvSpPr/>
          <p:nvPr/>
        </p:nvSpPr>
        <p:spPr>
          <a:xfrm>
            <a:off x="3257550" y="3257550"/>
            <a:ext cx="2468880" cy="1200150"/>
          </a:xfrm>
          <a:prstGeom prst="roundRect">
            <a:avLst>
              <a:gd fmla="val 4571"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 name="Google Shape;108;p19"/>
          <p:cNvSpPr/>
          <p:nvPr/>
        </p:nvSpPr>
        <p:spPr>
          <a:xfrm>
            <a:off x="3429000" y="3415284"/>
            <a:ext cx="411480" cy="4114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Compare" id="109" name="Google Shape;109;p19"/>
          <p:cNvPicPr preferRelativeResize="0"/>
          <p:nvPr/>
        </p:nvPicPr>
        <p:blipFill rotWithShape="1">
          <a:blip r:embed="rId7">
            <a:alphaModFix/>
          </a:blip>
          <a:srcRect b="0" l="0" r="0" t="0"/>
          <a:stretch/>
        </p:blipFill>
        <p:spPr>
          <a:xfrm>
            <a:off x="3518154" y="3504438"/>
            <a:ext cx="233172" cy="233172"/>
          </a:xfrm>
          <a:prstGeom prst="rect">
            <a:avLst/>
          </a:prstGeom>
          <a:noFill/>
          <a:ln>
            <a:noFill/>
          </a:ln>
        </p:spPr>
      </p:pic>
      <p:sp>
        <p:nvSpPr>
          <p:cNvPr id="110" name="Google Shape;110;p19"/>
          <p:cNvSpPr txBox="1"/>
          <p:nvPr/>
        </p:nvSpPr>
        <p:spPr>
          <a:xfrm>
            <a:off x="3943350" y="3415284"/>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lang="en-GB" sz="1400">
                <a:solidFill>
                  <a:schemeClr val="accent1"/>
                </a:solidFill>
                <a:latin typeface="Calibri"/>
                <a:ea typeface="Calibri"/>
                <a:cs typeface="Calibri"/>
                <a:sym typeface="Calibri"/>
              </a:rPr>
              <a:t>Compare</a:t>
            </a:r>
            <a:endParaRPr sz="1400">
              <a:solidFill>
                <a:schemeClr val="dk1"/>
              </a:solidFill>
              <a:latin typeface="Calibri"/>
              <a:ea typeface="Calibri"/>
              <a:cs typeface="Calibri"/>
              <a:sym typeface="Calibri"/>
            </a:endParaRPr>
          </a:p>
        </p:txBody>
      </p:sp>
      <p:sp>
        <p:nvSpPr>
          <p:cNvPr id="111" name="Google Shape;111;p19"/>
          <p:cNvSpPr txBox="1"/>
          <p:nvPr/>
        </p:nvSpPr>
        <p:spPr>
          <a:xfrm>
            <a:off x="3429000" y="3909060"/>
            <a:ext cx="216027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models fairly on a future, untouched test period</a:t>
            </a:r>
            <a:endParaRPr sz="1100">
              <a:solidFill>
                <a:schemeClr val="dk1"/>
              </a:solidFill>
              <a:latin typeface="Calibri"/>
              <a:ea typeface="Calibri"/>
              <a:cs typeface="Calibri"/>
              <a:sym typeface="Calibri"/>
            </a:endParaRPr>
          </a:p>
        </p:txBody>
      </p:sp>
      <p:sp>
        <p:nvSpPr>
          <p:cNvPr id="112" name="Google Shape;112;p19"/>
          <p:cNvSpPr/>
          <p:nvPr/>
        </p:nvSpPr>
        <p:spPr>
          <a:xfrm>
            <a:off x="6103620" y="3257550"/>
            <a:ext cx="2468880" cy="1200150"/>
          </a:xfrm>
          <a:prstGeom prst="roundRect">
            <a:avLst>
              <a:gd fmla="val 4571"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3" name="Google Shape;113;p19"/>
          <p:cNvSpPr/>
          <p:nvPr/>
        </p:nvSpPr>
        <p:spPr>
          <a:xfrm>
            <a:off x="6275070" y="3415284"/>
            <a:ext cx="411480" cy="4114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Explain" id="114" name="Google Shape;114;p19"/>
          <p:cNvPicPr preferRelativeResize="0"/>
          <p:nvPr/>
        </p:nvPicPr>
        <p:blipFill rotWithShape="1">
          <a:blip r:embed="rId8">
            <a:alphaModFix/>
          </a:blip>
          <a:srcRect b="0" l="0" r="0" t="0"/>
          <a:stretch/>
        </p:blipFill>
        <p:spPr>
          <a:xfrm>
            <a:off x="6364224" y="3504438"/>
            <a:ext cx="233172" cy="233172"/>
          </a:xfrm>
          <a:prstGeom prst="rect">
            <a:avLst/>
          </a:prstGeom>
          <a:noFill/>
          <a:ln>
            <a:noFill/>
          </a:ln>
        </p:spPr>
      </p:pic>
      <p:sp>
        <p:nvSpPr>
          <p:cNvPr id="115" name="Google Shape;115;p19"/>
          <p:cNvSpPr txBox="1"/>
          <p:nvPr/>
        </p:nvSpPr>
        <p:spPr>
          <a:xfrm>
            <a:off x="6789420" y="3415284"/>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lang="en-GB" sz="1400">
                <a:solidFill>
                  <a:schemeClr val="accent1"/>
                </a:solidFill>
                <a:latin typeface="Calibri"/>
                <a:ea typeface="Calibri"/>
                <a:cs typeface="Calibri"/>
                <a:sym typeface="Calibri"/>
              </a:rPr>
              <a:t>Explain</a:t>
            </a:r>
            <a:endParaRPr sz="1400">
              <a:solidFill>
                <a:schemeClr val="dk1"/>
              </a:solidFill>
              <a:latin typeface="Calibri"/>
              <a:ea typeface="Calibri"/>
              <a:cs typeface="Calibri"/>
              <a:sym typeface="Calibri"/>
            </a:endParaRPr>
          </a:p>
        </p:txBody>
      </p:sp>
      <p:sp>
        <p:nvSpPr>
          <p:cNvPr id="116" name="Google Shape;116;p19"/>
          <p:cNvSpPr txBox="1"/>
          <p:nvPr/>
        </p:nvSpPr>
        <p:spPr>
          <a:xfrm>
            <a:off x="6275070" y="3909060"/>
            <a:ext cx="216027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which factors drive risk and how to act on it</a:t>
            </a:r>
            <a:endParaRPr sz="1100">
              <a:solidFill>
                <a:schemeClr val="dk1"/>
              </a:solidFill>
              <a:latin typeface="Calibri"/>
              <a:ea typeface="Calibri"/>
              <a:cs typeface="Calibri"/>
              <a:sym typeface="Calibri"/>
            </a:endParaRPr>
          </a:p>
        </p:txBody>
      </p:sp>
      <p:sp>
        <p:nvSpPr>
          <p:cNvPr id="117" name="Google Shape;117;p19"/>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About 1 in 10 develops a new limitation by the next wave</a:t>
            </a:r>
            <a:endParaRPr sz="2100"/>
          </a:p>
        </p:txBody>
      </p:sp>
      <p:sp>
        <p:nvSpPr>
          <p:cNvPr id="124" name="Google Shape;124;p20"/>
          <p:cNvSpPr/>
          <p:nvPr/>
        </p:nvSpPr>
        <p:spPr>
          <a:xfrm>
            <a:off x="411480" y="1062990"/>
            <a:ext cx="2880360" cy="1028700"/>
          </a:xfrm>
          <a:prstGeom prst="roundRect">
            <a:avLst>
              <a:gd fmla="val 533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 name="Google Shape;125;p20"/>
          <p:cNvSpPr txBox="1"/>
          <p:nvPr/>
        </p:nvSpPr>
        <p:spPr>
          <a:xfrm>
            <a:off x="582930" y="1165860"/>
            <a:ext cx="25374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mbria"/>
              <a:buNone/>
            </a:pPr>
            <a:r>
              <a:rPr b="1" lang="en-GB" sz="2100">
                <a:solidFill>
                  <a:schemeClr val="accent1"/>
                </a:solidFill>
                <a:latin typeface="Cambria"/>
                <a:ea typeface="Cambria"/>
                <a:cs typeface="Cambria"/>
                <a:sym typeface="Cambria"/>
              </a:rPr>
              <a:t>488,400</a:t>
            </a:r>
            <a:endParaRPr sz="2100">
              <a:solidFill>
                <a:schemeClr val="dk1"/>
              </a:solidFill>
              <a:latin typeface="Calibri"/>
              <a:ea typeface="Calibri"/>
              <a:cs typeface="Calibri"/>
              <a:sym typeface="Calibri"/>
            </a:endParaRPr>
          </a:p>
        </p:txBody>
      </p:sp>
      <p:sp>
        <p:nvSpPr>
          <p:cNvPr id="126" name="Google Shape;126;p20"/>
          <p:cNvSpPr txBox="1"/>
          <p:nvPr/>
        </p:nvSpPr>
        <p:spPr>
          <a:xfrm>
            <a:off x="582930" y="1597914"/>
            <a:ext cx="25374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easySHARE interviews × 108 variables (all ages, waves 1–9)</a:t>
            </a:r>
            <a:endParaRPr sz="1100">
              <a:solidFill>
                <a:schemeClr val="dk1"/>
              </a:solidFill>
              <a:latin typeface="Calibri"/>
              <a:ea typeface="Calibri"/>
              <a:cs typeface="Calibri"/>
              <a:sym typeface="Calibri"/>
            </a:endParaRPr>
          </a:p>
        </p:txBody>
      </p:sp>
      <p:sp>
        <p:nvSpPr>
          <p:cNvPr id="127" name="Google Shape;127;p20"/>
          <p:cNvSpPr/>
          <p:nvPr/>
        </p:nvSpPr>
        <p:spPr>
          <a:xfrm>
            <a:off x="411480" y="2228850"/>
            <a:ext cx="2880360" cy="1028700"/>
          </a:xfrm>
          <a:prstGeom prst="roundRect">
            <a:avLst>
              <a:gd fmla="val 533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 name="Google Shape;128;p20"/>
          <p:cNvSpPr txBox="1"/>
          <p:nvPr/>
        </p:nvSpPr>
        <p:spPr>
          <a:xfrm>
            <a:off x="582930" y="2331720"/>
            <a:ext cx="25374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mbria"/>
              <a:buNone/>
            </a:pPr>
            <a:r>
              <a:rPr b="1" lang="en-GB" sz="2100">
                <a:solidFill>
                  <a:schemeClr val="accent1"/>
                </a:solidFill>
                <a:latin typeface="Cambria"/>
                <a:ea typeface="Cambria"/>
                <a:cs typeface="Cambria"/>
                <a:sym typeface="Cambria"/>
              </a:rPr>
              <a:t>115,155</a:t>
            </a:r>
            <a:endParaRPr sz="2100">
              <a:solidFill>
                <a:schemeClr val="dk1"/>
              </a:solidFill>
              <a:latin typeface="Calibri"/>
              <a:ea typeface="Calibri"/>
              <a:cs typeface="Calibri"/>
              <a:sym typeface="Calibri"/>
            </a:endParaRPr>
          </a:p>
        </p:txBody>
      </p:sp>
      <p:sp>
        <p:nvSpPr>
          <p:cNvPr id="129" name="Google Shape;129;p20"/>
          <p:cNvSpPr txBox="1"/>
          <p:nvPr/>
        </p:nvSpPr>
        <p:spPr>
          <a:xfrm>
            <a:off x="582930" y="2763774"/>
            <a:ext cx="25374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pairs linked by person ID across 6 wave transitions (wave 3 has no ADL)</a:t>
            </a:r>
            <a:endParaRPr sz="1100">
              <a:solidFill>
                <a:schemeClr val="dk1"/>
              </a:solidFill>
              <a:latin typeface="Calibri"/>
              <a:ea typeface="Calibri"/>
              <a:cs typeface="Calibri"/>
              <a:sym typeface="Calibri"/>
            </a:endParaRPr>
          </a:p>
        </p:txBody>
      </p:sp>
      <p:sp>
        <p:nvSpPr>
          <p:cNvPr id="130" name="Google Shape;130;p20"/>
          <p:cNvSpPr/>
          <p:nvPr/>
        </p:nvSpPr>
        <p:spPr>
          <a:xfrm>
            <a:off x="411480" y="3394710"/>
            <a:ext cx="2880360" cy="1028700"/>
          </a:xfrm>
          <a:prstGeom prst="roundRect">
            <a:avLst>
              <a:gd fmla="val 533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 name="Google Shape;131;p20"/>
          <p:cNvSpPr txBox="1"/>
          <p:nvPr/>
        </p:nvSpPr>
        <p:spPr>
          <a:xfrm>
            <a:off x="582930" y="3497580"/>
            <a:ext cx="25374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100"/>
              <a:buFont typeface="Cambria"/>
              <a:buNone/>
            </a:pPr>
            <a:r>
              <a:rPr b="1" lang="en-GB" sz="2100">
                <a:solidFill>
                  <a:schemeClr val="accent2"/>
                </a:solidFill>
                <a:latin typeface="Cambria"/>
                <a:ea typeface="Cambria"/>
                <a:cs typeface="Cambria"/>
                <a:sym typeface="Cambria"/>
              </a:rPr>
              <a:t>9.63%</a:t>
            </a:r>
            <a:endParaRPr sz="2100">
              <a:solidFill>
                <a:schemeClr val="dk1"/>
              </a:solidFill>
              <a:latin typeface="Calibri"/>
              <a:ea typeface="Calibri"/>
              <a:cs typeface="Calibri"/>
              <a:sym typeface="Calibri"/>
            </a:endParaRPr>
          </a:p>
        </p:txBody>
      </p:sp>
      <p:sp>
        <p:nvSpPr>
          <p:cNvPr id="132" name="Google Shape;132;p20"/>
          <p:cNvSpPr txBox="1"/>
          <p:nvPr/>
        </p:nvSpPr>
        <p:spPr>
          <a:xfrm>
            <a:off x="582930" y="3929634"/>
            <a:ext cx="25374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develop a new ADL limitation (ADL ≥ 2: 3.87%)</a:t>
            </a:r>
            <a:endParaRPr sz="1100">
              <a:solidFill>
                <a:schemeClr val="dk1"/>
              </a:solidFill>
              <a:latin typeface="Calibri"/>
              <a:ea typeface="Calibri"/>
              <a:cs typeface="Calibri"/>
              <a:sym typeface="Calibri"/>
            </a:endParaRPr>
          </a:p>
        </p:txBody>
      </p:sp>
      <p:pic>
        <p:nvPicPr>
          <p:cNvPr id="133" name="Google Shape;133;p20"/>
          <p:cNvPicPr preferRelativeResize="0"/>
          <p:nvPr/>
        </p:nvPicPr>
        <p:blipFill rotWithShape="1">
          <a:blip r:embed="rId3">
            <a:alphaModFix/>
          </a:blip>
          <a:srcRect b="0" l="0" r="0" t="0"/>
          <a:stretch/>
        </p:blipFill>
        <p:spPr>
          <a:xfrm>
            <a:off x="3566160" y="994410"/>
            <a:ext cx="5143500" cy="3257550"/>
          </a:xfrm>
          <a:prstGeom prst="rect">
            <a:avLst/>
          </a:prstGeom>
          <a:noFill/>
          <a:ln>
            <a:noFill/>
          </a:ln>
        </p:spPr>
      </p:pic>
      <p:sp>
        <p:nvSpPr>
          <p:cNvPr id="134" name="Google Shape;134;p20"/>
          <p:cNvSpPr txBox="1"/>
          <p:nvPr/>
        </p:nvSpPr>
        <p:spPr>
          <a:xfrm>
            <a:off x="3634740" y="4320540"/>
            <a:ext cx="507492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Retention to the next wave: 56–79% of eligible people (lowest after wave 7: 56.2%). Follow-up interval: 77% two years, 19% three years.</a:t>
            </a:r>
            <a:endParaRPr sz="800">
              <a:solidFill>
                <a:schemeClr val="dk1"/>
              </a:solidFill>
              <a:latin typeface="Calibri"/>
              <a:ea typeface="Calibri"/>
              <a:cs typeface="Calibri"/>
              <a:sym typeface="Calibri"/>
            </a:endParaRPr>
          </a:p>
        </p:txBody>
      </p:sp>
      <p:sp>
        <p:nvSpPr>
          <p:cNvPr id="135" name="Google Shape;135;p20"/>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Survey codes stored as numbers were hiding the signal</a:t>
            </a:r>
            <a:endParaRPr sz="2100"/>
          </a:p>
        </p:txBody>
      </p:sp>
      <p:pic>
        <p:nvPicPr>
          <p:cNvPr descr="Raw versus cleaned distributions of EURO-D, grip strength and BMI" id="142" name="Google Shape;142;p21"/>
          <p:cNvPicPr preferRelativeResize="0"/>
          <p:nvPr/>
        </p:nvPicPr>
        <p:blipFill rotWithShape="1">
          <a:blip r:embed="rId3">
            <a:alphaModFix/>
          </a:blip>
          <a:srcRect b="0" l="0" r="0" t="0"/>
          <a:stretch/>
        </p:blipFill>
        <p:spPr>
          <a:xfrm>
            <a:off x="411480" y="1028700"/>
            <a:ext cx="5280660" cy="2328542"/>
          </a:xfrm>
          <a:prstGeom prst="rect">
            <a:avLst/>
          </a:prstGeom>
          <a:noFill/>
          <a:ln>
            <a:noFill/>
          </a:ln>
        </p:spPr>
      </p:pic>
      <p:sp>
        <p:nvSpPr>
          <p:cNvPr id="143" name="Google Shape;143;p21"/>
          <p:cNvSpPr txBox="1"/>
          <p:nvPr/>
        </p:nvSpPr>
        <p:spPr>
          <a:xfrm>
            <a:off x="411480" y="3429000"/>
            <a:ext cx="528066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Top: raw values with negative codes (−15, −10 …). Bottom: after cleaning. Baseline-eligible rows (65+, ADL = 0).</a:t>
            </a:r>
            <a:endParaRPr sz="800">
              <a:solidFill>
                <a:schemeClr val="dk1"/>
              </a:solidFill>
              <a:latin typeface="Calibri"/>
              <a:ea typeface="Calibri"/>
              <a:cs typeface="Calibri"/>
              <a:sym typeface="Calibri"/>
            </a:endParaRPr>
          </a:p>
        </p:txBody>
      </p:sp>
      <p:sp>
        <p:nvSpPr>
          <p:cNvPr id="144" name="Google Shape;144;p21"/>
          <p:cNvSpPr/>
          <p:nvPr/>
        </p:nvSpPr>
        <p:spPr>
          <a:xfrm>
            <a:off x="5966460" y="1028700"/>
            <a:ext cx="2743200" cy="1062990"/>
          </a:xfrm>
          <a:prstGeom prst="roundRect">
            <a:avLst>
              <a:gd fmla="val 5161"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 name="Google Shape;145;p21"/>
          <p:cNvSpPr txBox="1"/>
          <p:nvPr/>
        </p:nvSpPr>
        <p:spPr>
          <a:xfrm>
            <a:off x="6137910" y="1131570"/>
            <a:ext cx="24003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000"/>
              <a:buFont typeface="Cambria"/>
              <a:buNone/>
            </a:pPr>
            <a:r>
              <a:rPr b="1" lang="en-GB" sz="2000">
                <a:solidFill>
                  <a:schemeClr val="accent2"/>
                </a:solidFill>
                <a:latin typeface="Cambria"/>
                <a:ea typeface="Cambria"/>
                <a:cs typeface="Cambria"/>
                <a:sym typeface="Cambria"/>
              </a:rPr>
              <a:t>0.734 → 0.749</a:t>
            </a:r>
            <a:endParaRPr sz="2000">
              <a:solidFill>
                <a:schemeClr val="dk1"/>
              </a:solidFill>
              <a:latin typeface="Calibri"/>
              <a:ea typeface="Calibri"/>
              <a:cs typeface="Calibri"/>
              <a:sym typeface="Calibri"/>
            </a:endParaRPr>
          </a:p>
        </p:txBody>
      </p:sp>
      <p:sp>
        <p:nvSpPr>
          <p:cNvPr id="146" name="Google Shape;146;p21"/>
          <p:cNvSpPr txBox="1"/>
          <p:nvPr/>
        </p:nvSpPr>
        <p:spPr>
          <a:xfrm>
            <a:off x="6137910" y="1563624"/>
            <a:ext cx="240030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test AUC of the original model after masking the codes, nothing else changed</a:t>
            </a:r>
            <a:endParaRPr sz="1100">
              <a:solidFill>
                <a:schemeClr val="dk1"/>
              </a:solidFill>
              <a:latin typeface="Calibri"/>
              <a:ea typeface="Calibri"/>
              <a:cs typeface="Calibri"/>
              <a:sym typeface="Calibri"/>
            </a:endParaRPr>
          </a:p>
        </p:txBody>
      </p:sp>
      <p:sp>
        <p:nvSpPr>
          <p:cNvPr id="147" name="Google Shape;147;p21"/>
          <p:cNvSpPr/>
          <p:nvPr/>
        </p:nvSpPr>
        <p:spPr>
          <a:xfrm>
            <a:off x="5966460" y="2228850"/>
            <a:ext cx="2743200" cy="1062990"/>
          </a:xfrm>
          <a:prstGeom prst="roundRect">
            <a:avLst>
              <a:gd fmla="val 5161"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 name="Google Shape;148;p21"/>
          <p:cNvSpPr txBox="1"/>
          <p:nvPr/>
        </p:nvSpPr>
        <p:spPr>
          <a:xfrm>
            <a:off x="6137910" y="2331720"/>
            <a:ext cx="24003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Cambria"/>
              <a:buNone/>
            </a:pPr>
            <a:r>
              <a:rPr b="1" lang="en-GB" sz="2000">
                <a:solidFill>
                  <a:schemeClr val="accent1"/>
                </a:solidFill>
                <a:latin typeface="Cambria"/>
                <a:ea typeface="Cambria"/>
                <a:cs typeface="Cambria"/>
                <a:sym typeface="Cambria"/>
              </a:rPr>
              <a:t>0.28 → 2.29</a:t>
            </a:r>
            <a:endParaRPr sz="2000">
              <a:solidFill>
                <a:schemeClr val="dk1"/>
              </a:solidFill>
              <a:latin typeface="Calibri"/>
              <a:ea typeface="Calibri"/>
              <a:cs typeface="Calibri"/>
              <a:sym typeface="Calibri"/>
            </a:endParaRPr>
          </a:p>
        </p:txBody>
      </p:sp>
      <p:sp>
        <p:nvSpPr>
          <p:cNvPr id="149" name="Google Shape;149;p21"/>
          <p:cNvSpPr txBox="1"/>
          <p:nvPr/>
        </p:nvSpPr>
        <p:spPr>
          <a:xfrm>
            <a:off x="6137910" y="2763774"/>
            <a:ext cx="240030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mean EURO-D depression score (0–12 scale); SD 5.13 → 2.14</a:t>
            </a:r>
            <a:endParaRPr sz="1100">
              <a:solidFill>
                <a:schemeClr val="dk1"/>
              </a:solidFill>
              <a:latin typeface="Calibri"/>
              <a:ea typeface="Calibri"/>
              <a:cs typeface="Calibri"/>
              <a:sym typeface="Calibri"/>
            </a:endParaRPr>
          </a:p>
        </p:txBody>
      </p:sp>
      <p:sp>
        <p:nvSpPr>
          <p:cNvPr id="150" name="Google Shape;150;p21"/>
          <p:cNvSpPr/>
          <p:nvPr/>
        </p:nvSpPr>
        <p:spPr>
          <a:xfrm>
            <a:off x="5966460" y="3429000"/>
            <a:ext cx="2743200" cy="1062990"/>
          </a:xfrm>
          <a:prstGeom prst="roundRect">
            <a:avLst>
              <a:gd fmla="val 5161"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 name="Google Shape;151;p21"/>
          <p:cNvSpPr txBox="1"/>
          <p:nvPr/>
        </p:nvSpPr>
        <p:spPr>
          <a:xfrm>
            <a:off x="6137910" y="3531870"/>
            <a:ext cx="24003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Cambria"/>
              <a:buNone/>
            </a:pPr>
            <a:r>
              <a:rPr b="1" lang="en-GB" sz="2000">
                <a:solidFill>
                  <a:schemeClr val="accent1"/>
                </a:solidFill>
                <a:latin typeface="Cambria"/>
                <a:ea typeface="Cambria"/>
                <a:cs typeface="Cambria"/>
                <a:sym typeface="Cambria"/>
              </a:rPr>
              <a:t>76%</a:t>
            </a:r>
            <a:endParaRPr sz="2000">
              <a:solidFill>
                <a:schemeClr val="dk1"/>
              </a:solidFill>
              <a:latin typeface="Calibri"/>
              <a:ea typeface="Calibri"/>
              <a:cs typeface="Calibri"/>
              <a:sym typeface="Calibri"/>
            </a:endParaRPr>
          </a:p>
        </p:txBody>
      </p:sp>
      <p:sp>
        <p:nvSpPr>
          <p:cNvPr id="152" name="Google Shape;152;p21"/>
          <p:cNvSpPr txBox="1"/>
          <p:nvPr/>
        </p:nvSpPr>
        <p:spPr>
          <a:xfrm>
            <a:off x="6137910" y="3963924"/>
            <a:ext cx="240030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of wave-7 baseline rows carry a missing code for EURO-D (SHARELIFE interviews)</a:t>
            </a:r>
            <a:endParaRPr sz="1100">
              <a:solidFill>
                <a:schemeClr val="dk1"/>
              </a:solidFill>
              <a:latin typeface="Calibri"/>
              <a:ea typeface="Calibri"/>
              <a:cs typeface="Calibri"/>
              <a:sym typeface="Calibri"/>
            </a:endParaRPr>
          </a:p>
        </p:txBody>
      </p:sp>
      <p:sp>
        <p:nvSpPr>
          <p:cNvPr id="153" name="Google Shape;153;p21"/>
          <p:cNvSpPr txBox="1"/>
          <p:nvPr/>
        </p:nvSpPr>
        <p:spPr>
          <a:xfrm>
            <a:off x="411480" y="3874770"/>
            <a:ext cx="528066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Also: BMI outside 12–60 set to missing; income capped at the 99.9th percentile, equivalised by household size and logged.</a:t>
            </a:r>
            <a:endParaRPr sz="1100">
              <a:solidFill>
                <a:schemeClr val="dk1"/>
              </a:solidFill>
              <a:latin typeface="Calibri"/>
              <a:ea typeface="Calibri"/>
              <a:cs typeface="Calibri"/>
              <a:sym typeface="Calibri"/>
            </a:endParaRPr>
          </a:p>
        </p:txBody>
      </p:sp>
      <p:sp>
        <p:nvSpPr>
          <p:cNvPr id="154" name="Google Shape;154;p21"/>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Train on the past, test on the future</a:t>
            </a:r>
            <a:endParaRPr sz="2100"/>
          </a:p>
        </p:txBody>
      </p:sp>
      <p:sp>
        <p:nvSpPr>
          <p:cNvPr id="161" name="Google Shape;161;p22"/>
          <p:cNvSpPr/>
          <p:nvPr/>
        </p:nvSpPr>
        <p:spPr>
          <a:xfrm>
            <a:off x="411480" y="1097280"/>
            <a:ext cx="3154680" cy="994410"/>
          </a:xfrm>
          <a:prstGeom prst="rect">
            <a:avLst/>
          </a:prstGeom>
          <a:solidFill>
            <a:srgbClr val="157A82"/>
          </a:solidFill>
          <a:ln cap="flat" cmpd="sng" w="12700">
            <a:solidFill>
              <a:srgbClr val="157A8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 name="Google Shape;162;p22"/>
          <p:cNvSpPr txBox="1"/>
          <p:nvPr/>
        </p:nvSpPr>
        <p:spPr>
          <a:xfrm>
            <a:off x="548640" y="1097280"/>
            <a:ext cx="2880360" cy="9944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GB" sz="1300">
                <a:solidFill>
                  <a:srgbClr val="FFFFFF"/>
                </a:solidFill>
                <a:latin typeface="Calibri"/>
                <a:ea typeface="Calibri"/>
                <a:cs typeface="Calibri"/>
                <a:sym typeface="Calibri"/>
              </a:rPr>
              <a:t>Development</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lang="en-GB" sz="1100">
                <a:solidFill>
                  <a:srgbClr val="FFFFFF"/>
                </a:solidFill>
                <a:latin typeface="Calibri"/>
                <a:ea typeface="Calibri"/>
                <a:cs typeface="Calibri"/>
                <a:sym typeface="Calibri"/>
              </a:rPr>
              <a:t>baselines in waves 1, 4, 5</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45,574 pairs</a:t>
            </a:r>
            <a:endParaRPr sz="1300">
              <a:solidFill>
                <a:schemeClr val="dk1"/>
              </a:solidFill>
              <a:latin typeface="Calibri"/>
              <a:ea typeface="Calibri"/>
              <a:cs typeface="Calibri"/>
              <a:sym typeface="Calibri"/>
            </a:endParaRPr>
          </a:p>
        </p:txBody>
      </p:sp>
      <p:sp>
        <p:nvSpPr>
          <p:cNvPr id="163" name="Google Shape;163;p22"/>
          <p:cNvSpPr/>
          <p:nvPr/>
        </p:nvSpPr>
        <p:spPr>
          <a:xfrm>
            <a:off x="3600450" y="1097280"/>
            <a:ext cx="2057400" cy="994410"/>
          </a:xfrm>
          <a:prstGeom prst="rect">
            <a:avLst/>
          </a:prstGeom>
          <a:solidFill>
            <a:srgbClr val="F2A541"/>
          </a:solidFill>
          <a:ln cap="flat" cmpd="sng" w="12700">
            <a:solidFill>
              <a:srgbClr val="F2A54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 name="Google Shape;164;p22"/>
          <p:cNvSpPr txBox="1"/>
          <p:nvPr/>
        </p:nvSpPr>
        <p:spPr>
          <a:xfrm>
            <a:off x="3737610" y="1097280"/>
            <a:ext cx="1783080" cy="9944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D33"/>
              </a:buClr>
              <a:buSzPts val="1300"/>
              <a:buFont typeface="Calibri"/>
              <a:buNone/>
            </a:pPr>
            <a:r>
              <a:rPr b="1" lang="en-GB" sz="1300">
                <a:solidFill>
                  <a:srgbClr val="1F2D33"/>
                </a:solidFill>
                <a:latin typeface="Calibri"/>
                <a:ea typeface="Calibri"/>
                <a:cs typeface="Calibri"/>
                <a:sym typeface="Calibri"/>
              </a:rPr>
              <a:t>Validation</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100"/>
              <a:buFont typeface="Calibri"/>
              <a:buNone/>
            </a:pPr>
            <a:r>
              <a:rPr lang="en-GB" sz="1100">
                <a:solidFill>
                  <a:srgbClr val="1F2D33"/>
                </a:solidFill>
                <a:latin typeface="Calibri"/>
                <a:ea typeface="Calibri"/>
                <a:cs typeface="Calibri"/>
                <a:sym typeface="Calibri"/>
              </a:rPr>
              <a:t>wave 6 → 7</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100"/>
              <a:buFont typeface="Calibri"/>
              <a:buNone/>
            </a:pPr>
            <a:r>
              <a:rPr b="1" lang="en-GB" sz="1100">
                <a:solidFill>
                  <a:srgbClr val="1F2D33"/>
                </a:solidFill>
                <a:latin typeface="Calibri"/>
                <a:ea typeface="Calibri"/>
                <a:cs typeface="Calibri"/>
                <a:sym typeface="Calibri"/>
              </a:rPr>
              <a:t>25,238 pairs</a:t>
            </a:r>
            <a:endParaRPr sz="1300">
              <a:solidFill>
                <a:schemeClr val="dk1"/>
              </a:solidFill>
              <a:latin typeface="Calibri"/>
              <a:ea typeface="Calibri"/>
              <a:cs typeface="Calibri"/>
              <a:sym typeface="Calibri"/>
            </a:endParaRPr>
          </a:p>
        </p:txBody>
      </p:sp>
      <p:sp>
        <p:nvSpPr>
          <p:cNvPr id="165" name="Google Shape;165;p22"/>
          <p:cNvSpPr/>
          <p:nvPr/>
        </p:nvSpPr>
        <p:spPr>
          <a:xfrm>
            <a:off x="5692140" y="1097280"/>
            <a:ext cx="3086100" cy="994410"/>
          </a:xfrm>
          <a:prstGeom prst="rect">
            <a:avLst/>
          </a:prstGeom>
          <a:solidFill>
            <a:srgbClr val="E4572E"/>
          </a:solidFill>
          <a:ln cap="flat" cmpd="sng" w="12700">
            <a:solidFill>
              <a:srgbClr val="E457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 name="Google Shape;166;p22"/>
          <p:cNvSpPr txBox="1"/>
          <p:nvPr/>
        </p:nvSpPr>
        <p:spPr>
          <a:xfrm>
            <a:off x="5829300" y="1097280"/>
            <a:ext cx="2811780" cy="9944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GB" sz="1300">
                <a:solidFill>
                  <a:srgbClr val="FFFFFF"/>
                </a:solidFill>
                <a:latin typeface="Calibri"/>
                <a:ea typeface="Calibri"/>
                <a:cs typeface="Calibri"/>
                <a:sym typeface="Calibri"/>
              </a:rPr>
              <a:t>Test (used for final results)</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lang="en-GB" sz="1100">
                <a:solidFill>
                  <a:srgbClr val="FFFFFF"/>
                </a:solidFill>
                <a:latin typeface="Calibri"/>
                <a:ea typeface="Calibri"/>
                <a:cs typeface="Calibri"/>
                <a:sym typeface="Calibri"/>
              </a:rPr>
              <a:t>waves 7 → 8 and 8 → 9</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44,343 pairs · 9.05% new cases</a:t>
            </a:r>
            <a:endParaRPr sz="1300">
              <a:solidFill>
                <a:schemeClr val="dk1"/>
              </a:solidFill>
              <a:latin typeface="Calibri"/>
              <a:ea typeface="Calibri"/>
              <a:cs typeface="Calibri"/>
              <a:sym typeface="Calibri"/>
            </a:endParaRPr>
          </a:p>
        </p:txBody>
      </p:sp>
      <p:cxnSp>
        <p:nvCxnSpPr>
          <p:cNvPr id="167" name="Google Shape;167;p22"/>
          <p:cNvCxnSpPr/>
          <p:nvPr/>
        </p:nvCxnSpPr>
        <p:spPr>
          <a:xfrm>
            <a:off x="411480" y="2263140"/>
            <a:ext cx="8298180" cy="0"/>
          </a:xfrm>
          <a:prstGeom prst="straightConnector1">
            <a:avLst/>
          </a:prstGeom>
          <a:noFill/>
          <a:ln cap="flat" cmpd="sng" w="19050">
            <a:solidFill>
              <a:srgbClr val="9AA5AB"/>
            </a:solidFill>
            <a:prstDash val="solid"/>
            <a:round/>
            <a:headEnd len="sm" w="sm" type="none"/>
            <a:tailEnd len="med" w="med" type="triangle"/>
          </a:ln>
        </p:spPr>
      </p:cxnSp>
      <p:sp>
        <p:nvSpPr>
          <p:cNvPr id="168" name="Google Shape;168;p22"/>
          <p:cNvSpPr txBox="1"/>
          <p:nvPr/>
        </p:nvSpPr>
        <p:spPr>
          <a:xfrm>
            <a:off x="8229600" y="2318004"/>
            <a:ext cx="54864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time →</a:t>
            </a:r>
            <a:endParaRPr sz="800">
              <a:solidFill>
                <a:schemeClr val="dk1"/>
              </a:solidFill>
              <a:latin typeface="Calibri"/>
              <a:ea typeface="Calibri"/>
              <a:cs typeface="Calibri"/>
              <a:sym typeface="Calibri"/>
            </a:endParaRPr>
          </a:p>
        </p:txBody>
      </p:sp>
      <p:sp>
        <p:nvSpPr>
          <p:cNvPr id="169" name="Google Shape;169;p22"/>
          <p:cNvSpPr txBox="1"/>
          <p:nvPr/>
        </p:nvSpPr>
        <p:spPr>
          <a:xfrm>
            <a:off x="411480" y="2708910"/>
            <a:ext cx="8298180" cy="192024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Missing values kept, not dropped: median / most-frequent imputation (complete cases would lose 40% of rows in set C)</a:t>
            </a:r>
            <a:endParaRPr sz="1300">
              <a:solidFill>
                <a:schemeClr val="dk1"/>
              </a:solidFill>
              <a:latin typeface="Calibri"/>
              <a:ea typeface="Calibri"/>
              <a:cs typeface="Calibri"/>
              <a:sym typeface="Calibri"/>
            </a:endParaRPr>
          </a:p>
          <a:p>
            <a:pPr indent="-260350" lvl="0" marL="254000" marR="0" rtl="0" algn="l">
              <a:spcBef>
                <a:spcPts val="150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Imputation, scaling, age and BMI splines and country encoding fitted inside each pipeline on training data only</a:t>
            </a:r>
            <a:endParaRPr sz="1300">
              <a:solidFill>
                <a:schemeClr val="dk1"/>
              </a:solidFill>
              <a:latin typeface="Calibri"/>
              <a:ea typeface="Calibri"/>
              <a:cs typeface="Calibri"/>
              <a:sym typeface="Calibri"/>
            </a:endParaRPr>
          </a:p>
          <a:p>
            <a:pPr indent="-260350" lvl="0" marL="254000" marR="0" rtl="0" algn="l">
              <a:spcBef>
                <a:spcPts val="150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Hyper-parameters, number of PCs and the decision threshold chosen on validation; final model refit on development + validation</a:t>
            </a:r>
            <a:endParaRPr sz="1300">
              <a:solidFill>
                <a:schemeClr val="dk1"/>
              </a:solidFill>
              <a:latin typeface="Calibri"/>
              <a:ea typeface="Calibri"/>
              <a:cs typeface="Calibri"/>
              <a:sym typeface="Calibri"/>
            </a:endParaRPr>
          </a:p>
          <a:p>
            <a:pPr indent="-260350" lvl="0" marL="254000" marR="0" rtl="0" algn="l">
              <a:spcBef>
                <a:spcPts val="1500"/>
              </a:spcBef>
              <a:spcAft>
                <a:spcPts val="0"/>
              </a:spcAft>
              <a:buClr>
                <a:schemeClr val="dk1"/>
              </a:buClr>
              <a:buSzPts val="1300"/>
              <a:buFont typeface="Calibri"/>
              <a:buChar char="•"/>
            </a:pPr>
            <a:r>
              <a:rPr lang="en-GB" sz="1300">
                <a:solidFill>
                  <a:schemeClr val="dk1"/>
                </a:solidFill>
                <a:latin typeface="Calibri"/>
                <a:ea typeface="Calibri"/>
                <a:cs typeface="Calibri"/>
                <a:sym typeface="Calibri"/>
              </a:rPr>
              <a:t>95% confidence intervals: bootstrap that resamples whole households (couples are not independent)</a:t>
            </a:r>
            <a:endParaRPr sz="1300">
              <a:solidFill>
                <a:schemeClr val="dk1"/>
              </a:solidFill>
              <a:latin typeface="Calibri"/>
              <a:ea typeface="Calibri"/>
              <a:cs typeface="Calibri"/>
              <a:sym typeface="Calibri"/>
            </a:endParaRPr>
          </a:p>
        </p:txBody>
      </p:sp>
      <p:sp>
        <p:nvSpPr>
          <p:cNvPr id="170" name="Google Shape;170;p22"/>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231930" y="168167"/>
            <a:ext cx="8676173"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rPr>
              <a:t>From survey waves to 115,155 prediction pairs (Longitudinal Dataset)</a:t>
            </a:r>
            <a:endParaRPr sz="2100"/>
          </a:p>
        </p:txBody>
      </p:sp>
      <p:sp>
        <p:nvSpPr>
          <p:cNvPr id="177" name="Google Shape;177;p23"/>
          <p:cNvSpPr/>
          <p:nvPr/>
        </p:nvSpPr>
        <p:spPr>
          <a:xfrm>
            <a:off x="411480"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8" name="Google Shape;178;p23"/>
          <p:cNvSpPr txBox="1"/>
          <p:nvPr/>
        </p:nvSpPr>
        <p:spPr>
          <a:xfrm>
            <a:off x="411480"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1</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2004</a:t>
            </a:r>
            <a:endParaRPr sz="1200">
              <a:solidFill>
                <a:schemeClr val="dk1"/>
              </a:solidFill>
              <a:latin typeface="Calibri"/>
              <a:ea typeface="Calibri"/>
              <a:cs typeface="Calibri"/>
              <a:sym typeface="Calibri"/>
            </a:endParaRPr>
          </a:p>
        </p:txBody>
      </p:sp>
      <p:sp>
        <p:nvSpPr>
          <p:cNvPr id="179" name="Google Shape;179;p23"/>
          <p:cNvSpPr/>
          <p:nvPr/>
        </p:nvSpPr>
        <p:spPr>
          <a:xfrm>
            <a:off x="1340739"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0" name="Google Shape;180;p23"/>
          <p:cNvSpPr txBox="1"/>
          <p:nvPr/>
        </p:nvSpPr>
        <p:spPr>
          <a:xfrm>
            <a:off x="1340739"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2</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2006–07</a:t>
            </a:r>
            <a:endParaRPr sz="1200">
              <a:solidFill>
                <a:schemeClr val="dk1"/>
              </a:solidFill>
              <a:latin typeface="Calibri"/>
              <a:ea typeface="Calibri"/>
              <a:cs typeface="Calibri"/>
              <a:sym typeface="Calibri"/>
            </a:endParaRPr>
          </a:p>
        </p:txBody>
      </p:sp>
      <p:sp>
        <p:nvSpPr>
          <p:cNvPr id="181" name="Google Shape;181;p23"/>
          <p:cNvSpPr/>
          <p:nvPr/>
        </p:nvSpPr>
        <p:spPr>
          <a:xfrm>
            <a:off x="2269998" y="1097280"/>
            <a:ext cx="857250" cy="582930"/>
          </a:xfrm>
          <a:prstGeom prst="roundRect">
            <a:avLst>
              <a:gd fmla="val 11765" name="adj"/>
            </a:avLst>
          </a:prstGeom>
          <a:solidFill>
            <a:srgbClr val="E3E7E6"/>
          </a:solidFill>
          <a:ln cap="flat" cmpd="sng" w="9525">
            <a:solidFill>
              <a:srgbClr val="E3E7E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2" name="Google Shape;182;p23"/>
          <p:cNvSpPr txBox="1"/>
          <p:nvPr/>
        </p:nvSpPr>
        <p:spPr>
          <a:xfrm>
            <a:off x="2269998"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100"/>
              <a:buFont typeface="Calibri"/>
              <a:buNone/>
            </a:pPr>
            <a:r>
              <a:rPr b="1" lang="en-GB" sz="1100">
                <a:solidFill>
                  <a:schemeClr val="accent5"/>
                </a:solidFill>
                <a:latin typeface="Calibri"/>
                <a:ea typeface="Calibri"/>
                <a:cs typeface="Calibri"/>
                <a:sym typeface="Calibri"/>
              </a:rPr>
              <a:t>Wave 3</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accent5"/>
              </a:buClr>
              <a:buSzPts val="800"/>
              <a:buFont typeface="Calibri"/>
              <a:buNone/>
            </a:pPr>
            <a:r>
              <a:rPr lang="en-GB" sz="800">
                <a:solidFill>
                  <a:schemeClr val="accent5"/>
                </a:solidFill>
                <a:latin typeface="Calibri"/>
                <a:ea typeface="Calibri"/>
                <a:cs typeface="Calibri"/>
                <a:sym typeface="Calibri"/>
              </a:rPr>
              <a:t>SHARELIFE</a:t>
            </a:r>
            <a:endParaRPr sz="1200">
              <a:solidFill>
                <a:schemeClr val="dk1"/>
              </a:solidFill>
              <a:latin typeface="Calibri"/>
              <a:ea typeface="Calibri"/>
              <a:cs typeface="Calibri"/>
              <a:sym typeface="Calibri"/>
            </a:endParaRPr>
          </a:p>
        </p:txBody>
      </p:sp>
      <p:sp>
        <p:nvSpPr>
          <p:cNvPr id="183" name="Google Shape;183;p23"/>
          <p:cNvSpPr/>
          <p:nvPr/>
        </p:nvSpPr>
        <p:spPr>
          <a:xfrm>
            <a:off x="3199257"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4" name="Google Shape;184;p23"/>
          <p:cNvSpPr txBox="1"/>
          <p:nvPr/>
        </p:nvSpPr>
        <p:spPr>
          <a:xfrm>
            <a:off x="3199257"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4</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2011</a:t>
            </a:r>
            <a:endParaRPr sz="1200">
              <a:solidFill>
                <a:schemeClr val="dk1"/>
              </a:solidFill>
              <a:latin typeface="Calibri"/>
              <a:ea typeface="Calibri"/>
              <a:cs typeface="Calibri"/>
              <a:sym typeface="Calibri"/>
            </a:endParaRPr>
          </a:p>
        </p:txBody>
      </p:sp>
      <p:sp>
        <p:nvSpPr>
          <p:cNvPr id="185" name="Google Shape;185;p23"/>
          <p:cNvSpPr/>
          <p:nvPr/>
        </p:nvSpPr>
        <p:spPr>
          <a:xfrm>
            <a:off x="4128516"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6" name="Google Shape;186;p23"/>
          <p:cNvSpPr txBox="1"/>
          <p:nvPr/>
        </p:nvSpPr>
        <p:spPr>
          <a:xfrm>
            <a:off x="4128516"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5</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2013</a:t>
            </a:r>
            <a:endParaRPr sz="1200">
              <a:solidFill>
                <a:schemeClr val="dk1"/>
              </a:solidFill>
              <a:latin typeface="Calibri"/>
              <a:ea typeface="Calibri"/>
              <a:cs typeface="Calibri"/>
              <a:sym typeface="Calibri"/>
            </a:endParaRPr>
          </a:p>
        </p:txBody>
      </p:sp>
      <p:sp>
        <p:nvSpPr>
          <p:cNvPr id="187" name="Google Shape;187;p23"/>
          <p:cNvSpPr/>
          <p:nvPr/>
        </p:nvSpPr>
        <p:spPr>
          <a:xfrm>
            <a:off x="5057775"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8" name="Google Shape;188;p23"/>
          <p:cNvSpPr txBox="1"/>
          <p:nvPr/>
        </p:nvSpPr>
        <p:spPr>
          <a:xfrm>
            <a:off x="5057775"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6</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2015</a:t>
            </a:r>
            <a:endParaRPr sz="1200">
              <a:solidFill>
                <a:schemeClr val="dk1"/>
              </a:solidFill>
              <a:latin typeface="Calibri"/>
              <a:ea typeface="Calibri"/>
              <a:cs typeface="Calibri"/>
              <a:sym typeface="Calibri"/>
            </a:endParaRPr>
          </a:p>
        </p:txBody>
      </p:sp>
      <p:sp>
        <p:nvSpPr>
          <p:cNvPr id="189" name="Google Shape;189;p23"/>
          <p:cNvSpPr/>
          <p:nvPr/>
        </p:nvSpPr>
        <p:spPr>
          <a:xfrm>
            <a:off x="5987034"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0" name="Google Shape;190;p23"/>
          <p:cNvSpPr txBox="1"/>
          <p:nvPr/>
        </p:nvSpPr>
        <p:spPr>
          <a:xfrm>
            <a:off x="5987034"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7</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2017</a:t>
            </a:r>
            <a:endParaRPr sz="1200">
              <a:solidFill>
                <a:schemeClr val="dk1"/>
              </a:solidFill>
              <a:latin typeface="Calibri"/>
              <a:ea typeface="Calibri"/>
              <a:cs typeface="Calibri"/>
              <a:sym typeface="Calibri"/>
            </a:endParaRPr>
          </a:p>
        </p:txBody>
      </p:sp>
      <p:sp>
        <p:nvSpPr>
          <p:cNvPr id="191" name="Google Shape;191;p23"/>
          <p:cNvSpPr/>
          <p:nvPr/>
        </p:nvSpPr>
        <p:spPr>
          <a:xfrm>
            <a:off x="6916293"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2" name="Google Shape;192;p23"/>
          <p:cNvSpPr txBox="1"/>
          <p:nvPr/>
        </p:nvSpPr>
        <p:spPr>
          <a:xfrm>
            <a:off x="6916293"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8</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2019–20</a:t>
            </a:r>
            <a:endParaRPr sz="1200">
              <a:solidFill>
                <a:schemeClr val="dk1"/>
              </a:solidFill>
              <a:latin typeface="Calibri"/>
              <a:ea typeface="Calibri"/>
              <a:cs typeface="Calibri"/>
              <a:sym typeface="Calibri"/>
            </a:endParaRPr>
          </a:p>
        </p:txBody>
      </p:sp>
      <p:sp>
        <p:nvSpPr>
          <p:cNvPr id="193" name="Google Shape;193;p23"/>
          <p:cNvSpPr/>
          <p:nvPr/>
        </p:nvSpPr>
        <p:spPr>
          <a:xfrm>
            <a:off x="7845552" y="1097280"/>
            <a:ext cx="857250" cy="582930"/>
          </a:xfrm>
          <a:prstGeom prst="roundRect">
            <a:avLst>
              <a:gd fmla="val 11765" name="adj"/>
            </a:avLst>
          </a:prstGeom>
          <a:solidFill>
            <a:schemeClr val="dk2"/>
          </a:solidFill>
          <a:ln cap="flat" cmpd="sng" w="9525">
            <a:solidFill>
              <a:schemeClr val="dk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 name="Google Shape;194;p23"/>
          <p:cNvSpPr txBox="1"/>
          <p:nvPr/>
        </p:nvSpPr>
        <p:spPr>
          <a:xfrm>
            <a:off x="7845552" y="1097280"/>
            <a:ext cx="85725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lang="en-GB" sz="1100">
                <a:solidFill>
                  <a:schemeClr val="lt1"/>
                </a:solidFill>
                <a:latin typeface="Calibri"/>
                <a:ea typeface="Calibri"/>
                <a:cs typeface="Calibri"/>
                <a:sym typeface="Calibri"/>
              </a:rPr>
              <a:t>Wave 9</a:t>
            </a:r>
            <a:endParaRPr sz="1200">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800"/>
              <a:buFont typeface="Calibri"/>
              <a:buNone/>
            </a:pPr>
            <a:r>
              <a:rPr lang="en-GB" sz="800">
                <a:solidFill>
                  <a:schemeClr val="lt1"/>
                </a:solidFill>
                <a:latin typeface="Calibri"/>
                <a:ea typeface="Calibri"/>
                <a:cs typeface="Calibri"/>
                <a:sym typeface="Calibri"/>
              </a:rPr>
              <a:t>2021–22</a:t>
            </a:r>
            <a:endParaRPr sz="1200">
              <a:solidFill>
                <a:schemeClr val="dk1"/>
              </a:solidFill>
              <a:latin typeface="Calibri"/>
              <a:ea typeface="Calibri"/>
              <a:cs typeface="Calibri"/>
              <a:sym typeface="Calibri"/>
            </a:endParaRPr>
          </a:p>
        </p:txBody>
      </p:sp>
      <p:sp>
        <p:nvSpPr>
          <p:cNvPr id="195" name="Google Shape;195;p23"/>
          <p:cNvSpPr/>
          <p:nvPr/>
        </p:nvSpPr>
        <p:spPr>
          <a:xfrm>
            <a:off x="881253" y="1783080"/>
            <a:ext cx="846963" cy="308610"/>
          </a:xfrm>
          <a:prstGeom prst="roundRect">
            <a:avLst>
              <a:gd fmla="val 22222" name="adj"/>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6" name="Google Shape;196;p23"/>
          <p:cNvSpPr txBox="1"/>
          <p:nvPr/>
        </p:nvSpPr>
        <p:spPr>
          <a:xfrm>
            <a:off x="881253" y="1783080"/>
            <a:ext cx="846963"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GB" sz="1000">
                <a:solidFill>
                  <a:schemeClr val="lt1"/>
                </a:solidFill>
                <a:latin typeface="Calibri"/>
                <a:ea typeface="Calibri"/>
                <a:cs typeface="Calibri"/>
                <a:sym typeface="Calibri"/>
              </a:rPr>
              <a:t>1 → 2</a:t>
            </a:r>
            <a:endParaRPr sz="1000">
              <a:solidFill>
                <a:schemeClr val="dk1"/>
              </a:solidFill>
              <a:latin typeface="Calibri"/>
              <a:ea typeface="Calibri"/>
              <a:cs typeface="Calibri"/>
              <a:sym typeface="Calibri"/>
            </a:endParaRPr>
          </a:p>
        </p:txBody>
      </p:sp>
      <p:sp>
        <p:nvSpPr>
          <p:cNvPr id="197" name="Google Shape;197;p23"/>
          <p:cNvSpPr/>
          <p:nvPr/>
        </p:nvSpPr>
        <p:spPr>
          <a:xfrm>
            <a:off x="3669030" y="1783080"/>
            <a:ext cx="846963" cy="308610"/>
          </a:xfrm>
          <a:prstGeom prst="roundRect">
            <a:avLst>
              <a:gd fmla="val 22222" name="adj"/>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8" name="Google Shape;198;p23"/>
          <p:cNvSpPr txBox="1"/>
          <p:nvPr/>
        </p:nvSpPr>
        <p:spPr>
          <a:xfrm>
            <a:off x="3669030" y="1783080"/>
            <a:ext cx="846963"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GB" sz="1000">
                <a:solidFill>
                  <a:schemeClr val="lt1"/>
                </a:solidFill>
                <a:latin typeface="Calibri"/>
                <a:ea typeface="Calibri"/>
                <a:cs typeface="Calibri"/>
                <a:sym typeface="Calibri"/>
              </a:rPr>
              <a:t>4 → 5</a:t>
            </a:r>
            <a:endParaRPr sz="1000">
              <a:solidFill>
                <a:schemeClr val="dk1"/>
              </a:solidFill>
              <a:latin typeface="Calibri"/>
              <a:ea typeface="Calibri"/>
              <a:cs typeface="Calibri"/>
              <a:sym typeface="Calibri"/>
            </a:endParaRPr>
          </a:p>
        </p:txBody>
      </p:sp>
      <p:sp>
        <p:nvSpPr>
          <p:cNvPr id="199" name="Google Shape;199;p23"/>
          <p:cNvSpPr/>
          <p:nvPr/>
        </p:nvSpPr>
        <p:spPr>
          <a:xfrm>
            <a:off x="4598289" y="1783080"/>
            <a:ext cx="846963" cy="308610"/>
          </a:xfrm>
          <a:prstGeom prst="roundRect">
            <a:avLst>
              <a:gd fmla="val 22222" name="adj"/>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0" name="Google Shape;200;p23"/>
          <p:cNvSpPr txBox="1"/>
          <p:nvPr/>
        </p:nvSpPr>
        <p:spPr>
          <a:xfrm>
            <a:off x="4598289" y="1783080"/>
            <a:ext cx="846963"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GB" sz="1000">
                <a:solidFill>
                  <a:schemeClr val="lt1"/>
                </a:solidFill>
                <a:latin typeface="Calibri"/>
                <a:ea typeface="Calibri"/>
                <a:cs typeface="Calibri"/>
                <a:sym typeface="Calibri"/>
              </a:rPr>
              <a:t>5 → 6</a:t>
            </a:r>
            <a:endParaRPr sz="1000">
              <a:solidFill>
                <a:schemeClr val="dk1"/>
              </a:solidFill>
              <a:latin typeface="Calibri"/>
              <a:ea typeface="Calibri"/>
              <a:cs typeface="Calibri"/>
              <a:sym typeface="Calibri"/>
            </a:endParaRPr>
          </a:p>
        </p:txBody>
      </p:sp>
      <p:sp>
        <p:nvSpPr>
          <p:cNvPr id="201" name="Google Shape;201;p23"/>
          <p:cNvSpPr/>
          <p:nvPr/>
        </p:nvSpPr>
        <p:spPr>
          <a:xfrm>
            <a:off x="5527548" y="1783080"/>
            <a:ext cx="846963" cy="308610"/>
          </a:xfrm>
          <a:prstGeom prst="roundRect">
            <a:avLst>
              <a:gd fmla="val 22222" name="adj"/>
            </a:avLst>
          </a:prstGeom>
          <a:solidFill>
            <a:schemeClr val="accent3"/>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2" name="Google Shape;202;p23"/>
          <p:cNvSpPr txBox="1"/>
          <p:nvPr/>
        </p:nvSpPr>
        <p:spPr>
          <a:xfrm>
            <a:off x="5527548" y="1783080"/>
            <a:ext cx="846963"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GB" sz="1000">
                <a:solidFill>
                  <a:schemeClr val="lt1"/>
                </a:solidFill>
                <a:latin typeface="Calibri"/>
                <a:ea typeface="Calibri"/>
                <a:cs typeface="Calibri"/>
                <a:sym typeface="Calibri"/>
              </a:rPr>
              <a:t>6 → 7</a:t>
            </a:r>
            <a:endParaRPr sz="1000">
              <a:solidFill>
                <a:schemeClr val="dk1"/>
              </a:solidFill>
              <a:latin typeface="Calibri"/>
              <a:ea typeface="Calibri"/>
              <a:cs typeface="Calibri"/>
              <a:sym typeface="Calibri"/>
            </a:endParaRPr>
          </a:p>
        </p:txBody>
      </p:sp>
      <p:sp>
        <p:nvSpPr>
          <p:cNvPr id="203" name="Google Shape;203;p23"/>
          <p:cNvSpPr/>
          <p:nvPr/>
        </p:nvSpPr>
        <p:spPr>
          <a:xfrm>
            <a:off x="6456807" y="1783080"/>
            <a:ext cx="846963" cy="308610"/>
          </a:xfrm>
          <a:prstGeom prst="roundRect">
            <a:avLst>
              <a:gd fmla="val 22222" name="adj"/>
            </a:avLst>
          </a:pr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4" name="Google Shape;204;p23"/>
          <p:cNvSpPr txBox="1"/>
          <p:nvPr/>
        </p:nvSpPr>
        <p:spPr>
          <a:xfrm>
            <a:off x="6456807" y="1783080"/>
            <a:ext cx="846963"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GB" sz="1000">
                <a:solidFill>
                  <a:schemeClr val="lt1"/>
                </a:solidFill>
                <a:latin typeface="Calibri"/>
                <a:ea typeface="Calibri"/>
                <a:cs typeface="Calibri"/>
                <a:sym typeface="Calibri"/>
              </a:rPr>
              <a:t>7 → 8</a:t>
            </a:r>
            <a:endParaRPr sz="1000">
              <a:solidFill>
                <a:schemeClr val="dk1"/>
              </a:solidFill>
              <a:latin typeface="Calibri"/>
              <a:ea typeface="Calibri"/>
              <a:cs typeface="Calibri"/>
              <a:sym typeface="Calibri"/>
            </a:endParaRPr>
          </a:p>
        </p:txBody>
      </p:sp>
      <p:sp>
        <p:nvSpPr>
          <p:cNvPr id="205" name="Google Shape;205;p23"/>
          <p:cNvSpPr/>
          <p:nvPr/>
        </p:nvSpPr>
        <p:spPr>
          <a:xfrm>
            <a:off x="7386066" y="1783080"/>
            <a:ext cx="846963" cy="308610"/>
          </a:xfrm>
          <a:prstGeom prst="roundRect">
            <a:avLst>
              <a:gd fmla="val 22222" name="adj"/>
            </a:avLst>
          </a:pr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6" name="Google Shape;206;p23"/>
          <p:cNvSpPr txBox="1"/>
          <p:nvPr/>
        </p:nvSpPr>
        <p:spPr>
          <a:xfrm>
            <a:off x="7386066" y="1783080"/>
            <a:ext cx="846963"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lang="en-GB" sz="1000">
                <a:solidFill>
                  <a:schemeClr val="lt1"/>
                </a:solidFill>
                <a:latin typeface="Calibri"/>
                <a:ea typeface="Calibri"/>
                <a:cs typeface="Calibri"/>
                <a:sym typeface="Calibri"/>
              </a:rPr>
              <a:t>8 → 9</a:t>
            </a:r>
            <a:endParaRPr sz="1000">
              <a:solidFill>
                <a:schemeClr val="dk1"/>
              </a:solidFill>
              <a:latin typeface="Calibri"/>
              <a:ea typeface="Calibri"/>
              <a:cs typeface="Calibri"/>
              <a:sym typeface="Calibri"/>
            </a:endParaRPr>
          </a:p>
        </p:txBody>
      </p:sp>
      <p:sp>
        <p:nvSpPr>
          <p:cNvPr id="207" name="Google Shape;207;p23"/>
          <p:cNvSpPr txBox="1"/>
          <p:nvPr/>
        </p:nvSpPr>
        <p:spPr>
          <a:xfrm>
            <a:off x="2269998" y="1783080"/>
            <a:ext cx="857250" cy="3086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900">
                <a:solidFill>
                  <a:srgbClr val="7F7F7F"/>
                </a:solidFill>
                <a:latin typeface="Calibri"/>
                <a:ea typeface="Calibri"/>
                <a:cs typeface="Calibri"/>
                <a:sym typeface="Calibri"/>
              </a:rPr>
              <a:t>life-history survey without ADL questions</a:t>
            </a:r>
            <a:endParaRPr sz="900">
              <a:solidFill>
                <a:srgbClr val="7F7F7F"/>
              </a:solidFill>
              <a:latin typeface="Calibri"/>
              <a:ea typeface="Calibri"/>
              <a:cs typeface="Calibri"/>
              <a:sym typeface="Calibri"/>
            </a:endParaRPr>
          </a:p>
        </p:txBody>
      </p:sp>
      <p:sp>
        <p:nvSpPr>
          <p:cNvPr id="208" name="Google Shape;208;p23"/>
          <p:cNvSpPr/>
          <p:nvPr/>
        </p:nvSpPr>
        <p:spPr>
          <a:xfrm>
            <a:off x="411480" y="2276856"/>
            <a:ext cx="192024" cy="192024"/>
          </a:xfrm>
          <a:prstGeom prst="roundRect">
            <a:avLst>
              <a:gd fmla="val 21429" name="adj"/>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 name="Google Shape;209;p23"/>
          <p:cNvSpPr txBox="1"/>
          <p:nvPr/>
        </p:nvSpPr>
        <p:spPr>
          <a:xfrm>
            <a:off x="672084" y="2242566"/>
            <a:ext cx="28117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Development: baselines 1, 4, 5 (45,574 pairs)</a:t>
            </a:r>
            <a:endParaRPr sz="1100">
              <a:solidFill>
                <a:schemeClr val="dk1"/>
              </a:solidFill>
              <a:latin typeface="Calibri"/>
              <a:ea typeface="Calibri"/>
              <a:cs typeface="Calibri"/>
              <a:sym typeface="Calibri"/>
            </a:endParaRPr>
          </a:p>
        </p:txBody>
      </p:sp>
      <p:sp>
        <p:nvSpPr>
          <p:cNvPr id="210" name="Google Shape;210;p23"/>
          <p:cNvSpPr/>
          <p:nvPr/>
        </p:nvSpPr>
        <p:spPr>
          <a:xfrm>
            <a:off x="3429000" y="2276856"/>
            <a:ext cx="192024" cy="192024"/>
          </a:xfrm>
          <a:prstGeom prst="roundRect">
            <a:avLst>
              <a:gd fmla="val 21429" name="adj"/>
            </a:avLst>
          </a:prstGeom>
          <a:solidFill>
            <a:schemeClr val="accent3"/>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1" name="Google Shape;211;p23"/>
          <p:cNvSpPr txBox="1"/>
          <p:nvPr/>
        </p:nvSpPr>
        <p:spPr>
          <a:xfrm>
            <a:off x="3689604" y="2242566"/>
            <a:ext cx="28117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Validation: baseline 6 (25,238)</a:t>
            </a:r>
            <a:endParaRPr sz="1100">
              <a:solidFill>
                <a:schemeClr val="dk1"/>
              </a:solidFill>
              <a:latin typeface="Calibri"/>
              <a:ea typeface="Calibri"/>
              <a:cs typeface="Calibri"/>
              <a:sym typeface="Calibri"/>
            </a:endParaRPr>
          </a:p>
        </p:txBody>
      </p:sp>
      <p:sp>
        <p:nvSpPr>
          <p:cNvPr id="212" name="Google Shape;212;p23"/>
          <p:cNvSpPr/>
          <p:nvPr/>
        </p:nvSpPr>
        <p:spPr>
          <a:xfrm>
            <a:off x="5897880" y="2276856"/>
            <a:ext cx="192024" cy="192024"/>
          </a:xfrm>
          <a:prstGeom prst="roundRect">
            <a:avLst>
              <a:gd fmla="val 21429" name="adj"/>
            </a:avLst>
          </a:pr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3" name="Google Shape;213;p23"/>
          <p:cNvSpPr txBox="1"/>
          <p:nvPr/>
        </p:nvSpPr>
        <p:spPr>
          <a:xfrm>
            <a:off x="6158484" y="2242566"/>
            <a:ext cx="28117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Test: baselines 7, 8 (44,343)</a:t>
            </a:r>
            <a:endParaRPr sz="1100">
              <a:solidFill>
                <a:schemeClr val="dk1"/>
              </a:solidFill>
              <a:latin typeface="Calibri"/>
              <a:ea typeface="Calibri"/>
              <a:cs typeface="Calibri"/>
              <a:sym typeface="Calibri"/>
            </a:endParaRPr>
          </a:p>
        </p:txBody>
      </p:sp>
      <p:sp>
        <p:nvSpPr>
          <p:cNvPr id="214" name="Google Shape;214;p23"/>
          <p:cNvSpPr/>
          <p:nvPr/>
        </p:nvSpPr>
        <p:spPr>
          <a:xfrm>
            <a:off x="416052" y="2966940"/>
            <a:ext cx="2674620" cy="1405890"/>
          </a:xfrm>
          <a:prstGeom prst="roundRect">
            <a:avLst>
              <a:gd fmla="val 5854"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5" name="Google Shape;215;p23"/>
          <p:cNvSpPr txBox="1"/>
          <p:nvPr/>
        </p:nvSpPr>
        <p:spPr>
          <a:xfrm>
            <a:off x="554671" y="3086955"/>
            <a:ext cx="2397382"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lang="en-GB" sz="2400">
                <a:solidFill>
                  <a:schemeClr val="accent1"/>
                </a:solidFill>
                <a:latin typeface="Calibri"/>
                <a:ea typeface="Calibri"/>
                <a:cs typeface="Calibri"/>
                <a:sym typeface="Calibri"/>
              </a:rPr>
              <a:t>115,155 Valid Pairs</a:t>
            </a:r>
            <a:endParaRPr sz="2400">
              <a:solidFill>
                <a:schemeClr val="dk1"/>
              </a:solidFill>
              <a:latin typeface="Calibri"/>
              <a:ea typeface="Calibri"/>
              <a:cs typeface="Calibri"/>
              <a:sym typeface="Calibri"/>
            </a:endParaRPr>
          </a:p>
        </p:txBody>
      </p:sp>
      <p:sp>
        <p:nvSpPr>
          <p:cNvPr id="216" name="Google Shape;216;p23"/>
          <p:cNvSpPr txBox="1"/>
          <p:nvPr/>
        </p:nvSpPr>
        <p:spPr>
          <a:xfrm>
            <a:off x="587502" y="361845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pairs: aged 65+ with ADL = 0 at baseline and a valid ADL at the next interview</a:t>
            </a:r>
            <a:endParaRPr sz="1100">
              <a:solidFill>
                <a:schemeClr val="dk1"/>
              </a:solidFill>
              <a:latin typeface="Calibri"/>
              <a:ea typeface="Calibri"/>
              <a:cs typeface="Calibri"/>
              <a:sym typeface="Calibri"/>
            </a:endParaRPr>
          </a:p>
        </p:txBody>
      </p:sp>
      <p:sp>
        <p:nvSpPr>
          <p:cNvPr id="217" name="Google Shape;217;p23"/>
          <p:cNvSpPr/>
          <p:nvPr/>
        </p:nvSpPr>
        <p:spPr>
          <a:xfrm>
            <a:off x="3234690" y="2966940"/>
            <a:ext cx="2674620" cy="1405890"/>
          </a:xfrm>
          <a:prstGeom prst="roundRect">
            <a:avLst>
              <a:gd fmla="val 5854"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8" name="Google Shape;218;p23"/>
          <p:cNvSpPr txBox="1"/>
          <p:nvPr/>
        </p:nvSpPr>
        <p:spPr>
          <a:xfrm>
            <a:off x="3406140" y="3090384"/>
            <a:ext cx="233172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GB" sz="1800">
                <a:solidFill>
                  <a:schemeClr val="accent2"/>
                </a:solidFill>
                <a:latin typeface="Calibri"/>
                <a:ea typeface="Calibri"/>
                <a:cs typeface="Calibri"/>
                <a:sym typeface="Calibri"/>
              </a:rPr>
              <a:t>9.6% (Positive example)</a:t>
            </a:r>
            <a:endParaRPr sz="1800">
              <a:solidFill>
                <a:schemeClr val="dk1"/>
              </a:solidFill>
              <a:latin typeface="Calibri"/>
              <a:ea typeface="Calibri"/>
              <a:cs typeface="Calibri"/>
              <a:sym typeface="Calibri"/>
            </a:endParaRPr>
          </a:p>
        </p:txBody>
      </p:sp>
      <p:sp>
        <p:nvSpPr>
          <p:cNvPr id="219" name="Google Shape;219;p23"/>
          <p:cNvSpPr txBox="1"/>
          <p:nvPr/>
        </p:nvSpPr>
        <p:spPr>
          <a:xfrm>
            <a:off x="3406140" y="361845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develop a new ADL limitation (ADL ≥ 1) by the next interview</a:t>
            </a:r>
            <a:endParaRPr sz="1100">
              <a:solidFill>
                <a:schemeClr val="dk1"/>
              </a:solidFill>
              <a:latin typeface="Calibri"/>
              <a:ea typeface="Calibri"/>
              <a:cs typeface="Calibri"/>
              <a:sym typeface="Calibri"/>
            </a:endParaRPr>
          </a:p>
        </p:txBody>
      </p:sp>
      <p:sp>
        <p:nvSpPr>
          <p:cNvPr id="220" name="Google Shape;220;p23"/>
          <p:cNvSpPr/>
          <p:nvPr/>
        </p:nvSpPr>
        <p:spPr>
          <a:xfrm>
            <a:off x="6060186" y="2966940"/>
            <a:ext cx="2674620" cy="1405890"/>
          </a:xfrm>
          <a:prstGeom prst="roundRect">
            <a:avLst>
              <a:gd fmla="val 5854"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1" name="Google Shape;221;p23"/>
          <p:cNvSpPr txBox="1"/>
          <p:nvPr/>
        </p:nvSpPr>
        <p:spPr>
          <a:xfrm>
            <a:off x="6231636" y="3090384"/>
            <a:ext cx="233172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lang="en-GB" sz="2400">
                <a:solidFill>
                  <a:schemeClr val="accent1"/>
                </a:solidFill>
                <a:latin typeface="Calibri"/>
                <a:ea typeface="Calibri"/>
                <a:cs typeface="Calibri"/>
                <a:sym typeface="Calibri"/>
              </a:rPr>
              <a:t>56–79%</a:t>
            </a:r>
            <a:endParaRPr sz="2400">
              <a:solidFill>
                <a:schemeClr val="dk1"/>
              </a:solidFill>
              <a:latin typeface="Calibri"/>
              <a:ea typeface="Calibri"/>
              <a:cs typeface="Calibri"/>
              <a:sym typeface="Calibri"/>
            </a:endParaRPr>
          </a:p>
        </p:txBody>
      </p:sp>
      <p:sp>
        <p:nvSpPr>
          <p:cNvPr id="222" name="Google Shape;222;p23"/>
          <p:cNvSpPr txBox="1"/>
          <p:nvPr/>
        </p:nvSpPr>
        <p:spPr>
          <a:xfrm>
            <a:off x="6231636" y="361845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of eligible people are re-interviewed, depending on the wave</a:t>
            </a:r>
            <a:endParaRPr sz="1100">
              <a:solidFill>
                <a:schemeClr val="dk1"/>
              </a:solidFill>
              <a:latin typeface="Calibri"/>
              <a:ea typeface="Calibri"/>
              <a:cs typeface="Calibri"/>
              <a:sym typeface="Calibri"/>
            </a:endParaRPr>
          </a:p>
        </p:txBody>
      </p:sp>
      <p:sp>
        <p:nvSpPr>
          <p:cNvPr id="223" name="Google Shape;223;p23"/>
          <p:cNvSpPr txBox="1"/>
          <p:nvPr/>
        </p:nvSpPr>
        <p:spPr>
          <a:xfrm>
            <a:off x="416052" y="4612860"/>
            <a:ext cx="83187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i="1" lang="en-GB" sz="900">
                <a:solidFill>
                  <a:schemeClr val="accent5"/>
                </a:solidFill>
                <a:latin typeface="Calibri"/>
                <a:ea typeface="Calibri"/>
                <a:cs typeface="Calibri"/>
                <a:sym typeface="Calibri"/>
              </a:rPr>
              <a:t>Interval to the next interview: 2 years for 77% of pairs, 3 years for 19%. Split by time, never at random: learn from the past, test on the future.</a:t>
            </a:r>
            <a:endParaRPr sz="900">
              <a:solidFill>
                <a:schemeClr val="dk1"/>
              </a:solidFill>
              <a:latin typeface="Calibri"/>
              <a:ea typeface="Calibri"/>
              <a:cs typeface="Calibri"/>
              <a:sym typeface="Calibri"/>
            </a:endParaRPr>
          </a:p>
        </p:txBody>
      </p:sp>
      <p:sp>
        <p:nvSpPr>
          <p:cNvPr id="224" name="Google Shape;224;p23"/>
          <p:cNvSpPr txBox="1"/>
          <p:nvPr>
            <p:ph idx="4294967295" type="sldNum"/>
          </p:nvPr>
        </p:nvSpPr>
        <p:spPr>
          <a:xfrm>
            <a:off x="8229600" y="4828032"/>
            <a:ext cx="500634"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GB" sz="800" u="none" cap="none" strike="noStrike">
                <a:solidFill>
                  <a:schemeClr val="accent5"/>
                </a:solidFill>
                <a:latin typeface="Calibri"/>
                <a:ea typeface="Calibri"/>
                <a:cs typeface="Calibri"/>
                <a:sym typeface="Calibri"/>
              </a:rPr>
              <a:t>‹#›</a:t>
            </a:fld>
            <a:endParaRPr b="0" i="0" sz="800" u="none" cap="none" strike="noStrike">
              <a:solidFill>
                <a:schemeClr val="accent5"/>
              </a:solidFill>
              <a:latin typeface="Calibri"/>
              <a:ea typeface="Calibri"/>
              <a:cs typeface="Calibri"/>
              <a:sym typeface="Calibri"/>
            </a:endParaRPr>
          </a:p>
        </p:txBody>
      </p:sp>
      <p:sp>
        <p:nvSpPr>
          <p:cNvPr id="225" name="Google Shape;225;p23"/>
          <p:cNvSpPr txBox="1"/>
          <p:nvPr/>
        </p:nvSpPr>
        <p:spPr>
          <a:xfrm>
            <a:off x="169261" y="630831"/>
            <a:ext cx="826826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0F5B61"/>
                </a:solidFill>
                <a:latin typeface="Cambria"/>
                <a:ea typeface="Cambria"/>
                <a:cs typeface="Cambria"/>
                <a:sym typeface="Cambria"/>
              </a:rPr>
              <a:t>488,400 original rows in the dataset, e.g..  from first survey (wave1) to the next consecutive survey  (wave2) </a:t>
            </a:r>
            <a:endParaRPr sz="1400">
              <a:solidFill>
                <a:srgbClr val="0F5B61"/>
              </a:solidFill>
              <a:latin typeface="Cambria"/>
              <a:ea typeface="Cambria"/>
              <a:cs typeface="Cambria"/>
              <a:sym typeface="Cambria"/>
            </a:endParaRPr>
          </a:p>
        </p:txBody>
      </p:sp>
      <p:sp>
        <p:nvSpPr>
          <p:cNvPr id="226" name="Google Shape;226;p23"/>
          <p:cNvSpPr txBox="1"/>
          <p:nvPr/>
        </p:nvSpPr>
        <p:spPr>
          <a:xfrm>
            <a:off x="2160506" y="2662884"/>
            <a:ext cx="508778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0F5B61"/>
                </a:solidFill>
                <a:latin typeface="Cambria"/>
                <a:ea typeface="Cambria"/>
                <a:cs typeface="Cambria"/>
                <a:sym typeface="Cambria"/>
              </a:rPr>
              <a:t>This mimics real use: we learn from the past and predict the future.</a:t>
            </a:r>
            <a:endParaRPr sz="1400">
              <a:solidFill>
                <a:srgbClr val="0F5B61"/>
              </a:solidFill>
              <a:latin typeface="Cambria"/>
              <a:ea typeface="Cambria"/>
              <a:cs typeface="Cambria"/>
              <a:sym typeface="Cambria"/>
            </a:endParaRPr>
          </a:p>
        </p:txBody>
      </p:sp>
      <p:sp>
        <p:nvSpPr>
          <p:cNvPr id="227" name="Google Shape;227;p23"/>
          <p:cNvSpPr/>
          <p:nvPr/>
        </p:nvSpPr>
        <p:spPr>
          <a:xfrm>
            <a:off x="4430473" y="2503170"/>
            <a:ext cx="310069" cy="159714"/>
          </a:xfrm>
          <a:prstGeom prst="downArrow">
            <a:avLst>
              <a:gd fmla="val 50000" name="adj1"/>
              <a:gd fmla="val 50000" name="adj2"/>
            </a:avLst>
          </a:prstGeom>
          <a:solidFill>
            <a:srgbClr val="BFBFB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4"/>
          <p:cNvSpPr/>
          <p:nvPr/>
        </p:nvSpPr>
        <p:spPr>
          <a:xfrm>
            <a:off x="412623" y="174879"/>
            <a:ext cx="706374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Risk climbs steeply with age, poor health and inactivity</a:t>
            </a:r>
            <a:endParaRPr b="1" sz="2100">
              <a:solidFill>
                <a:schemeClr val="dk2"/>
              </a:solidFill>
              <a:latin typeface="Cambria"/>
              <a:ea typeface="Cambria"/>
              <a:cs typeface="Cambria"/>
              <a:sym typeface="Cambria"/>
            </a:endParaRPr>
          </a:p>
        </p:txBody>
      </p:sp>
      <p:pic>
        <p:nvPicPr>
          <p:cNvPr id="233" name="Google Shape;233;p24"/>
          <p:cNvPicPr preferRelativeResize="0"/>
          <p:nvPr/>
        </p:nvPicPr>
        <p:blipFill rotWithShape="1">
          <a:blip r:embed="rId3">
            <a:alphaModFix/>
          </a:blip>
          <a:srcRect b="0" l="0" r="0" t="0"/>
          <a:stretch/>
        </p:blipFill>
        <p:spPr>
          <a:xfrm>
            <a:off x="412623" y="894969"/>
            <a:ext cx="2571750" cy="1645920"/>
          </a:xfrm>
          <a:prstGeom prst="rect">
            <a:avLst/>
          </a:prstGeom>
          <a:noFill/>
          <a:ln>
            <a:noFill/>
          </a:ln>
        </p:spPr>
      </p:pic>
      <p:pic>
        <p:nvPicPr>
          <p:cNvPr id="234" name="Google Shape;234;p24"/>
          <p:cNvPicPr preferRelativeResize="0"/>
          <p:nvPr/>
        </p:nvPicPr>
        <p:blipFill rotWithShape="1">
          <a:blip r:embed="rId4">
            <a:alphaModFix/>
          </a:blip>
          <a:srcRect b="0" l="0" r="0" t="0"/>
          <a:stretch/>
        </p:blipFill>
        <p:spPr>
          <a:xfrm>
            <a:off x="3087243" y="894969"/>
            <a:ext cx="2571750" cy="1645920"/>
          </a:xfrm>
          <a:prstGeom prst="rect">
            <a:avLst/>
          </a:prstGeom>
          <a:noFill/>
          <a:ln>
            <a:noFill/>
          </a:ln>
        </p:spPr>
      </p:pic>
      <p:pic>
        <p:nvPicPr>
          <p:cNvPr id="235" name="Google Shape;235;p24"/>
          <p:cNvPicPr preferRelativeResize="0"/>
          <p:nvPr/>
        </p:nvPicPr>
        <p:blipFill rotWithShape="1">
          <a:blip r:embed="rId5">
            <a:alphaModFix/>
          </a:blip>
          <a:srcRect b="0" l="0" r="0" t="0"/>
          <a:stretch/>
        </p:blipFill>
        <p:spPr>
          <a:xfrm>
            <a:off x="412623" y="2609469"/>
            <a:ext cx="2571750" cy="1645920"/>
          </a:xfrm>
          <a:prstGeom prst="rect">
            <a:avLst/>
          </a:prstGeom>
          <a:noFill/>
          <a:ln>
            <a:noFill/>
          </a:ln>
        </p:spPr>
      </p:pic>
      <p:pic>
        <p:nvPicPr>
          <p:cNvPr id="236" name="Google Shape;236;p24"/>
          <p:cNvPicPr preferRelativeResize="0"/>
          <p:nvPr/>
        </p:nvPicPr>
        <p:blipFill rotWithShape="1">
          <a:blip r:embed="rId6">
            <a:alphaModFix/>
          </a:blip>
          <a:srcRect b="0" l="0" r="0" t="0"/>
          <a:stretch/>
        </p:blipFill>
        <p:spPr>
          <a:xfrm>
            <a:off x="3087243" y="2609469"/>
            <a:ext cx="2571750" cy="1645920"/>
          </a:xfrm>
          <a:prstGeom prst="rect">
            <a:avLst/>
          </a:prstGeom>
          <a:noFill/>
          <a:ln>
            <a:noFill/>
          </a:ln>
        </p:spPr>
      </p:pic>
      <p:sp>
        <p:nvSpPr>
          <p:cNvPr id="237" name="Google Shape;237;p24"/>
          <p:cNvSpPr/>
          <p:nvPr/>
        </p:nvSpPr>
        <p:spPr>
          <a:xfrm>
            <a:off x="5899023" y="929259"/>
            <a:ext cx="2832354"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8" name="Google Shape;238;p24"/>
          <p:cNvSpPr txBox="1"/>
          <p:nvPr/>
        </p:nvSpPr>
        <p:spPr>
          <a:xfrm>
            <a:off x="6070473" y="1052703"/>
            <a:ext cx="248945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100"/>
              <a:buFont typeface="Calibri"/>
              <a:buNone/>
            </a:pPr>
            <a:r>
              <a:rPr b="1" lang="en-GB" sz="2100">
                <a:solidFill>
                  <a:schemeClr val="accent2"/>
                </a:solidFill>
                <a:latin typeface="Calibri"/>
                <a:ea typeface="Calibri"/>
                <a:cs typeface="Calibri"/>
                <a:sym typeface="Calibri"/>
              </a:rPr>
              <a:t>≈ 10×</a:t>
            </a:r>
            <a:endParaRPr sz="2100">
              <a:solidFill>
                <a:schemeClr val="dk1"/>
              </a:solidFill>
              <a:latin typeface="Calibri"/>
              <a:ea typeface="Calibri"/>
              <a:cs typeface="Calibri"/>
              <a:sym typeface="Calibri"/>
            </a:endParaRPr>
          </a:p>
        </p:txBody>
      </p:sp>
      <p:sp>
        <p:nvSpPr>
          <p:cNvPr id="239" name="Google Shape;239;p24"/>
          <p:cNvSpPr txBox="1"/>
          <p:nvPr/>
        </p:nvSpPr>
        <p:spPr>
          <a:xfrm>
            <a:off x="6070473" y="1580769"/>
            <a:ext cx="24894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poor vs excellent self-rated health (28% vs 3%): the steepest gradient</a:t>
            </a:r>
            <a:endParaRPr sz="1100">
              <a:solidFill>
                <a:schemeClr val="dk1"/>
              </a:solidFill>
              <a:latin typeface="Calibri"/>
              <a:ea typeface="Calibri"/>
              <a:cs typeface="Calibri"/>
              <a:sym typeface="Calibri"/>
            </a:endParaRPr>
          </a:p>
        </p:txBody>
      </p:sp>
      <p:sp>
        <p:nvSpPr>
          <p:cNvPr id="240" name="Google Shape;240;p24"/>
          <p:cNvSpPr/>
          <p:nvPr/>
        </p:nvSpPr>
        <p:spPr>
          <a:xfrm>
            <a:off x="5899023" y="2060829"/>
            <a:ext cx="2832354"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1" name="Google Shape;241;p24"/>
          <p:cNvSpPr txBox="1"/>
          <p:nvPr/>
        </p:nvSpPr>
        <p:spPr>
          <a:xfrm>
            <a:off x="6070473" y="2184273"/>
            <a:ext cx="248945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100"/>
              <a:buFont typeface="Calibri"/>
              <a:buNone/>
            </a:pPr>
            <a:r>
              <a:rPr b="1" lang="en-GB" sz="2100">
                <a:solidFill>
                  <a:schemeClr val="accent2"/>
                </a:solidFill>
                <a:latin typeface="Calibri"/>
                <a:ea typeface="Calibri"/>
                <a:cs typeface="Calibri"/>
                <a:sym typeface="Calibri"/>
              </a:rPr>
              <a:t>5×</a:t>
            </a:r>
            <a:endParaRPr sz="2100">
              <a:solidFill>
                <a:schemeClr val="dk1"/>
              </a:solidFill>
              <a:latin typeface="Calibri"/>
              <a:ea typeface="Calibri"/>
              <a:cs typeface="Calibri"/>
              <a:sym typeface="Calibri"/>
            </a:endParaRPr>
          </a:p>
        </p:txBody>
      </p:sp>
      <p:sp>
        <p:nvSpPr>
          <p:cNvPr id="242" name="Google Shape;242;p24"/>
          <p:cNvSpPr txBox="1"/>
          <p:nvPr/>
        </p:nvSpPr>
        <p:spPr>
          <a:xfrm>
            <a:off x="6070473" y="2712339"/>
            <a:ext cx="24894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aged 85+ vs 65–69 (25.6% vs 5.1%)</a:t>
            </a:r>
            <a:endParaRPr sz="1100">
              <a:solidFill>
                <a:schemeClr val="dk1"/>
              </a:solidFill>
              <a:latin typeface="Calibri"/>
              <a:ea typeface="Calibri"/>
              <a:cs typeface="Calibri"/>
              <a:sym typeface="Calibri"/>
            </a:endParaRPr>
          </a:p>
        </p:txBody>
      </p:sp>
      <p:sp>
        <p:nvSpPr>
          <p:cNvPr id="243" name="Google Shape;243;p24"/>
          <p:cNvSpPr/>
          <p:nvPr/>
        </p:nvSpPr>
        <p:spPr>
          <a:xfrm>
            <a:off x="5899023" y="3192399"/>
            <a:ext cx="2832354"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4" name="Google Shape;244;p24"/>
          <p:cNvSpPr txBox="1"/>
          <p:nvPr/>
        </p:nvSpPr>
        <p:spPr>
          <a:xfrm>
            <a:off x="6070473" y="3315843"/>
            <a:ext cx="248945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libri"/>
              <a:buNone/>
            </a:pPr>
            <a:r>
              <a:rPr b="1" lang="en-GB" sz="2100">
                <a:solidFill>
                  <a:schemeClr val="accent1"/>
                </a:solidFill>
                <a:latin typeface="Calibri"/>
                <a:ea typeface="Calibri"/>
                <a:cs typeface="Calibri"/>
                <a:sym typeface="Calibri"/>
              </a:rPr>
              <a:t>AUC 0.685</a:t>
            </a:r>
            <a:endParaRPr sz="2100">
              <a:solidFill>
                <a:schemeClr val="dk1"/>
              </a:solidFill>
              <a:latin typeface="Calibri"/>
              <a:ea typeface="Calibri"/>
              <a:cs typeface="Calibri"/>
              <a:sym typeface="Calibri"/>
            </a:endParaRPr>
          </a:p>
        </p:txBody>
      </p:sp>
      <p:sp>
        <p:nvSpPr>
          <p:cNvPr id="245" name="Google Shape;245;p24"/>
          <p:cNvSpPr txBox="1"/>
          <p:nvPr/>
        </p:nvSpPr>
        <p:spPr>
          <a:xfrm>
            <a:off x="6070473" y="3843909"/>
            <a:ext cx="24894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best single variable (self-rated health); age 0.662: one variable is not enough</a:t>
            </a:r>
            <a:endParaRPr sz="1100">
              <a:solidFill>
                <a:schemeClr val="dk1"/>
              </a:solidFill>
              <a:latin typeface="Calibri"/>
              <a:ea typeface="Calibri"/>
              <a:cs typeface="Calibri"/>
              <a:sym typeface="Calibri"/>
            </a:endParaRPr>
          </a:p>
        </p:txBody>
      </p:sp>
      <p:sp>
        <p:nvSpPr>
          <p:cNvPr id="246" name="Google Shape;246;p24"/>
          <p:cNvSpPr txBox="1"/>
          <p:nvPr/>
        </p:nvSpPr>
        <p:spPr>
          <a:xfrm>
            <a:off x="412623" y="4358259"/>
            <a:ext cx="83187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i="1" lang="en-GB" sz="900">
                <a:solidFill>
                  <a:schemeClr val="accent5"/>
                </a:solidFill>
                <a:latin typeface="Calibri"/>
                <a:ea typeface="Calibri"/>
                <a:cs typeface="Calibri"/>
                <a:sym typeface="Calibri"/>
              </a:rPr>
              <a:t>% with a new ADL limitation at the next interview, all 115,155 pairs; same scale (0–30%) in all four charts. Single-variable AUCs: training period. Descriptive, not causal.</a:t>
            </a:r>
            <a:endParaRPr sz="900">
              <a:solidFill>
                <a:schemeClr val="dk1"/>
              </a:solidFill>
              <a:latin typeface="Calibri"/>
              <a:ea typeface="Calibri"/>
              <a:cs typeface="Calibri"/>
              <a:sym typeface="Calibri"/>
            </a:endParaRPr>
          </a:p>
        </p:txBody>
      </p:sp>
      <p:sp>
        <p:nvSpPr>
          <p:cNvPr id="247" name="Google Shape;247;p24"/>
          <p:cNvSpPr/>
          <p:nvPr/>
        </p:nvSpPr>
        <p:spPr>
          <a:xfrm>
            <a:off x="8230743" y="4762881"/>
            <a:ext cx="500634"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chemeClr val="accent5"/>
                </a:solidFill>
                <a:latin typeface="Calibri"/>
                <a:ea typeface="Calibri"/>
                <a:cs typeface="Calibri"/>
                <a:sym typeface="Calibri"/>
              </a:rPr>
              <a:t>‹#›</a:t>
            </a:fld>
            <a:endParaRPr sz="800">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5"/>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rPr>
              <a:t>Feature Selection: Five nested feature sets show what each block adds</a:t>
            </a:r>
            <a:endParaRPr sz="2100"/>
          </a:p>
        </p:txBody>
      </p:sp>
      <p:sp>
        <p:nvSpPr>
          <p:cNvPr id="254" name="Google Shape;254;p25"/>
          <p:cNvSpPr/>
          <p:nvPr/>
        </p:nvSpPr>
        <p:spPr>
          <a:xfrm>
            <a:off x="411480" y="994410"/>
            <a:ext cx="582930" cy="58293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 name="Google Shape;255;p25"/>
          <p:cNvSpPr txBox="1"/>
          <p:nvPr/>
        </p:nvSpPr>
        <p:spPr>
          <a:xfrm>
            <a:off x="411480" y="994410"/>
            <a:ext cx="58293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GB" sz="1800">
                <a:solidFill>
                  <a:schemeClr val="lt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56" name="Google Shape;256;p25"/>
          <p:cNvSpPr txBox="1"/>
          <p:nvPr/>
        </p:nvSpPr>
        <p:spPr>
          <a:xfrm>
            <a:off x="1131570" y="960120"/>
            <a:ext cx="37033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Calibri"/>
              <a:buNone/>
            </a:pPr>
            <a:r>
              <a:rPr b="1" lang="en-GB" sz="1100">
                <a:solidFill>
                  <a:schemeClr val="dk2"/>
                </a:solidFill>
                <a:latin typeface="Calibri"/>
                <a:ea typeface="Calibri"/>
                <a:cs typeface="Calibri"/>
                <a:sym typeface="Calibri"/>
              </a:rPr>
              <a:t>Health core · 5 variables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age, sex, self-rated health, chronic diseases, grip strength</a:t>
            </a:r>
            <a:endParaRPr sz="1200">
              <a:solidFill>
                <a:schemeClr val="dk1"/>
              </a:solidFill>
              <a:latin typeface="Calibri"/>
              <a:ea typeface="Calibri"/>
              <a:cs typeface="Calibri"/>
              <a:sym typeface="Calibri"/>
            </a:endParaRPr>
          </a:p>
        </p:txBody>
      </p:sp>
      <p:sp>
        <p:nvSpPr>
          <p:cNvPr id="257" name="Google Shape;257;p25"/>
          <p:cNvSpPr/>
          <p:nvPr/>
        </p:nvSpPr>
        <p:spPr>
          <a:xfrm>
            <a:off x="411480" y="1714500"/>
            <a:ext cx="582930" cy="58293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8" name="Google Shape;258;p25"/>
          <p:cNvSpPr txBox="1"/>
          <p:nvPr/>
        </p:nvSpPr>
        <p:spPr>
          <a:xfrm>
            <a:off x="411480" y="1714500"/>
            <a:ext cx="58293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GB" sz="1800">
                <a:solidFill>
                  <a:schemeClr val="lt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259" name="Google Shape;259;p25"/>
          <p:cNvSpPr txBox="1"/>
          <p:nvPr/>
        </p:nvSpPr>
        <p:spPr>
          <a:xfrm>
            <a:off x="1131570" y="1680210"/>
            <a:ext cx="37033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Calibri"/>
              <a:buNone/>
            </a:pPr>
            <a:r>
              <a:rPr b="1" lang="en-GB" sz="1100">
                <a:solidFill>
                  <a:schemeClr val="dk2"/>
                </a:solidFill>
                <a:latin typeface="Calibri"/>
                <a:ea typeface="Calibri"/>
                <a:cs typeface="Calibri"/>
                <a:sym typeface="Calibri"/>
              </a:rPr>
              <a:t>Original project · 9 variables (reference)</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 depression (EURO-D), BMI, income, immediate recall</a:t>
            </a:r>
            <a:endParaRPr sz="1200">
              <a:solidFill>
                <a:schemeClr val="dk1"/>
              </a:solidFill>
              <a:latin typeface="Calibri"/>
              <a:ea typeface="Calibri"/>
              <a:cs typeface="Calibri"/>
              <a:sym typeface="Calibri"/>
            </a:endParaRPr>
          </a:p>
        </p:txBody>
      </p:sp>
      <p:sp>
        <p:nvSpPr>
          <p:cNvPr id="260" name="Google Shape;260;p25"/>
          <p:cNvSpPr/>
          <p:nvPr/>
        </p:nvSpPr>
        <p:spPr>
          <a:xfrm>
            <a:off x="411480" y="2434590"/>
            <a:ext cx="582930" cy="58293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1" name="Google Shape;261;p25"/>
          <p:cNvSpPr txBox="1"/>
          <p:nvPr/>
        </p:nvSpPr>
        <p:spPr>
          <a:xfrm>
            <a:off x="411480" y="2434590"/>
            <a:ext cx="58293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GB" sz="1800">
                <a:solidFill>
                  <a:schemeClr val="lt1"/>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262" name="Google Shape;262;p25"/>
          <p:cNvSpPr txBox="1"/>
          <p:nvPr/>
        </p:nvSpPr>
        <p:spPr>
          <a:xfrm>
            <a:off x="1131570" y="2400300"/>
            <a:ext cx="37033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Calibri"/>
              <a:buNone/>
            </a:pPr>
            <a:r>
              <a:rPr b="1" lang="en-GB" sz="1100">
                <a:solidFill>
                  <a:schemeClr val="dk2"/>
                </a:solidFill>
                <a:latin typeface="Calibri"/>
                <a:ea typeface="Calibri"/>
                <a:cs typeface="Calibri"/>
                <a:sym typeface="Calibri"/>
              </a:rPr>
              <a:t>+ Social and lifestyle context · 20 variables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 quality of life, delayed recall, activity, help, household, education, doctor visits, hospital stay, country</a:t>
            </a:r>
            <a:endParaRPr sz="1200">
              <a:solidFill>
                <a:schemeClr val="dk1"/>
              </a:solidFill>
              <a:latin typeface="Calibri"/>
              <a:ea typeface="Calibri"/>
              <a:cs typeface="Calibri"/>
              <a:sym typeface="Calibri"/>
            </a:endParaRPr>
          </a:p>
        </p:txBody>
      </p:sp>
      <p:sp>
        <p:nvSpPr>
          <p:cNvPr id="263" name="Google Shape;263;p25"/>
          <p:cNvSpPr/>
          <p:nvPr/>
        </p:nvSpPr>
        <p:spPr>
          <a:xfrm>
            <a:off x="411480" y="3154680"/>
            <a:ext cx="582930" cy="58293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4" name="Google Shape;264;p25"/>
          <p:cNvSpPr txBox="1"/>
          <p:nvPr/>
        </p:nvSpPr>
        <p:spPr>
          <a:xfrm>
            <a:off x="411480" y="3154680"/>
            <a:ext cx="58293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lang="en-GB" sz="1800">
                <a:solidFill>
                  <a:schemeClr val="lt1"/>
                </a:solidFill>
                <a:latin typeface="Calibri"/>
                <a:ea typeface="Calibri"/>
                <a:cs typeface="Calibri"/>
                <a:sym typeface="Calibri"/>
              </a:rPr>
              <a:t>D</a:t>
            </a:r>
            <a:endParaRPr sz="1800">
              <a:solidFill>
                <a:schemeClr val="dk1"/>
              </a:solidFill>
              <a:latin typeface="Calibri"/>
              <a:ea typeface="Calibri"/>
              <a:cs typeface="Calibri"/>
              <a:sym typeface="Calibri"/>
            </a:endParaRPr>
          </a:p>
        </p:txBody>
      </p:sp>
      <p:sp>
        <p:nvSpPr>
          <p:cNvPr id="265" name="Google Shape;265;p25"/>
          <p:cNvSpPr txBox="1"/>
          <p:nvPr/>
        </p:nvSpPr>
        <p:spPr>
          <a:xfrm>
            <a:off x="1131570" y="3120390"/>
            <a:ext cx="37033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Calibri"/>
              <a:buNone/>
            </a:pPr>
            <a:r>
              <a:rPr b="1" lang="en-GB" sz="1100">
                <a:solidFill>
                  <a:schemeClr val="dk2"/>
                </a:solidFill>
                <a:latin typeface="Calibri"/>
                <a:ea typeface="Calibri"/>
                <a:cs typeface="Calibri"/>
                <a:sym typeface="Calibri"/>
              </a:rPr>
              <a:t>+ Early functional difficulties · 23 variables (final)</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 mobility, large-muscle and IADL difficulty indices</a:t>
            </a:r>
            <a:endParaRPr sz="1200">
              <a:solidFill>
                <a:schemeClr val="dk1"/>
              </a:solidFill>
              <a:latin typeface="Calibri"/>
              <a:ea typeface="Calibri"/>
              <a:cs typeface="Calibri"/>
              <a:sym typeface="Calibri"/>
            </a:endParaRPr>
          </a:p>
        </p:txBody>
      </p:sp>
      <p:sp>
        <p:nvSpPr>
          <p:cNvPr id="266" name="Google Shape;266;p25"/>
          <p:cNvSpPr/>
          <p:nvPr/>
        </p:nvSpPr>
        <p:spPr>
          <a:xfrm>
            <a:off x="411480" y="3874770"/>
            <a:ext cx="582930" cy="58293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7" name="Google Shape;267;p25"/>
          <p:cNvSpPr txBox="1"/>
          <p:nvPr/>
        </p:nvSpPr>
        <p:spPr>
          <a:xfrm>
            <a:off x="411480" y="3874770"/>
            <a:ext cx="582930" cy="5829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lang="en-GB" sz="1200">
                <a:solidFill>
                  <a:schemeClr val="lt1"/>
                </a:solidFill>
                <a:latin typeface="Calibri"/>
                <a:ea typeface="Calibri"/>
                <a:cs typeface="Calibri"/>
                <a:sym typeface="Calibri"/>
              </a:rPr>
              <a:t>D+T</a:t>
            </a:r>
            <a:endParaRPr sz="1200">
              <a:solidFill>
                <a:schemeClr val="dk1"/>
              </a:solidFill>
              <a:latin typeface="Calibri"/>
              <a:ea typeface="Calibri"/>
              <a:cs typeface="Calibri"/>
              <a:sym typeface="Calibri"/>
            </a:endParaRPr>
          </a:p>
        </p:txBody>
      </p:sp>
      <p:sp>
        <p:nvSpPr>
          <p:cNvPr id="268" name="Google Shape;268;p25"/>
          <p:cNvSpPr txBox="1"/>
          <p:nvPr/>
        </p:nvSpPr>
        <p:spPr>
          <a:xfrm>
            <a:off x="1131570" y="3840480"/>
            <a:ext cx="370332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100"/>
              <a:buFont typeface="Calibri"/>
              <a:buNone/>
            </a:pPr>
            <a:r>
              <a:rPr b="1" lang="en-GB" sz="1100">
                <a:solidFill>
                  <a:schemeClr val="dk2"/>
                </a:solidFill>
                <a:latin typeface="Calibri"/>
                <a:ea typeface="Calibri"/>
                <a:cs typeface="Calibri"/>
                <a:sym typeface="Calibri"/>
              </a:rPr>
              <a:t>+ Trend · 31 variables</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 change in 8 variables since the previous wave</a:t>
            </a:r>
            <a:endParaRPr sz="1200">
              <a:solidFill>
                <a:schemeClr val="dk1"/>
              </a:solidFill>
              <a:latin typeface="Calibri"/>
              <a:ea typeface="Calibri"/>
              <a:cs typeface="Calibri"/>
              <a:sym typeface="Calibri"/>
            </a:endParaRPr>
          </a:p>
        </p:txBody>
      </p:sp>
      <p:pic>
        <p:nvPicPr>
          <p:cNvPr id="269" name="Google Shape;269;p25"/>
          <p:cNvPicPr preferRelativeResize="0"/>
          <p:nvPr/>
        </p:nvPicPr>
        <p:blipFill rotWithShape="1">
          <a:blip r:embed="rId3">
            <a:alphaModFix/>
          </a:blip>
          <a:srcRect b="0" l="0" r="0" t="0"/>
          <a:stretch/>
        </p:blipFill>
        <p:spPr>
          <a:xfrm>
            <a:off x="5006340" y="994410"/>
            <a:ext cx="3723894" cy="3257550"/>
          </a:xfrm>
          <a:prstGeom prst="rect">
            <a:avLst/>
          </a:prstGeom>
          <a:noFill/>
          <a:ln>
            <a:noFill/>
          </a:ln>
        </p:spPr>
      </p:pic>
      <p:sp>
        <p:nvSpPr>
          <p:cNvPr id="270" name="Google Shape;270;p25"/>
          <p:cNvSpPr txBox="1"/>
          <p:nvPr/>
        </p:nvSpPr>
        <p:spPr>
          <a:xfrm>
            <a:off x="5006340" y="4286250"/>
            <a:ext cx="3723894"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i="1" lang="en-GB" sz="900">
                <a:solidFill>
                  <a:schemeClr val="accent5"/>
                </a:solidFill>
                <a:latin typeface="Calibri"/>
                <a:ea typeface="Calibri"/>
                <a:cs typeface="Calibri"/>
                <a:sym typeface="Calibri"/>
              </a:rPr>
              <a:t>Axis starts at 0.70; same model and test period in every bar. Set E (12 variables chosen only by single-variable AUC): 0.750, no better than B.</a:t>
            </a:r>
            <a:endParaRPr sz="900">
              <a:solidFill>
                <a:schemeClr val="dk1"/>
              </a:solidFill>
              <a:latin typeface="Calibri"/>
              <a:ea typeface="Calibri"/>
              <a:cs typeface="Calibri"/>
              <a:sym typeface="Calibri"/>
            </a:endParaRPr>
          </a:p>
        </p:txBody>
      </p:sp>
      <p:sp>
        <p:nvSpPr>
          <p:cNvPr id="271" name="Google Shape;271;p25"/>
          <p:cNvSpPr txBox="1"/>
          <p:nvPr>
            <p:ph idx="4294967295" type="sldNum"/>
          </p:nvPr>
        </p:nvSpPr>
        <p:spPr>
          <a:xfrm>
            <a:off x="8229600" y="4828032"/>
            <a:ext cx="500634"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chemeClr val="accent5"/>
                </a:solidFill>
                <a:latin typeface="Calibri"/>
                <a:ea typeface="Calibri"/>
                <a:cs typeface="Calibri"/>
                <a:sym typeface="Calibri"/>
              </a:rPr>
              <a:t>‹#›</a:t>
            </a:fld>
            <a:endParaRPr sz="800">
              <a:solidFill>
                <a:schemeClr val="accent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6"/>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rPr>
              <a:t>Fe</a:t>
            </a:r>
            <a:r>
              <a:rPr lang="en-GB"/>
              <a:t>a</a:t>
            </a:r>
            <a:r>
              <a:rPr b="1" lang="en-GB" sz="2100">
                <a:solidFill>
                  <a:schemeClr val="dk2"/>
                </a:solidFill>
              </a:rPr>
              <a:t>ture Selection: Mild functional difficulties are the strongest early warning</a:t>
            </a:r>
            <a:endParaRPr sz="2100"/>
          </a:p>
        </p:txBody>
      </p:sp>
      <p:pic>
        <p:nvPicPr>
          <p:cNvPr id="278" name="Google Shape;278;p26"/>
          <p:cNvPicPr preferRelativeResize="0"/>
          <p:nvPr/>
        </p:nvPicPr>
        <p:blipFill rotWithShape="1">
          <a:blip r:embed="rId3">
            <a:alphaModFix/>
          </a:blip>
          <a:srcRect b="0" l="0" r="0" t="0"/>
          <a:stretch/>
        </p:blipFill>
        <p:spPr>
          <a:xfrm>
            <a:off x="411480" y="994410"/>
            <a:ext cx="5212080" cy="3326130"/>
          </a:xfrm>
          <a:prstGeom prst="rect">
            <a:avLst/>
          </a:prstGeom>
          <a:noFill/>
          <a:ln>
            <a:noFill/>
          </a:ln>
        </p:spPr>
      </p:pic>
      <p:sp>
        <p:nvSpPr>
          <p:cNvPr id="279" name="Google Shape;279;p26"/>
          <p:cNvSpPr/>
          <p:nvPr/>
        </p:nvSpPr>
        <p:spPr>
          <a:xfrm>
            <a:off x="5897880" y="994410"/>
            <a:ext cx="2832354"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p26"/>
          <p:cNvSpPr txBox="1"/>
          <p:nvPr/>
        </p:nvSpPr>
        <p:spPr>
          <a:xfrm>
            <a:off x="6069330" y="1117854"/>
            <a:ext cx="248945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100"/>
              <a:buFont typeface="Calibri"/>
              <a:buNone/>
            </a:pPr>
            <a:r>
              <a:rPr b="1" lang="en-GB" sz="2100">
                <a:solidFill>
                  <a:schemeClr val="accent2"/>
                </a:solidFill>
                <a:latin typeface="Calibri"/>
                <a:ea typeface="Calibri"/>
                <a:cs typeface="Calibri"/>
                <a:sym typeface="Calibri"/>
              </a:rPr>
              <a:t>+0.021 AUC</a:t>
            </a:r>
            <a:endParaRPr sz="2100">
              <a:solidFill>
                <a:schemeClr val="dk1"/>
              </a:solidFill>
              <a:latin typeface="Calibri"/>
              <a:ea typeface="Calibri"/>
              <a:cs typeface="Calibri"/>
              <a:sym typeface="Calibri"/>
            </a:endParaRPr>
          </a:p>
        </p:txBody>
      </p:sp>
      <p:sp>
        <p:nvSpPr>
          <p:cNvPr id="281" name="Google Shape;281;p26"/>
          <p:cNvSpPr txBox="1"/>
          <p:nvPr/>
        </p:nvSpPr>
        <p:spPr>
          <a:xfrm>
            <a:off x="6069330" y="1645920"/>
            <a:ext cx="24894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from the three indices alone (LR set C 0.763 → set D 0.784)</a:t>
            </a:r>
            <a:endParaRPr sz="1100">
              <a:solidFill>
                <a:schemeClr val="dk1"/>
              </a:solidFill>
              <a:latin typeface="Calibri"/>
              <a:ea typeface="Calibri"/>
              <a:cs typeface="Calibri"/>
              <a:sym typeface="Calibri"/>
            </a:endParaRPr>
          </a:p>
        </p:txBody>
      </p:sp>
      <p:sp>
        <p:nvSpPr>
          <p:cNvPr id="282" name="Google Shape;282;p26"/>
          <p:cNvSpPr/>
          <p:nvPr/>
        </p:nvSpPr>
        <p:spPr>
          <a:xfrm>
            <a:off x="5897880" y="2125980"/>
            <a:ext cx="2832354"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3" name="Google Shape;283;p26"/>
          <p:cNvSpPr txBox="1"/>
          <p:nvPr/>
        </p:nvSpPr>
        <p:spPr>
          <a:xfrm>
            <a:off x="6069330" y="2249424"/>
            <a:ext cx="248945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libri"/>
              <a:buNone/>
            </a:pPr>
            <a:r>
              <a:rPr b="1" lang="en-GB" sz="2100">
                <a:solidFill>
                  <a:schemeClr val="accent1"/>
                </a:solidFill>
                <a:latin typeface="Calibri"/>
                <a:ea typeface="Calibri"/>
                <a:cs typeface="Calibri"/>
                <a:sym typeface="Calibri"/>
              </a:rPr>
              <a:t>0.750 → 0.784</a:t>
            </a:r>
            <a:endParaRPr sz="2100">
              <a:solidFill>
                <a:schemeClr val="dk1"/>
              </a:solidFill>
              <a:latin typeface="Calibri"/>
              <a:ea typeface="Calibri"/>
              <a:cs typeface="Calibri"/>
              <a:sym typeface="Calibri"/>
            </a:endParaRPr>
          </a:p>
        </p:txBody>
      </p:sp>
      <p:sp>
        <p:nvSpPr>
          <p:cNvPr id="284" name="Google Shape;284;p26"/>
          <p:cNvSpPr txBox="1"/>
          <p:nvPr/>
        </p:nvSpPr>
        <p:spPr>
          <a:xfrm>
            <a:off x="6069330" y="2777490"/>
            <a:ext cx="24894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vs the original 9 variables: +0.033 (95% CI +0.029 to +0.037)</a:t>
            </a:r>
            <a:endParaRPr sz="1100">
              <a:solidFill>
                <a:schemeClr val="dk1"/>
              </a:solidFill>
              <a:latin typeface="Calibri"/>
              <a:ea typeface="Calibri"/>
              <a:cs typeface="Calibri"/>
              <a:sym typeface="Calibri"/>
            </a:endParaRPr>
          </a:p>
        </p:txBody>
      </p:sp>
      <p:sp>
        <p:nvSpPr>
          <p:cNvPr id="285" name="Google Shape;285;p26"/>
          <p:cNvSpPr/>
          <p:nvPr/>
        </p:nvSpPr>
        <p:spPr>
          <a:xfrm>
            <a:off x="5897880" y="3257550"/>
            <a:ext cx="2832354"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6" name="Google Shape;286;p26"/>
          <p:cNvSpPr txBox="1"/>
          <p:nvPr/>
        </p:nvSpPr>
        <p:spPr>
          <a:xfrm>
            <a:off x="6069330" y="3380994"/>
            <a:ext cx="2489454"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libri"/>
              <a:buNone/>
            </a:pPr>
            <a:r>
              <a:rPr b="1" lang="en-GB" sz="2100">
                <a:solidFill>
                  <a:schemeClr val="accent1"/>
                </a:solidFill>
                <a:latin typeface="Calibri"/>
                <a:ea typeface="Calibri"/>
                <a:cs typeface="Calibri"/>
                <a:sym typeface="Calibri"/>
              </a:rPr>
              <a:t>Not leakage</a:t>
            </a:r>
            <a:endParaRPr sz="2100">
              <a:solidFill>
                <a:schemeClr val="dk1"/>
              </a:solidFill>
              <a:latin typeface="Calibri"/>
              <a:ea typeface="Calibri"/>
              <a:cs typeface="Calibri"/>
              <a:sym typeface="Calibri"/>
            </a:endParaRPr>
          </a:p>
        </p:txBody>
      </p:sp>
      <p:sp>
        <p:nvSpPr>
          <p:cNvPr id="287" name="Google Shape;287;p26"/>
          <p:cNvSpPr txBox="1"/>
          <p:nvPr/>
        </p:nvSpPr>
        <p:spPr>
          <a:xfrm>
            <a:off x="6069330" y="3909060"/>
            <a:ext cx="2489454"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measured at baseline, when everyone still has ADL = 0</a:t>
            </a:r>
            <a:endParaRPr sz="1100">
              <a:solidFill>
                <a:schemeClr val="dk1"/>
              </a:solidFill>
              <a:latin typeface="Calibri"/>
              <a:ea typeface="Calibri"/>
              <a:cs typeface="Calibri"/>
              <a:sym typeface="Calibri"/>
            </a:endParaRPr>
          </a:p>
        </p:txBody>
      </p:sp>
      <p:sp>
        <p:nvSpPr>
          <p:cNvPr id="288" name="Google Shape;288;p26"/>
          <p:cNvSpPr txBox="1"/>
          <p:nvPr/>
        </p:nvSpPr>
        <p:spPr>
          <a:xfrm>
            <a:off x="411480" y="4375404"/>
            <a:ext cx="8318754"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i="1" lang="en-GB" sz="900">
                <a:solidFill>
                  <a:schemeClr val="accent5"/>
                </a:solidFill>
                <a:latin typeface="Calibri"/>
                <a:ea typeface="Calibri"/>
                <a:cs typeface="Calibri"/>
                <a:sym typeface="Calibri"/>
              </a:rPr>
              <a:t>Development-period pairs. Mobility: walking 100 m or across a room, climbing stairs. Large muscle: sitting 2 h, rising from a chair, stooping, pushing objects. IADL (e.g. shopping, managing money) is rarer but steeper: 9.0% → 29.4% with one difficulty.</a:t>
            </a:r>
            <a:endParaRPr sz="900">
              <a:solidFill>
                <a:schemeClr val="dk1"/>
              </a:solidFill>
              <a:latin typeface="Calibri"/>
              <a:ea typeface="Calibri"/>
              <a:cs typeface="Calibri"/>
              <a:sym typeface="Calibri"/>
            </a:endParaRPr>
          </a:p>
        </p:txBody>
      </p:sp>
      <p:sp>
        <p:nvSpPr>
          <p:cNvPr id="289" name="Google Shape;289;p26"/>
          <p:cNvSpPr txBox="1"/>
          <p:nvPr>
            <p:ph idx="4294967295" type="sldNum"/>
          </p:nvPr>
        </p:nvSpPr>
        <p:spPr>
          <a:xfrm>
            <a:off x="8229600" y="4828032"/>
            <a:ext cx="500634"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chemeClr val="accent5"/>
                </a:solidFill>
                <a:latin typeface="Calibri"/>
                <a:ea typeface="Calibri"/>
                <a:cs typeface="Calibri"/>
                <a:sym typeface="Calibri"/>
              </a:rPr>
              <a:t>‹#›</a:t>
            </a:fld>
            <a:endParaRPr sz="800">
              <a:solidFill>
                <a:schemeClr val="accent5"/>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27"/>
          <p:cNvPicPr preferRelativeResize="0"/>
          <p:nvPr/>
        </p:nvPicPr>
        <p:blipFill rotWithShape="1">
          <a:blip r:embed="rId3">
            <a:alphaModFix/>
          </a:blip>
          <a:srcRect b="0" l="0" r="0" t="0"/>
          <a:stretch/>
        </p:blipFill>
        <p:spPr>
          <a:xfrm>
            <a:off x="2645918" y="853597"/>
            <a:ext cx="5143511" cy="4114808"/>
          </a:xfrm>
          <a:prstGeom prst="rect">
            <a:avLst/>
          </a:prstGeom>
          <a:noFill/>
          <a:ln>
            <a:noFill/>
          </a:ln>
        </p:spPr>
      </p:pic>
      <p:sp>
        <p:nvSpPr>
          <p:cNvPr id="295" name="Google Shape;295;p27"/>
          <p:cNvSpPr txBox="1"/>
          <p:nvPr/>
        </p:nvSpPr>
        <p:spPr>
          <a:xfrm>
            <a:off x="408561" y="255232"/>
            <a:ext cx="5779804" cy="4154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300">
                <a:solidFill>
                  <a:schemeClr val="dk2"/>
                </a:solidFill>
                <a:latin typeface="Cambria"/>
                <a:ea typeface="Cambria"/>
                <a:cs typeface="Cambria"/>
                <a:sym typeface="Cambria"/>
              </a:rPr>
              <a:t>PCA：predictors are too weakly correlated</a:t>
            </a:r>
            <a:endParaRPr sz="2300">
              <a:solidFill>
                <a:schemeClr val="dk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8"/>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rPr>
              <a:t>PCA does not help</a:t>
            </a:r>
            <a:endParaRPr sz="2100"/>
          </a:p>
        </p:txBody>
      </p:sp>
      <p:pic>
        <p:nvPicPr>
          <p:cNvPr descr="Scree plot and validation AUC vs k" id="302" name="Google Shape;302;p28"/>
          <p:cNvPicPr preferRelativeResize="0"/>
          <p:nvPr/>
        </p:nvPicPr>
        <p:blipFill rotWithShape="1">
          <a:blip r:embed="rId3">
            <a:alphaModFix/>
          </a:blip>
          <a:srcRect b="0" l="0" r="0" t="0"/>
          <a:stretch/>
        </p:blipFill>
        <p:spPr>
          <a:xfrm>
            <a:off x="411480" y="1119007"/>
            <a:ext cx="5623560" cy="2013947"/>
          </a:xfrm>
          <a:prstGeom prst="rect">
            <a:avLst/>
          </a:prstGeom>
          <a:noFill/>
          <a:ln>
            <a:noFill/>
          </a:ln>
        </p:spPr>
      </p:pic>
      <p:sp>
        <p:nvSpPr>
          <p:cNvPr id="303" name="Google Shape;303;p28"/>
          <p:cNvSpPr txBox="1"/>
          <p:nvPr/>
        </p:nvSpPr>
        <p:spPr>
          <a:xfrm>
            <a:off x="411480" y="3291840"/>
            <a:ext cx="56235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900"/>
              <a:buFont typeface="Calibri"/>
              <a:buNone/>
            </a:pPr>
            <a:r>
              <a:rPr i="1" lang="en-GB" sz="900">
                <a:solidFill>
                  <a:schemeClr val="accent5"/>
                </a:solidFill>
                <a:latin typeface="Calibri"/>
                <a:ea typeface="Calibri"/>
                <a:cs typeface="Calibri"/>
                <a:sym typeface="Calibri"/>
              </a:rPr>
              <a:t>Set B, 8 standardised numeric predictors. Right: validation AUC of PCA + LR against k; dashed line = LR without PCA.</a:t>
            </a:r>
            <a:endParaRPr sz="900">
              <a:solidFill>
                <a:schemeClr val="dk1"/>
              </a:solidFill>
              <a:latin typeface="Calibri"/>
              <a:ea typeface="Calibri"/>
              <a:cs typeface="Calibri"/>
              <a:sym typeface="Calibri"/>
            </a:endParaRPr>
          </a:p>
        </p:txBody>
      </p:sp>
      <p:sp>
        <p:nvSpPr>
          <p:cNvPr id="304" name="Google Shape;304;p28"/>
          <p:cNvSpPr/>
          <p:nvPr/>
        </p:nvSpPr>
        <p:spPr>
          <a:xfrm>
            <a:off x="411480" y="3634740"/>
            <a:ext cx="1783080"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28"/>
          <p:cNvSpPr txBox="1"/>
          <p:nvPr/>
        </p:nvSpPr>
        <p:spPr>
          <a:xfrm>
            <a:off x="582930" y="3758184"/>
            <a:ext cx="144018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libri"/>
              <a:buNone/>
            </a:pPr>
            <a:r>
              <a:rPr b="1" lang="en-GB" sz="2100">
                <a:solidFill>
                  <a:schemeClr val="accent1"/>
                </a:solidFill>
                <a:latin typeface="Calibri"/>
                <a:ea typeface="Calibri"/>
                <a:cs typeface="Calibri"/>
                <a:sym typeface="Calibri"/>
              </a:rPr>
              <a:t>2 of 8</a:t>
            </a:r>
            <a:endParaRPr sz="2100">
              <a:solidFill>
                <a:schemeClr val="dk1"/>
              </a:solidFill>
              <a:latin typeface="Calibri"/>
              <a:ea typeface="Calibri"/>
              <a:cs typeface="Calibri"/>
              <a:sym typeface="Calibri"/>
            </a:endParaRPr>
          </a:p>
        </p:txBody>
      </p:sp>
      <p:sp>
        <p:nvSpPr>
          <p:cNvPr id="306" name="Google Shape;306;p28"/>
          <p:cNvSpPr txBox="1"/>
          <p:nvPr/>
        </p:nvSpPr>
        <p:spPr>
          <a:xfrm>
            <a:off x="582930" y="4286250"/>
            <a:ext cx="14401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eigenvalues above 1 (Kaiser)</a:t>
            </a:r>
            <a:endParaRPr sz="1000">
              <a:solidFill>
                <a:schemeClr val="dk1"/>
              </a:solidFill>
              <a:latin typeface="Calibri"/>
              <a:ea typeface="Calibri"/>
              <a:cs typeface="Calibri"/>
              <a:sym typeface="Calibri"/>
            </a:endParaRPr>
          </a:p>
        </p:txBody>
      </p:sp>
      <p:sp>
        <p:nvSpPr>
          <p:cNvPr id="307" name="Google Shape;307;p28"/>
          <p:cNvSpPr/>
          <p:nvPr/>
        </p:nvSpPr>
        <p:spPr>
          <a:xfrm>
            <a:off x="2331720" y="3634740"/>
            <a:ext cx="1783080"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 name="Google Shape;308;p28"/>
          <p:cNvSpPr txBox="1"/>
          <p:nvPr/>
        </p:nvSpPr>
        <p:spPr>
          <a:xfrm>
            <a:off x="2503170" y="3758184"/>
            <a:ext cx="144018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libri"/>
              <a:buNone/>
            </a:pPr>
            <a:r>
              <a:rPr b="1" lang="en-GB" sz="2100">
                <a:solidFill>
                  <a:schemeClr val="accent1"/>
                </a:solidFill>
                <a:latin typeface="Calibri"/>
                <a:ea typeface="Calibri"/>
                <a:cs typeface="Calibri"/>
                <a:sym typeface="Calibri"/>
              </a:rPr>
              <a:t>7 of 8</a:t>
            </a:r>
            <a:endParaRPr sz="2100">
              <a:solidFill>
                <a:schemeClr val="dk1"/>
              </a:solidFill>
              <a:latin typeface="Calibri"/>
              <a:ea typeface="Calibri"/>
              <a:cs typeface="Calibri"/>
              <a:sym typeface="Calibri"/>
            </a:endParaRPr>
          </a:p>
        </p:txBody>
      </p:sp>
      <p:sp>
        <p:nvSpPr>
          <p:cNvPr id="309" name="Google Shape;309;p28"/>
          <p:cNvSpPr txBox="1"/>
          <p:nvPr/>
        </p:nvSpPr>
        <p:spPr>
          <a:xfrm>
            <a:off x="2503170" y="4286250"/>
            <a:ext cx="14401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components needed for 90% of the variance</a:t>
            </a:r>
            <a:endParaRPr sz="1000">
              <a:solidFill>
                <a:schemeClr val="dk1"/>
              </a:solidFill>
              <a:latin typeface="Calibri"/>
              <a:ea typeface="Calibri"/>
              <a:cs typeface="Calibri"/>
              <a:sym typeface="Calibri"/>
            </a:endParaRPr>
          </a:p>
        </p:txBody>
      </p:sp>
      <p:sp>
        <p:nvSpPr>
          <p:cNvPr id="310" name="Google Shape;310;p28"/>
          <p:cNvSpPr/>
          <p:nvPr/>
        </p:nvSpPr>
        <p:spPr>
          <a:xfrm>
            <a:off x="4251960" y="3634740"/>
            <a:ext cx="1783080" cy="1062990"/>
          </a:xfrm>
          <a:prstGeom prst="roundRect">
            <a:avLst>
              <a:gd fmla="val 7742"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1" name="Google Shape;311;p28"/>
          <p:cNvSpPr txBox="1"/>
          <p:nvPr/>
        </p:nvSpPr>
        <p:spPr>
          <a:xfrm>
            <a:off x="4423410" y="3758184"/>
            <a:ext cx="144018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libri"/>
              <a:buNone/>
            </a:pPr>
            <a:r>
              <a:rPr b="1" lang="en-GB" sz="2100">
                <a:solidFill>
                  <a:schemeClr val="accent1"/>
                </a:solidFill>
                <a:latin typeface="Calibri"/>
                <a:ea typeface="Calibri"/>
                <a:cs typeface="Calibri"/>
                <a:sym typeface="Calibri"/>
              </a:rPr>
              <a:t>k = 8</a:t>
            </a:r>
            <a:endParaRPr sz="2100">
              <a:solidFill>
                <a:schemeClr val="dk1"/>
              </a:solidFill>
              <a:latin typeface="Calibri"/>
              <a:ea typeface="Calibri"/>
              <a:cs typeface="Calibri"/>
              <a:sym typeface="Calibri"/>
            </a:endParaRPr>
          </a:p>
        </p:txBody>
      </p:sp>
      <p:sp>
        <p:nvSpPr>
          <p:cNvPr id="312" name="Google Shape;312;p28"/>
          <p:cNvSpPr txBox="1"/>
          <p:nvPr/>
        </p:nvSpPr>
        <p:spPr>
          <a:xfrm>
            <a:off x="4423410" y="4286250"/>
            <a:ext cx="144018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best k on validation: no compression</a:t>
            </a:r>
            <a:endParaRPr sz="1000">
              <a:solidFill>
                <a:schemeClr val="dk1"/>
              </a:solidFill>
              <a:latin typeface="Calibri"/>
              <a:ea typeface="Calibri"/>
              <a:cs typeface="Calibri"/>
              <a:sym typeface="Calibri"/>
            </a:endParaRPr>
          </a:p>
        </p:txBody>
      </p:sp>
      <p:sp>
        <p:nvSpPr>
          <p:cNvPr id="313" name="Google Shape;313;p28"/>
          <p:cNvSpPr/>
          <p:nvPr/>
        </p:nvSpPr>
        <p:spPr>
          <a:xfrm>
            <a:off x="6240780" y="994410"/>
            <a:ext cx="2489454" cy="3703320"/>
          </a:xfrm>
          <a:prstGeom prst="roundRect">
            <a:avLst>
              <a:gd fmla="val 3306" name="adj"/>
            </a:avLst>
          </a:prstGeom>
          <a:solidFill>
            <a:schemeClr val="lt2"/>
          </a:solidFill>
          <a:ln cap="flat" cmpd="sng" w="9525">
            <a:solidFill>
              <a:schemeClr val="l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 name="Google Shape;314;p28"/>
          <p:cNvSpPr txBox="1"/>
          <p:nvPr/>
        </p:nvSpPr>
        <p:spPr>
          <a:xfrm>
            <a:off x="6377940" y="1097280"/>
            <a:ext cx="222885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lang="en-GB" sz="1400">
                <a:solidFill>
                  <a:schemeClr val="dk2"/>
                </a:solidFill>
                <a:latin typeface="Calibri"/>
                <a:ea typeface="Calibri"/>
                <a:cs typeface="Calibri"/>
                <a:sym typeface="Calibri"/>
              </a:rPr>
              <a:t>Same on every feature set</a:t>
            </a:r>
            <a:endParaRPr sz="1400">
              <a:solidFill>
                <a:schemeClr val="dk1"/>
              </a:solidFill>
              <a:latin typeface="Calibri"/>
              <a:ea typeface="Calibri"/>
              <a:cs typeface="Calibri"/>
              <a:sym typeface="Calibri"/>
            </a:endParaRPr>
          </a:p>
        </p:txBody>
      </p:sp>
      <p:sp>
        <p:nvSpPr>
          <p:cNvPr id="315" name="Google Shape;315;p28"/>
          <p:cNvSpPr txBox="1"/>
          <p:nvPr/>
        </p:nvSpPr>
        <p:spPr>
          <a:xfrm>
            <a:off x="6377940" y="1508760"/>
            <a:ext cx="2228850" cy="3086100"/>
          </a:xfrm>
          <a:prstGeom prst="rect">
            <a:avLst/>
          </a:prstGeom>
          <a:noFill/>
          <a:ln>
            <a:noFill/>
          </a:ln>
        </p:spPr>
        <p:txBody>
          <a:bodyPr anchorCtr="0" anchor="t" bIns="0" lIns="0" spcFirstLastPara="1" rIns="0" wrap="square" tIns="0">
            <a:noAutofit/>
          </a:bodyPr>
          <a:lstStyle/>
          <a:p>
            <a:pPr indent="-184150" lvl="0" marL="177800" marR="0" rtl="0" algn="l">
              <a:spcBef>
                <a:spcPts val="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Best k ≈ all components: C 12 of 14, D 16 of 17, D+T 24 of 25</a:t>
            </a:r>
            <a:endParaRPr sz="1100">
              <a:solidFill>
                <a:schemeClr val="dk1"/>
              </a:solidFill>
              <a:latin typeface="Calibri"/>
              <a:ea typeface="Calibri"/>
              <a:cs typeface="Calibri"/>
              <a:sym typeface="Calibri"/>
            </a:endParaRPr>
          </a:p>
          <a:p>
            <a:pPr indent="-184150" lvl="0" marL="177800" marR="0" rtl="0" algn="l">
              <a:spcBef>
                <a:spcPts val="8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Test AUC with PCA is 0.001–0.002 lower on B, C, D and D+T</a:t>
            </a:r>
            <a:endParaRPr sz="1100">
              <a:solidFill>
                <a:schemeClr val="dk1"/>
              </a:solidFill>
              <a:latin typeface="Calibri"/>
              <a:ea typeface="Calibri"/>
              <a:cs typeface="Calibri"/>
              <a:sym typeface="Calibri"/>
            </a:endParaRPr>
          </a:p>
          <a:p>
            <a:pPr indent="-184150" lvl="0" marL="177800" marR="0" rtl="0" algn="l">
              <a:spcBef>
                <a:spcPts val="8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PCA loses per-variable odds ratios</a:t>
            </a:r>
            <a:endParaRPr sz="1100">
              <a:solidFill>
                <a:schemeClr val="dk1"/>
              </a:solidFill>
              <a:latin typeface="Calibri"/>
              <a:ea typeface="Calibri"/>
              <a:cs typeface="Calibri"/>
              <a:sym typeface="Calibri"/>
            </a:endParaRPr>
          </a:p>
          <a:p>
            <a:pPr indent="-184150" lvl="0" marL="177800" marR="0" rtl="0" algn="l">
              <a:spcBef>
                <a:spcPts val="8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Own NumPy PCA and Newton–Raphson LR reproduce scikit-learn (same eigenvalues; same test AUC 0.7485)</a:t>
            </a:r>
            <a:endParaRPr sz="1100">
              <a:solidFill>
                <a:schemeClr val="dk1"/>
              </a:solidFill>
              <a:latin typeface="Calibri"/>
              <a:ea typeface="Calibri"/>
              <a:cs typeface="Calibri"/>
              <a:sym typeface="Calibri"/>
            </a:endParaRPr>
          </a:p>
        </p:txBody>
      </p:sp>
      <p:sp>
        <p:nvSpPr>
          <p:cNvPr id="316" name="Google Shape;316;p28"/>
          <p:cNvSpPr txBox="1"/>
          <p:nvPr>
            <p:ph idx="4294967295" type="sldNum"/>
          </p:nvPr>
        </p:nvSpPr>
        <p:spPr>
          <a:xfrm>
            <a:off x="8229600" y="4828032"/>
            <a:ext cx="500634"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chemeClr val="accent5"/>
                </a:solidFill>
                <a:latin typeface="Calibri"/>
                <a:ea typeface="Calibri"/>
                <a:cs typeface="Calibri"/>
                <a:sym typeface="Calibri"/>
              </a:rPr>
              <a:t>‹#›</a:t>
            </a:fld>
            <a:endParaRPr sz="800">
              <a:solidFill>
                <a:schemeClr val="accent5"/>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9"/>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Every model had to beat two honest benchmarks</a:t>
            </a:r>
            <a:endParaRPr sz="2100"/>
          </a:p>
        </p:txBody>
      </p:sp>
      <p:sp>
        <p:nvSpPr>
          <p:cNvPr id="323" name="Google Shape;323;p29"/>
          <p:cNvSpPr/>
          <p:nvPr/>
        </p:nvSpPr>
        <p:spPr>
          <a:xfrm>
            <a:off x="411480" y="1062990"/>
            <a:ext cx="3154680" cy="1577340"/>
          </a:xfrm>
          <a:prstGeom prst="roundRect">
            <a:avLst>
              <a:gd fmla="val 3478"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 name="Google Shape;324;p29"/>
          <p:cNvSpPr txBox="1"/>
          <p:nvPr/>
        </p:nvSpPr>
        <p:spPr>
          <a:xfrm>
            <a:off x="582930" y="1165860"/>
            <a:ext cx="28117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600"/>
              <a:buFont typeface="Cambria"/>
              <a:buNone/>
            </a:pPr>
            <a:r>
              <a:rPr b="1" lang="en-GB" sz="2600">
                <a:solidFill>
                  <a:schemeClr val="accent2"/>
                </a:solidFill>
                <a:latin typeface="Cambria"/>
                <a:ea typeface="Cambria"/>
                <a:cs typeface="Cambria"/>
                <a:sym typeface="Cambria"/>
              </a:rPr>
              <a:t>90.95%</a:t>
            </a:r>
            <a:endParaRPr sz="2600">
              <a:solidFill>
                <a:schemeClr val="dk1"/>
              </a:solidFill>
              <a:latin typeface="Calibri"/>
              <a:ea typeface="Calibri"/>
              <a:cs typeface="Calibri"/>
              <a:sym typeface="Calibri"/>
            </a:endParaRPr>
          </a:p>
        </p:txBody>
      </p:sp>
      <p:sp>
        <p:nvSpPr>
          <p:cNvPr id="325" name="Google Shape;325;p29"/>
          <p:cNvSpPr txBox="1"/>
          <p:nvPr/>
        </p:nvSpPr>
        <p:spPr>
          <a:xfrm>
            <a:off x="582930" y="1597914"/>
            <a:ext cx="28117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accuracy of predicting “nobody declines”, with 0% recall. Accuracy is misleading at 9% prevalence.</a:t>
            </a:r>
            <a:endParaRPr sz="1100">
              <a:solidFill>
                <a:schemeClr val="dk1"/>
              </a:solidFill>
              <a:latin typeface="Calibri"/>
              <a:ea typeface="Calibri"/>
              <a:cs typeface="Calibri"/>
              <a:sym typeface="Calibri"/>
            </a:endParaRPr>
          </a:p>
        </p:txBody>
      </p:sp>
      <p:sp>
        <p:nvSpPr>
          <p:cNvPr id="326" name="Google Shape;326;p29"/>
          <p:cNvSpPr/>
          <p:nvPr/>
        </p:nvSpPr>
        <p:spPr>
          <a:xfrm>
            <a:off x="411480" y="2811780"/>
            <a:ext cx="3154680" cy="1577340"/>
          </a:xfrm>
          <a:prstGeom prst="roundRect">
            <a:avLst>
              <a:gd fmla="val 3478"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 name="Google Shape;327;p29"/>
          <p:cNvSpPr txBox="1"/>
          <p:nvPr/>
        </p:nvSpPr>
        <p:spPr>
          <a:xfrm>
            <a:off x="582930" y="2914650"/>
            <a:ext cx="28117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lang="en-GB" sz="2600">
                <a:solidFill>
                  <a:schemeClr val="accent1"/>
                </a:solidFill>
                <a:latin typeface="Cambria"/>
                <a:ea typeface="Cambria"/>
                <a:cs typeface="Cambria"/>
                <a:sym typeface="Cambria"/>
              </a:rPr>
              <a:t>0.666</a:t>
            </a:r>
            <a:endParaRPr sz="2600">
              <a:solidFill>
                <a:schemeClr val="dk1"/>
              </a:solidFill>
              <a:latin typeface="Calibri"/>
              <a:ea typeface="Calibri"/>
              <a:cs typeface="Calibri"/>
              <a:sym typeface="Calibri"/>
            </a:endParaRPr>
          </a:p>
        </p:txBody>
      </p:sp>
      <p:sp>
        <p:nvSpPr>
          <p:cNvPr id="328" name="Google Shape;328;p29"/>
          <p:cNvSpPr txBox="1"/>
          <p:nvPr/>
        </p:nvSpPr>
        <p:spPr>
          <a:xfrm>
            <a:off x="582930" y="3346704"/>
            <a:ext cx="28117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test AUC of an age-only model (95% CI 0.658–0.675)</a:t>
            </a:r>
            <a:endParaRPr sz="1100">
              <a:solidFill>
                <a:schemeClr val="dk1"/>
              </a:solidFill>
              <a:latin typeface="Calibri"/>
              <a:ea typeface="Calibri"/>
              <a:cs typeface="Calibri"/>
              <a:sym typeface="Calibri"/>
            </a:endParaRPr>
          </a:p>
        </p:txBody>
      </p:sp>
      <p:sp>
        <p:nvSpPr>
          <p:cNvPr id="329" name="Google Shape;329;p29"/>
          <p:cNvSpPr txBox="1"/>
          <p:nvPr/>
        </p:nvSpPr>
        <p:spPr>
          <a:xfrm>
            <a:off x="3909060" y="1062990"/>
            <a:ext cx="480060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lang="en-GB" sz="1400">
                <a:solidFill>
                  <a:schemeClr val="dk2"/>
                </a:solidFill>
                <a:latin typeface="Calibri"/>
                <a:ea typeface="Calibri"/>
                <a:cs typeface="Calibri"/>
                <a:sym typeface="Calibri"/>
              </a:rPr>
              <a:t>Model families compared (15 variants)</a:t>
            </a:r>
            <a:endParaRPr sz="1400">
              <a:solidFill>
                <a:schemeClr val="dk1"/>
              </a:solidFill>
              <a:latin typeface="Calibri"/>
              <a:ea typeface="Calibri"/>
              <a:cs typeface="Calibri"/>
              <a:sym typeface="Calibri"/>
            </a:endParaRPr>
          </a:p>
        </p:txBody>
      </p:sp>
      <p:sp>
        <p:nvSpPr>
          <p:cNvPr id="330" name="Google Shape;330;p29"/>
          <p:cNvSpPr/>
          <p:nvPr/>
        </p:nvSpPr>
        <p:spPr>
          <a:xfrm>
            <a:off x="3909060" y="1474470"/>
            <a:ext cx="2297430" cy="1303020"/>
          </a:xfrm>
          <a:prstGeom prst="roundRect">
            <a:avLst>
              <a:gd fmla="val 6667"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1" name="Google Shape;331;p29"/>
          <p:cNvSpPr txBox="1"/>
          <p:nvPr/>
        </p:nvSpPr>
        <p:spPr>
          <a:xfrm>
            <a:off x="4046220" y="1474470"/>
            <a:ext cx="2057400" cy="13030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200"/>
              <a:buFont typeface="Calibri"/>
              <a:buNone/>
            </a:pPr>
            <a:r>
              <a:rPr b="1" lang="en-GB" sz="1200">
                <a:solidFill>
                  <a:srgbClr val="E4572E"/>
                </a:solidFill>
                <a:latin typeface="Calibri"/>
                <a:ea typeface="Calibri"/>
                <a:cs typeface="Calibri"/>
                <a:sym typeface="Calibri"/>
              </a:rPr>
              <a:t>Logistic regression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with age and BMI splines</a:t>
            </a:r>
            <a:endParaRPr sz="1200">
              <a:solidFill>
                <a:schemeClr val="dk1"/>
              </a:solidFill>
              <a:latin typeface="Calibri"/>
              <a:ea typeface="Calibri"/>
              <a:cs typeface="Calibri"/>
              <a:sym typeface="Calibri"/>
            </a:endParaRPr>
          </a:p>
        </p:txBody>
      </p:sp>
      <p:sp>
        <p:nvSpPr>
          <p:cNvPr id="332" name="Google Shape;332;p29"/>
          <p:cNvSpPr/>
          <p:nvPr/>
        </p:nvSpPr>
        <p:spPr>
          <a:xfrm>
            <a:off x="6343650" y="1474470"/>
            <a:ext cx="2297430" cy="1303020"/>
          </a:xfrm>
          <a:prstGeom prst="roundRect">
            <a:avLst>
              <a:gd fmla="val 6667"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3" name="Google Shape;333;p29"/>
          <p:cNvSpPr txBox="1"/>
          <p:nvPr/>
        </p:nvSpPr>
        <p:spPr>
          <a:xfrm>
            <a:off x="6480810" y="1474470"/>
            <a:ext cx="2057400" cy="13030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200"/>
              <a:buFont typeface="Calibri"/>
              <a:buNone/>
            </a:pPr>
            <a:r>
              <a:rPr b="1" lang="en-GB" sz="1200">
                <a:solidFill>
                  <a:srgbClr val="123B44"/>
                </a:solidFill>
                <a:latin typeface="Calibri"/>
                <a:ea typeface="Calibri"/>
                <a:cs typeface="Calibri"/>
                <a:sym typeface="Calibri"/>
              </a:rPr>
              <a:t>Elastic-net LR</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automatic variable selection</a:t>
            </a:r>
            <a:endParaRPr sz="1200">
              <a:solidFill>
                <a:schemeClr val="dk1"/>
              </a:solidFill>
              <a:latin typeface="Calibri"/>
              <a:ea typeface="Calibri"/>
              <a:cs typeface="Calibri"/>
              <a:sym typeface="Calibri"/>
            </a:endParaRPr>
          </a:p>
        </p:txBody>
      </p:sp>
      <p:sp>
        <p:nvSpPr>
          <p:cNvPr id="334" name="Google Shape;334;p29"/>
          <p:cNvSpPr/>
          <p:nvPr/>
        </p:nvSpPr>
        <p:spPr>
          <a:xfrm>
            <a:off x="3909060" y="2914650"/>
            <a:ext cx="2297430" cy="1303020"/>
          </a:xfrm>
          <a:prstGeom prst="roundRect">
            <a:avLst>
              <a:gd fmla="val 6667"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 name="Google Shape;335;p29"/>
          <p:cNvSpPr txBox="1"/>
          <p:nvPr/>
        </p:nvSpPr>
        <p:spPr>
          <a:xfrm>
            <a:off x="4046220" y="2914650"/>
            <a:ext cx="2057400" cy="13030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200"/>
              <a:buFont typeface="Calibri"/>
              <a:buNone/>
            </a:pPr>
            <a:r>
              <a:rPr b="1" lang="en-GB" sz="1200">
                <a:solidFill>
                  <a:srgbClr val="123B44"/>
                </a:solidFill>
                <a:latin typeface="Calibri"/>
                <a:ea typeface="Calibri"/>
                <a:cs typeface="Calibri"/>
                <a:sym typeface="Calibri"/>
              </a:rPr>
              <a:t>PCA + LR</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number of components tuned</a:t>
            </a:r>
            <a:endParaRPr sz="1200">
              <a:solidFill>
                <a:schemeClr val="dk1"/>
              </a:solidFill>
              <a:latin typeface="Calibri"/>
              <a:ea typeface="Calibri"/>
              <a:cs typeface="Calibri"/>
              <a:sym typeface="Calibri"/>
            </a:endParaRPr>
          </a:p>
        </p:txBody>
      </p:sp>
      <p:sp>
        <p:nvSpPr>
          <p:cNvPr id="336" name="Google Shape;336;p29"/>
          <p:cNvSpPr/>
          <p:nvPr/>
        </p:nvSpPr>
        <p:spPr>
          <a:xfrm>
            <a:off x="6343650" y="2914650"/>
            <a:ext cx="2297430" cy="1303020"/>
          </a:xfrm>
          <a:prstGeom prst="roundRect">
            <a:avLst>
              <a:gd fmla="val 6667"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7" name="Google Shape;337;p29"/>
          <p:cNvSpPr txBox="1"/>
          <p:nvPr/>
        </p:nvSpPr>
        <p:spPr>
          <a:xfrm>
            <a:off x="6480810" y="2914650"/>
            <a:ext cx="2057400" cy="13030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200"/>
              <a:buFont typeface="Calibri"/>
              <a:buNone/>
            </a:pPr>
            <a:r>
              <a:rPr b="1" lang="en-GB" sz="1200">
                <a:solidFill>
                  <a:srgbClr val="123B44"/>
                </a:solidFill>
                <a:latin typeface="Calibri"/>
                <a:ea typeface="Calibri"/>
                <a:cs typeface="Calibri"/>
                <a:sym typeface="Calibri"/>
              </a:rPr>
              <a:t>Random forest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bagged trees</a:t>
            </a:r>
            <a:endParaRPr sz="1200">
              <a:solidFill>
                <a:schemeClr val="dk1"/>
              </a:solidFill>
              <a:latin typeface="Calibri"/>
              <a:ea typeface="Calibri"/>
              <a:cs typeface="Calibri"/>
              <a:sym typeface="Calibri"/>
            </a:endParaRPr>
          </a:p>
        </p:txBody>
      </p:sp>
      <p:sp>
        <p:nvSpPr>
          <p:cNvPr id="338" name="Google Shape;338;p29"/>
          <p:cNvSpPr txBox="1"/>
          <p:nvPr/>
        </p:nvSpPr>
        <p:spPr>
          <a:xfrm>
            <a:off x="3909060" y="4389120"/>
            <a:ext cx="4800600" cy="34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Metrics: ROC-AUC (primary), PR-AUC, Brier score, recall in the 20% highest-risk group. All tuned on validation; one shared test set.</a:t>
            </a:r>
            <a:endParaRPr sz="800">
              <a:solidFill>
                <a:schemeClr val="dk1"/>
              </a:solidFill>
              <a:latin typeface="Calibri"/>
              <a:ea typeface="Calibri"/>
              <a:cs typeface="Calibri"/>
              <a:sym typeface="Calibri"/>
            </a:endParaRPr>
          </a:p>
        </p:txBody>
      </p:sp>
      <p:sp>
        <p:nvSpPr>
          <p:cNvPr id="339" name="Google Shape;339;p29"/>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Information beats algorithm: same inputs, models within 0.01</a:t>
            </a:r>
            <a:endParaRPr sz="2100"/>
          </a:p>
        </p:txBody>
      </p:sp>
      <p:pic>
        <p:nvPicPr>
          <p:cNvPr id="346" name="Google Shape;346;p30"/>
          <p:cNvPicPr preferRelativeResize="0"/>
          <p:nvPr/>
        </p:nvPicPr>
        <p:blipFill rotWithShape="1">
          <a:blip r:embed="rId3">
            <a:alphaModFix/>
          </a:blip>
          <a:srcRect b="0" l="0" r="0" t="0"/>
          <a:stretch/>
        </p:blipFill>
        <p:spPr>
          <a:xfrm>
            <a:off x="274320" y="960120"/>
            <a:ext cx="5760720" cy="3806190"/>
          </a:xfrm>
          <a:prstGeom prst="rect">
            <a:avLst/>
          </a:prstGeom>
          <a:noFill/>
          <a:ln>
            <a:noFill/>
          </a:ln>
        </p:spPr>
      </p:pic>
      <p:sp>
        <p:nvSpPr>
          <p:cNvPr id="347" name="Google Shape;347;p30"/>
          <p:cNvSpPr/>
          <p:nvPr/>
        </p:nvSpPr>
        <p:spPr>
          <a:xfrm>
            <a:off x="6240780" y="1028700"/>
            <a:ext cx="2468880" cy="1097280"/>
          </a:xfrm>
          <a:prstGeom prst="roundRect">
            <a:avLst>
              <a:gd fmla="val 50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 name="Google Shape;348;p30"/>
          <p:cNvSpPr txBox="1"/>
          <p:nvPr/>
        </p:nvSpPr>
        <p:spPr>
          <a:xfrm>
            <a:off x="6412230" y="1131570"/>
            <a:ext cx="21259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100"/>
              <a:buFont typeface="Cambria"/>
              <a:buNone/>
            </a:pPr>
            <a:r>
              <a:rPr b="1" lang="en-GB" sz="2100">
                <a:solidFill>
                  <a:schemeClr val="accent2"/>
                </a:solidFill>
                <a:latin typeface="Cambria"/>
                <a:ea typeface="Cambria"/>
                <a:cs typeface="Cambria"/>
                <a:sym typeface="Cambria"/>
              </a:rPr>
              <a:t>+0.033</a:t>
            </a:r>
            <a:endParaRPr sz="2100">
              <a:solidFill>
                <a:schemeClr val="dk1"/>
              </a:solidFill>
              <a:latin typeface="Calibri"/>
              <a:ea typeface="Calibri"/>
              <a:cs typeface="Calibri"/>
              <a:sym typeface="Calibri"/>
            </a:endParaRPr>
          </a:p>
        </p:txBody>
      </p:sp>
      <p:sp>
        <p:nvSpPr>
          <p:cNvPr id="349" name="Google Shape;349;p30"/>
          <p:cNvSpPr txBox="1"/>
          <p:nvPr/>
        </p:nvSpPr>
        <p:spPr>
          <a:xfrm>
            <a:off x="6412230" y="1563624"/>
            <a:ext cx="212598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from new information: original set B → functional set D (LR)</a:t>
            </a:r>
            <a:endParaRPr sz="1100">
              <a:solidFill>
                <a:schemeClr val="dk1"/>
              </a:solidFill>
              <a:latin typeface="Calibri"/>
              <a:ea typeface="Calibri"/>
              <a:cs typeface="Calibri"/>
              <a:sym typeface="Calibri"/>
            </a:endParaRPr>
          </a:p>
        </p:txBody>
      </p:sp>
      <p:sp>
        <p:nvSpPr>
          <p:cNvPr id="350" name="Google Shape;350;p30"/>
          <p:cNvSpPr/>
          <p:nvPr/>
        </p:nvSpPr>
        <p:spPr>
          <a:xfrm>
            <a:off x="6240780" y="2263140"/>
            <a:ext cx="2468880" cy="1097280"/>
          </a:xfrm>
          <a:prstGeom prst="roundRect">
            <a:avLst>
              <a:gd fmla="val 50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1" name="Google Shape;351;p30"/>
          <p:cNvSpPr txBox="1"/>
          <p:nvPr/>
        </p:nvSpPr>
        <p:spPr>
          <a:xfrm>
            <a:off x="6412230" y="2366010"/>
            <a:ext cx="21259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mbria"/>
              <a:buNone/>
            </a:pPr>
            <a:r>
              <a:rPr b="1" lang="en-GB" sz="2100">
                <a:solidFill>
                  <a:schemeClr val="accent1"/>
                </a:solidFill>
                <a:latin typeface="Cambria"/>
                <a:ea typeface="Cambria"/>
                <a:cs typeface="Cambria"/>
                <a:sym typeface="Cambria"/>
              </a:rPr>
              <a:t>≤ 0.01</a:t>
            </a:r>
            <a:endParaRPr sz="2100">
              <a:solidFill>
                <a:schemeClr val="dk1"/>
              </a:solidFill>
              <a:latin typeface="Calibri"/>
              <a:ea typeface="Calibri"/>
              <a:cs typeface="Calibri"/>
              <a:sym typeface="Calibri"/>
            </a:endParaRPr>
          </a:p>
        </p:txBody>
      </p:sp>
      <p:sp>
        <p:nvSpPr>
          <p:cNvPr id="352" name="Google Shape;352;p30"/>
          <p:cNvSpPr txBox="1"/>
          <p:nvPr/>
        </p:nvSpPr>
        <p:spPr>
          <a:xfrm>
            <a:off x="6412230" y="2798064"/>
            <a:ext cx="212598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between algorithms given the same feature set</a:t>
            </a:r>
            <a:endParaRPr sz="1100">
              <a:solidFill>
                <a:schemeClr val="dk1"/>
              </a:solidFill>
              <a:latin typeface="Calibri"/>
              <a:ea typeface="Calibri"/>
              <a:cs typeface="Calibri"/>
              <a:sym typeface="Calibri"/>
            </a:endParaRPr>
          </a:p>
        </p:txBody>
      </p:sp>
      <p:sp>
        <p:nvSpPr>
          <p:cNvPr id="353" name="Google Shape;353;p30"/>
          <p:cNvSpPr/>
          <p:nvPr/>
        </p:nvSpPr>
        <p:spPr>
          <a:xfrm>
            <a:off x="6240780" y="3497580"/>
            <a:ext cx="2468880" cy="1097280"/>
          </a:xfrm>
          <a:prstGeom prst="roundRect">
            <a:avLst>
              <a:gd fmla="val 50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4" name="Google Shape;354;p30"/>
          <p:cNvSpPr txBox="1"/>
          <p:nvPr/>
        </p:nvSpPr>
        <p:spPr>
          <a:xfrm>
            <a:off x="6412230" y="3600450"/>
            <a:ext cx="21259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mbria"/>
              <a:buNone/>
            </a:pPr>
            <a:r>
              <a:rPr b="1" lang="en-GB" sz="2100">
                <a:solidFill>
                  <a:schemeClr val="accent1"/>
                </a:solidFill>
                <a:latin typeface="Cambria"/>
                <a:ea typeface="Cambria"/>
                <a:cs typeface="Cambria"/>
                <a:sym typeface="Cambria"/>
              </a:rPr>
              <a:t>+0.006</a:t>
            </a:r>
            <a:endParaRPr sz="2100">
              <a:solidFill>
                <a:schemeClr val="dk1"/>
              </a:solidFill>
              <a:latin typeface="Calibri"/>
              <a:ea typeface="Calibri"/>
              <a:cs typeface="Calibri"/>
              <a:sym typeface="Calibri"/>
            </a:endParaRPr>
          </a:p>
        </p:txBody>
      </p:sp>
      <p:sp>
        <p:nvSpPr>
          <p:cNvPr id="355" name="Google Shape;355;p30"/>
          <p:cNvSpPr txBox="1"/>
          <p:nvPr/>
        </p:nvSpPr>
        <p:spPr>
          <a:xfrm>
            <a:off x="6412230" y="4032504"/>
            <a:ext cx="212598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from change-over-time features (D → D+T)</a:t>
            </a:r>
            <a:endParaRPr sz="1100">
              <a:solidFill>
                <a:schemeClr val="dk1"/>
              </a:solidFill>
              <a:latin typeface="Calibri"/>
              <a:ea typeface="Calibri"/>
              <a:cs typeface="Calibri"/>
              <a:sym typeface="Calibri"/>
            </a:endParaRPr>
          </a:p>
        </p:txBody>
      </p:sp>
      <p:sp>
        <p:nvSpPr>
          <p:cNvPr id="356" name="Google Shape;356;p30"/>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1"/>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Final model: top 20% of predicted risk holds 56% of new cases</a:t>
            </a:r>
            <a:endParaRPr sz="2100"/>
          </a:p>
        </p:txBody>
      </p:sp>
      <p:pic>
        <p:nvPicPr>
          <p:cNvPr id="363" name="Google Shape;363;p31"/>
          <p:cNvPicPr preferRelativeResize="0"/>
          <p:nvPr/>
        </p:nvPicPr>
        <p:blipFill rotWithShape="1">
          <a:blip r:embed="rId3">
            <a:alphaModFix/>
          </a:blip>
          <a:srcRect b="0" l="0" r="0" t="0"/>
          <a:stretch/>
        </p:blipFill>
        <p:spPr>
          <a:xfrm>
            <a:off x="342900" y="994410"/>
            <a:ext cx="5486400" cy="3497580"/>
          </a:xfrm>
          <a:prstGeom prst="rect">
            <a:avLst/>
          </a:prstGeom>
          <a:noFill/>
          <a:ln>
            <a:noFill/>
          </a:ln>
        </p:spPr>
      </p:pic>
      <p:sp>
        <p:nvSpPr>
          <p:cNvPr id="364" name="Google Shape;364;p31"/>
          <p:cNvSpPr/>
          <p:nvPr/>
        </p:nvSpPr>
        <p:spPr>
          <a:xfrm>
            <a:off x="6103620" y="1028700"/>
            <a:ext cx="2606040" cy="1097280"/>
          </a:xfrm>
          <a:prstGeom prst="roundRect">
            <a:avLst>
              <a:gd fmla="val 50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5" name="Google Shape;365;p31"/>
          <p:cNvSpPr txBox="1"/>
          <p:nvPr/>
        </p:nvSpPr>
        <p:spPr>
          <a:xfrm>
            <a:off x="6275070" y="1131570"/>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300"/>
              <a:buFont typeface="Cambria"/>
              <a:buNone/>
            </a:pPr>
            <a:r>
              <a:rPr b="1" lang="en-GB" sz="2300">
                <a:solidFill>
                  <a:schemeClr val="accent2"/>
                </a:solidFill>
                <a:latin typeface="Cambria"/>
                <a:ea typeface="Cambria"/>
                <a:cs typeface="Cambria"/>
                <a:sym typeface="Cambria"/>
              </a:rPr>
              <a:t>0.784</a:t>
            </a:r>
            <a:endParaRPr sz="2300">
              <a:solidFill>
                <a:schemeClr val="dk1"/>
              </a:solidFill>
              <a:latin typeface="Calibri"/>
              <a:ea typeface="Calibri"/>
              <a:cs typeface="Calibri"/>
              <a:sym typeface="Calibri"/>
            </a:endParaRPr>
          </a:p>
        </p:txBody>
      </p:sp>
      <p:sp>
        <p:nvSpPr>
          <p:cNvPr id="366" name="Google Shape;366;p31"/>
          <p:cNvSpPr txBox="1"/>
          <p:nvPr/>
        </p:nvSpPr>
        <p:spPr>
          <a:xfrm>
            <a:off x="6275070" y="1563624"/>
            <a:ext cx="226314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test ROC-AUC (95% CI 0.776–0.791), logistic regression on set D</a:t>
            </a:r>
            <a:endParaRPr sz="1100">
              <a:solidFill>
                <a:schemeClr val="dk1"/>
              </a:solidFill>
              <a:latin typeface="Calibri"/>
              <a:ea typeface="Calibri"/>
              <a:cs typeface="Calibri"/>
              <a:sym typeface="Calibri"/>
            </a:endParaRPr>
          </a:p>
        </p:txBody>
      </p:sp>
      <p:sp>
        <p:nvSpPr>
          <p:cNvPr id="367" name="Google Shape;367;p31"/>
          <p:cNvSpPr/>
          <p:nvPr/>
        </p:nvSpPr>
        <p:spPr>
          <a:xfrm>
            <a:off x="6103620" y="2263140"/>
            <a:ext cx="2606040" cy="1097280"/>
          </a:xfrm>
          <a:prstGeom prst="roundRect">
            <a:avLst>
              <a:gd fmla="val 50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8" name="Google Shape;368;p31"/>
          <p:cNvSpPr txBox="1"/>
          <p:nvPr/>
        </p:nvSpPr>
        <p:spPr>
          <a:xfrm>
            <a:off x="6275070" y="2366010"/>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300"/>
              <a:buFont typeface="Cambria"/>
              <a:buNone/>
            </a:pPr>
            <a:r>
              <a:rPr b="1" lang="en-GB" sz="2300">
                <a:solidFill>
                  <a:schemeClr val="accent1"/>
                </a:solidFill>
                <a:latin typeface="Cambria"/>
                <a:ea typeface="Cambria"/>
                <a:cs typeface="Cambria"/>
                <a:sym typeface="Cambria"/>
              </a:rPr>
              <a:t>55.6%</a:t>
            </a:r>
            <a:endParaRPr sz="2300">
              <a:solidFill>
                <a:schemeClr val="dk1"/>
              </a:solidFill>
              <a:latin typeface="Calibri"/>
              <a:ea typeface="Calibri"/>
              <a:cs typeface="Calibri"/>
              <a:sym typeface="Calibri"/>
            </a:endParaRPr>
          </a:p>
        </p:txBody>
      </p:sp>
      <p:sp>
        <p:nvSpPr>
          <p:cNvPr id="369" name="Google Shape;369;p31"/>
          <p:cNvSpPr txBox="1"/>
          <p:nvPr/>
        </p:nvSpPr>
        <p:spPr>
          <a:xfrm>
            <a:off x="6275070" y="2798064"/>
            <a:ext cx="226314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of all new cases in the 20% highest-risk group (lift 2.78)</a:t>
            </a:r>
            <a:endParaRPr sz="1100">
              <a:solidFill>
                <a:schemeClr val="dk1"/>
              </a:solidFill>
              <a:latin typeface="Calibri"/>
              <a:ea typeface="Calibri"/>
              <a:cs typeface="Calibri"/>
              <a:sym typeface="Calibri"/>
            </a:endParaRPr>
          </a:p>
        </p:txBody>
      </p:sp>
      <p:sp>
        <p:nvSpPr>
          <p:cNvPr id="370" name="Google Shape;370;p31"/>
          <p:cNvSpPr/>
          <p:nvPr/>
        </p:nvSpPr>
        <p:spPr>
          <a:xfrm>
            <a:off x="6103620" y="3497580"/>
            <a:ext cx="2606040" cy="1097280"/>
          </a:xfrm>
          <a:prstGeom prst="roundRect">
            <a:avLst>
              <a:gd fmla="val 50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1" name="Google Shape;371;p31"/>
          <p:cNvSpPr txBox="1"/>
          <p:nvPr/>
        </p:nvSpPr>
        <p:spPr>
          <a:xfrm>
            <a:off x="6275070" y="3600450"/>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100"/>
              <a:buFont typeface="Cambria"/>
              <a:buNone/>
            </a:pPr>
            <a:r>
              <a:rPr b="1" lang="en-GB" sz="2100">
                <a:solidFill>
                  <a:schemeClr val="accent1"/>
                </a:solidFill>
                <a:latin typeface="Cambria"/>
                <a:ea typeface="Cambria"/>
                <a:cs typeface="Cambria"/>
                <a:sym typeface="Cambria"/>
              </a:rPr>
              <a:t>1.0% → 32.3%</a:t>
            </a:r>
            <a:endParaRPr sz="2100">
              <a:solidFill>
                <a:schemeClr val="dk1"/>
              </a:solidFill>
              <a:latin typeface="Calibri"/>
              <a:ea typeface="Calibri"/>
              <a:cs typeface="Calibri"/>
              <a:sym typeface="Calibri"/>
            </a:endParaRPr>
          </a:p>
        </p:txBody>
      </p:sp>
      <p:sp>
        <p:nvSpPr>
          <p:cNvPr id="372" name="Google Shape;372;p31"/>
          <p:cNvSpPr txBox="1"/>
          <p:nvPr/>
        </p:nvSpPr>
        <p:spPr>
          <a:xfrm>
            <a:off x="6275070" y="4032504"/>
            <a:ext cx="226314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observed rate in the lowest vs highest decile</a:t>
            </a:r>
            <a:endParaRPr sz="1100">
              <a:solidFill>
                <a:schemeClr val="dk1"/>
              </a:solidFill>
              <a:latin typeface="Calibri"/>
              <a:ea typeface="Calibri"/>
              <a:cs typeface="Calibri"/>
              <a:sym typeface="Calibri"/>
            </a:endParaRPr>
          </a:p>
        </p:txBody>
      </p:sp>
      <p:sp>
        <p:nvSpPr>
          <p:cNvPr id="373" name="Google Shape;373;p31"/>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Function, age and self-rated health carry most of the signal</a:t>
            </a:r>
            <a:endParaRPr sz="2100"/>
          </a:p>
        </p:txBody>
      </p:sp>
      <p:pic>
        <p:nvPicPr>
          <p:cNvPr id="380" name="Google Shape;380;p32"/>
          <p:cNvPicPr preferRelativeResize="0"/>
          <p:nvPr/>
        </p:nvPicPr>
        <p:blipFill rotWithShape="1">
          <a:blip r:embed="rId3">
            <a:alphaModFix/>
          </a:blip>
          <a:srcRect b="0" l="0" r="0" t="0"/>
          <a:stretch/>
        </p:blipFill>
        <p:spPr>
          <a:xfrm>
            <a:off x="274320" y="994410"/>
            <a:ext cx="5280660" cy="3429000"/>
          </a:xfrm>
          <a:prstGeom prst="rect">
            <a:avLst/>
          </a:prstGeom>
          <a:noFill/>
          <a:ln>
            <a:noFill/>
          </a:ln>
        </p:spPr>
      </p:pic>
      <p:sp>
        <p:nvSpPr>
          <p:cNvPr id="381" name="Google Shape;381;p32"/>
          <p:cNvSpPr txBox="1"/>
          <p:nvPr/>
        </p:nvSpPr>
        <p:spPr>
          <a:xfrm>
            <a:off x="411480" y="4457700"/>
            <a:ext cx="5143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Correlated indices share importance; read them as a group. Associations, not causes.</a:t>
            </a:r>
            <a:endParaRPr sz="800">
              <a:solidFill>
                <a:schemeClr val="dk1"/>
              </a:solidFill>
              <a:latin typeface="Calibri"/>
              <a:ea typeface="Calibri"/>
              <a:cs typeface="Calibri"/>
              <a:sym typeface="Calibri"/>
            </a:endParaRPr>
          </a:p>
        </p:txBody>
      </p:sp>
      <p:sp>
        <p:nvSpPr>
          <p:cNvPr id="382" name="Google Shape;382;p32"/>
          <p:cNvSpPr/>
          <p:nvPr/>
        </p:nvSpPr>
        <p:spPr>
          <a:xfrm>
            <a:off x="5829300" y="1028700"/>
            <a:ext cx="2880360" cy="3429000"/>
          </a:xfrm>
          <a:prstGeom prst="roundRect">
            <a:avLst>
              <a:gd fmla="val 1905"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3" name="Google Shape;383;p32"/>
          <p:cNvSpPr txBox="1"/>
          <p:nvPr/>
        </p:nvSpPr>
        <p:spPr>
          <a:xfrm>
            <a:off x="6000750" y="1131570"/>
            <a:ext cx="26060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lang="en-GB" sz="1200">
                <a:solidFill>
                  <a:schemeClr val="dk2"/>
                </a:solidFill>
                <a:latin typeface="Calibri"/>
                <a:ea typeface="Calibri"/>
                <a:cs typeface="Calibri"/>
                <a:sym typeface="Calibri"/>
              </a:rPr>
              <a:t>Odds ratios, final model (set D)</a:t>
            </a:r>
            <a:endParaRPr sz="1200">
              <a:solidFill>
                <a:schemeClr val="dk1"/>
              </a:solidFill>
              <a:latin typeface="Calibri"/>
              <a:ea typeface="Calibri"/>
              <a:cs typeface="Calibri"/>
              <a:sym typeface="Calibri"/>
            </a:endParaRPr>
          </a:p>
        </p:txBody>
      </p:sp>
      <p:sp>
        <p:nvSpPr>
          <p:cNvPr id="384" name="Google Shape;384;p32"/>
          <p:cNvSpPr txBox="1"/>
          <p:nvPr/>
        </p:nvSpPr>
        <p:spPr>
          <a:xfrm>
            <a:off x="6000750" y="1440180"/>
            <a:ext cx="26060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original units; country-adjusted; training period</a:t>
            </a:r>
            <a:endParaRPr sz="800">
              <a:solidFill>
                <a:schemeClr val="dk1"/>
              </a:solidFill>
              <a:latin typeface="Calibri"/>
              <a:ea typeface="Calibri"/>
              <a:cs typeface="Calibri"/>
              <a:sym typeface="Calibri"/>
            </a:endParaRPr>
          </a:p>
        </p:txBody>
      </p:sp>
      <p:sp>
        <p:nvSpPr>
          <p:cNvPr id="385" name="Google Shape;385;p32"/>
          <p:cNvSpPr txBox="1"/>
          <p:nvPr/>
        </p:nvSpPr>
        <p:spPr>
          <a:xfrm>
            <a:off x="6000750" y="1748790"/>
            <a:ext cx="18516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IADL difficulties (+1)</a:t>
            </a:r>
            <a:endParaRPr sz="1100">
              <a:solidFill>
                <a:schemeClr val="dk1"/>
              </a:solidFill>
              <a:latin typeface="Calibri"/>
              <a:ea typeface="Calibri"/>
              <a:cs typeface="Calibri"/>
              <a:sym typeface="Calibri"/>
            </a:endParaRPr>
          </a:p>
        </p:txBody>
      </p:sp>
      <p:sp>
        <p:nvSpPr>
          <p:cNvPr id="386" name="Google Shape;386;p32"/>
          <p:cNvSpPr txBox="1"/>
          <p:nvPr/>
        </p:nvSpPr>
        <p:spPr>
          <a:xfrm>
            <a:off x="7749540" y="1748790"/>
            <a:ext cx="82296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4572E"/>
              </a:buClr>
              <a:buSzPts val="1700"/>
              <a:buFont typeface="Cambria"/>
              <a:buNone/>
            </a:pPr>
            <a:r>
              <a:rPr b="1" lang="en-GB" sz="1700">
                <a:solidFill>
                  <a:srgbClr val="E4572E"/>
                </a:solidFill>
                <a:latin typeface="Cambria"/>
                <a:ea typeface="Cambria"/>
                <a:cs typeface="Cambria"/>
                <a:sym typeface="Cambria"/>
              </a:rPr>
              <a:t>1.44</a:t>
            </a:r>
            <a:endParaRPr sz="1700">
              <a:solidFill>
                <a:schemeClr val="dk1"/>
              </a:solidFill>
              <a:latin typeface="Calibri"/>
              <a:ea typeface="Calibri"/>
              <a:cs typeface="Calibri"/>
              <a:sym typeface="Calibri"/>
            </a:endParaRPr>
          </a:p>
        </p:txBody>
      </p:sp>
      <p:sp>
        <p:nvSpPr>
          <p:cNvPr id="387" name="Google Shape;387;p32"/>
          <p:cNvSpPr txBox="1"/>
          <p:nvPr/>
        </p:nvSpPr>
        <p:spPr>
          <a:xfrm>
            <a:off x="6000750" y="2215134"/>
            <a:ext cx="18516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Self-rated health (+1 worse)</a:t>
            </a:r>
            <a:endParaRPr sz="1100">
              <a:solidFill>
                <a:schemeClr val="dk1"/>
              </a:solidFill>
              <a:latin typeface="Calibri"/>
              <a:ea typeface="Calibri"/>
              <a:cs typeface="Calibri"/>
              <a:sym typeface="Calibri"/>
            </a:endParaRPr>
          </a:p>
        </p:txBody>
      </p:sp>
      <p:sp>
        <p:nvSpPr>
          <p:cNvPr id="388" name="Google Shape;388;p32"/>
          <p:cNvSpPr txBox="1"/>
          <p:nvPr/>
        </p:nvSpPr>
        <p:spPr>
          <a:xfrm>
            <a:off x="7749540" y="2215134"/>
            <a:ext cx="82296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4572E"/>
              </a:buClr>
              <a:buSzPts val="1700"/>
              <a:buFont typeface="Cambria"/>
              <a:buNone/>
            </a:pPr>
            <a:r>
              <a:rPr b="1" lang="en-GB" sz="1700">
                <a:solidFill>
                  <a:srgbClr val="E4572E"/>
                </a:solidFill>
                <a:latin typeface="Cambria"/>
                <a:ea typeface="Cambria"/>
                <a:cs typeface="Cambria"/>
                <a:sym typeface="Cambria"/>
              </a:rPr>
              <a:t>1.34</a:t>
            </a:r>
            <a:endParaRPr sz="1700">
              <a:solidFill>
                <a:schemeClr val="dk1"/>
              </a:solidFill>
              <a:latin typeface="Calibri"/>
              <a:ea typeface="Calibri"/>
              <a:cs typeface="Calibri"/>
              <a:sym typeface="Calibri"/>
            </a:endParaRPr>
          </a:p>
        </p:txBody>
      </p:sp>
      <p:sp>
        <p:nvSpPr>
          <p:cNvPr id="389" name="Google Shape;389;p32"/>
          <p:cNvSpPr txBox="1"/>
          <p:nvPr/>
        </p:nvSpPr>
        <p:spPr>
          <a:xfrm>
            <a:off x="6000750" y="2681478"/>
            <a:ext cx="18516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Age (+5 years)</a:t>
            </a:r>
            <a:endParaRPr sz="1100">
              <a:solidFill>
                <a:schemeClr val="dk1"/>
              </a:solidFill>
              <a:latin typeface="Calibri"/>
              <a:ea typeface="Calibri"/>
              <a:cs typeface="Calibri"/>
              <a:sym typeface="Calibri"/>
            </a:endParaRPr>
          </a:p>
        </p:txBody>
      </p:sp>
      <p:sp>
        <p:nvSpPr>
          <p:cNvPr id="390" name="Google Shape;390;p32"/>
          <p:cNvSpPr txBox="1"/>
          <p:nvPr/>
        </p:nvSpPr>
        <p:spPr>
          <a:xfrm>
            <a:off x="7749540" y="2681478"/>
            <a:ext cx="82296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4572E"/>
              </a:buClr>
              <a:buSzPts val="1700"/>
              <a:buFont typeface="Cambria"/>
              <a:buNone/>
            </a:pPr>
            <a:r>
              <a:rPr b="1" lang="en-GB" sz="1700">
                <a:solidFill>
                  <a:srgbClr val="E4572E"/>
                </a:solidFill>
                <a:latin typeface="Cambria"/>
                <a:ea typeface="Cambria"/>
                <a:cs typeface="Cambria"/>
                <a:sym typeface="Cambria"/>
              </a:rPr>
              <a:t>1.29</a:t>
            </a:r>
            <a:endParaRPr sz="1700">
              <a:solidFill>
                <a:schemeClr val="dk1"/>
              </a:solidFill>
              <a:latin typeface="Calibri"/>
              <a:ea typeface="Calibri"/>
              <a:cs typeface="Calibri"/>
              <a:sym typeface="Calibri"/>
            </a:endParaRPr>
          </a:p>
        </p:txBody>
      </p:sp>
      <p:sp>
        <p:nvSpPr>
          <p:cNvPr id="391" name="Google Shape;391;p32"/>
          <p:cNvSpPr txBox="1"/>
          <p:nvPr/>
        </p:nvSpPr>
        <p:spPr>
          <a:xfrm>
            <a:off x="6000750" y="3147822"/>
            <a:ext cx="18516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Grip strength (+5 kg)</a:t>
            </a:r>
            <a:endParaRPr sz="1100">
              <a:solidFill>
                <a:schemeClr val="dk1"/>
              </a:solidFill>
              <a:latin typeface="Calibri"/>
              <a:ea typeface="Calibri"/>
              <a:cs typeface="Calibri"/>
              <a:sym typeface="Calibri"/>
            </a:endParaRPr>
          </a:p>
        </p:txBody>
      </p:sp>
      <p:sp>
        <p:nvSpPr>
          <p:cNvPr id="392" name="Google Shape;392;p32"/>
          <p:cNvSpPr txBox="1"/>
          <p:nvPr/>
        </p:nvSpPr>
        <p:spPr>
          <a:xfrm>
            <a:off x="7749540" y="3147822"/>
            <a:ext cx="82296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57A82"/>
              </a:buClr>
              <a:buSzPts val="1700"/>
              <a:buFont typeface="Cambria"/>
              <a:buNone/>
            </a:pPr>
            <a:r>
              <a:rPr b="1" lang="en-GB" sz="1700">
                <a:solidFill>
                  <a:srgbClr val="157A82"/>
                </a:solidFill>
                <a:latin typeface="Cambria"/>
                <a:ea typeface="Cambria"/>
                <a:cs typeface="Cambria"/>
                <a:sym typeface="Cambria"/>
              </a:rPr>
              <a:t>0.90</a:t>
            </a:r>
            <a:endParaRPr sz="1700">
              <a:solidFill>
                <a:schemeClr val="dk1"/>
              </a:solidFill>
              <a:latin typeface="Calibri"/>
              <a:ea typeface="Calibri"/>
              <a:cs typeface="Calibri"/>
              <a:sym typeface="Calibri"/>
            </a:endParaRPr>
          </a:p>
        </p:txBody>
      </p:sp>
      <p:sp>
        <p:nvSpPr>
          <p:cNvPr id="393" name="Google Shape;393;p32"/>
          <p:cNvSpPr txBox="1"/>
          <p:nvPr/>
        </p:nvSpPr>
        <p:spPr>
          <a:xfrm>
            <a:off x="6000750" y="3614166"/>
            <a:ext cx="185166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Female</a:t>
            </a:r>
            <a:endParaRPr sz="1100">
              <a:solidFill>
                <a:schemeClr val="dk1"/>
              </a:solidFill>
              <a:latin typeface="Calibri"/>
              <a:ea typeface="Calibri"/>
              <a:cs typeface="Calibri"/>
              <a:sym typeface="Calibri"/>
            </a:endParaRPr>
          </a:p>
        </p:txBody>
      </p:sp>
      <p:sp>
        <p:nvSpPr>
          <p:cNvPr id="394" name="Google Shape;394;p32"/>
          <p:cNvSpPr txBox="1"/>
          <p:nvPr/>
        </p:nvSpPr>
        <p:spPr>
          <a:xfrm>
            <a:off x="7749540" y="3614166"/>
            <a:ext cx="822960" cy="342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57A82"/>
              </a:buClr>
              <a:buSzPts val="1700"/>
              <a:buFont typeface="Cambria"/>
              <a:buNone/>
            </a:pPr>
            <a:r>
              <a:rPr b="1" lang="en-GB" sz="1700">
                <a:solidFill>
                  <a:srgbClr val="157A82"/>
                </a:solidFill>
                <a:latin typeface="Cambria"/>
                <a:ea typeface="Cambria"/>
                <a:cs typeface="Cambria"/>
                <a:sym typeface="Cambria"/>
              </a:rPr>
              <a:t>0.64</a:t>
            </a:r>
            <a:endParaRPr sz="1700">
              <a:solidFill>
                <a:schemeClr val="dk1"/>
              </a:solidFill>
              <a:latin typeface="Calibri"/>
              <a:ea typeface="Calibri"/>
              <a:cs typeface="Calibri"/>
              <a:sym typeface="Calibri"/>
            </a:endParaRPr>
          </a:p>
        </p:txBody>
      </p:sp>
      <p:sp>
        <p:nvSpPr>
          <p:cNvPr id="395" name="Google Shape;395;p32"/>
          <p:cNvSpPr txBox="1"/>
          <p:nvPr/>
        </p:nvSpPr>
        <p:spPr>
          <a:xfrm>
            <a:off x="6000750" y="4080510"/>
            <a:ext cx="260604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Chronic diseases and income: no clear association once function is included (p ≥ 0.28)</a:t>
            </a:r>
            <a:endParaRPr sz="800">
              <a:solidFill>
                <a:schemeClr val="dk1"/>
              </a:solidFill>
              <a:latin typeface="Calibri"/>
              <a:ea typeface="Calibri"/>
              <a:cs typeface="Calibri"/>
              <a:sym typeface="Calibri"/>
            </a:endParaRPr>
          </a:p>
        </p:txBody>
      </p:sp>
      <p:sp>
        <p:nvSpPr>
          <p:cNvPr id="396" name="Google Shape;396;p32"/>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3"/>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Acting on the model beats flagging everyone or no one</a:t>
            </a:r>
            <a:endParaRPr sz="2100"/>
          </a:p>
        </p:txBody>
      </p:sp>
      <p:sp>
        <p:nvSpPr>
          <p:cNvPr id="403" name="Google Shape;403;p33"/>
          <p:cNvSpPr txBox="1"/>
          <p:nvPr/>
        </p:nvSpPr>
        <p:spPr>
          <a:xfrm>
            <a:off x="411480" y="4149090"/>
            <a:ext cx="4937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Net benefit, test period; shaded band = 95% bootstrap CI of the final model (blue).</a:t>
            </a:r>
            <a:endParaRPr sz="800">
              <a:solidFill>
                <a:schemeClr val="dk1"/>
              </a:solidFill>
              <a:latin typeface="Calibri"/>
              <a:ea typeface="Calibri"/>
              <a:cs typeface="Calibri"/>
              <a:sym typeface="Calibri"/>
            </a:endParaRPr>
          </a:p>
        </p:txBody>
      </p:sp>
      <p:sp>
        <p:nvSpPr>
          <p:cNvPr id="404" name="Google Shape;404;p33"/>
          <p:cNvSpPr/>
          <p:nvPr/>
        </p:nvSpPr>
        <p:spPr>
          <a:xfrm>
            <a:off x="5623560" y="1028700"/>
            <a:ext cx="30861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5" name="Google Shape;405;p33"/>
          <p:cNvSpPr txBox="1"/>
          <p:nvPr/>
        </p:nvSpPr>
        <p:spPr>
          <a:xfrm>
            <a:off x="5760720" y="1028700"/>
            <a:ext cx="281178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200"/>
              <a:buFont typeface="Calibri"/>
              <a:buNone/>
            </a:pPr>
            <a:r>
              <a:rPr b="1" lang="en-GB" sz="1200">
                <a:solidFill>
                  <a:srgbClr val="123B44"/>
                </a:solidFill>
                <a:latin typeface="Calibri"/>
                <a:ea typeface="Calibri"/>
                <a:cs typeface="Calibri"/>
                <a:sym typeface="Calibri"/>
              </a:rPr>
              <a:t>10% threshold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flags 28.7% of people · finds 67.3% of cases · precision 21.2%</a:t>
            </a:r>
            <a:endParaRPr sz="1200">
              <a:solidFill>
                <a:schemeClr val="dk1"/>
              </a:solidFill>
              <a:latin typeface="Calibri"/>
              <a:ea typeface="Calibri"/>
              <a:cs typeface="Calibri"/>
              <a:sym typeface="Calibri"/>
            </a:endParaRPr>
          </a:p>
        </p:txBody>
      </p:sp>
      <p:sp>
        <p:nvSpPr>
          <p:cNvPr id="406" name="Google Shape;406;p33"/>
          <p:cNvSpPr/>
          <p:nvPr/>
        </p:nvSpPr>
        <p:spPr>
          <a:xfrm>
            <a:off x="5623560" y="1885950"/>
            <a:ext cx="30861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7" name="Google Shape;407;p33"/>
          <p:cNvSpPr txBox="1"/>
          <p:nvPr/>
        </p:nvSpPr>
        <p:spPr>
          <a:xfrm>
            <a:off x="5760720" y="1885950"/>
            <a:ext cx="281178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200"/>
              <a:buFont typeface="Calibri"/>
              <a:buNone/>
            </a:pPr>
            <a:r>
              <a:rPr b="1" lang="en-GB" sz="1200">
                <a:solidFill>
                  <a:srgbClr val="E4572E"/>
                </a:solidFill>
                <a:latin typeface="Calibri"/>
                <a:ea typeface="Calibri"/>
                <a:cs typeface="Calibri"/>
                <a:sym typeface="Calibri"/>
              </a:rPr>
              <a:t>18.3% (chosen on validation)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flags 13.0% · finds 43.0% of cases · precision 29.9%</a:t>
            </a:r>
            <a:endParaRPr sz="1200">
              <a:solidFill>
                <a:schemeClr val="dk1"/>
              </a:solidFill>
              <a:latin typeface="Calibri"/>
              <a:ea typeface="Calibri"/>
              <a:cs typeface="Calibri"/>
              <a:sym typeface="Calibri"/>
            </a:endParaRPr>
          </a:p>
        </p:txBody>
      </p:sp>
      <p:sp>
        <p:nvSpPr>
          <p:cNvPr id="408" name="Google Shape;408;p33"/>
          <p:cNvSpPr/>
          <p:nvPr/>
        </p:nvSpPr>
        <p:spPr>
          <a:xfrm>
            <a:off x="5623560" y="2743200"/>
            <a:ext cx="30861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9" name="Google Shape;409;p33"/>
          <p:cNvSpPr txBox="1"/>
          <p:nvPr/>
        </p:nvSpPr>
        <p:spPr>
          <a:xfrm>
            <a:off x="5760720" y="2743200"/>
            <a:ext cx="281178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200"/>
              <a:buFont typeface="Calibri"/>
              <a:buNone/>
            </a:pPr>
            <a:r>
              <a:rPr b="1" lang="en-GB" sz="1200">
                <a:solidFill>
                  <a:srgbClr val="123B44"/>
                </a:solidFill>
                <a:latin typeface="Calibri"/>
                <a:ea typeface="Calibri"/>
                <a:cs typeface="Calibri"/>
                <a:sym typeface="Calibri"/>
              </a:rPr>
              <a:t>30% threshold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flags 5.6% · finds 23.1% of cases · precision 37.6%</a:t>
            </a:r>
            <a:endParaRPr sz="1200">
              <a:solidFill>
                <a:schemeClr val="dk1"/>
              </a:solidFill>
              <a:latin typeface="Calibri"/>
              <a:ea typeface="Calibri"/>
              <a:cs typeface="Calibri"/>
              <a:sym typeface="Calibri"/>
            </a:endParaRPr>
          </a:p>
        </p:txBody>
      </p:sp>
      <p:sp>
        <p:nvSpPr>
          <p:cNvPr id="410" name="Google Shape;410;p33"/>
          <p:cNvSpPr/>
          <p:nvPr/>
        </p:nvSpPr>
        <p:spPr>
          <a:xfrm>
            <a:off x="5623560" y="3600450"/>
            <a:ext cx="3086100" cy="857250"/>
          </a:xfrm>
          <a:prstGeom prst="roundRect">
            <a:avLst>
              <a:gd fmla="val 64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1" name="Google Shape;411;p33"/>
          <p:cNvSpPr txBox="1"/>
          <p:nvPr/>
        </p:nvSpPr>
        <p:spPr>
          <a:xfrm>
            <a:off x="5795010" y="370332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mbria"/>
              <a:buNone/>
            </a:pPr>
            <a:r>
              <a:rPr b="1" lang="en-GB" sz="1800">
                <a:solidFill>
                  <a:schemeClr val="accent1"/>
                </a:solidFill>
                <a:latin typeface="Cambria"/>
                <a:ea typeface="Cambria"/>
                <a:cs typeface="Cambria"/>
                <a:sym typeface="Cambria"/>
              </a:rPr>
              <a:t>42–71</a:t>
            </a:r>
            <a:endParaRPr sz="1800">
              <a:solidFill>
                <a:schemeClr val="dk1"/>
              </a:solidFill>
              <a:latin typeface="Calibri"/>
              <a:ea typeface="Calibri"/>
              <a:cs typeface="Calibri"/>
              <a:sym typeface="Calibri"/>
            </a:endParaRPr>
          </a:p>
        </p:txBody>
      </p:sp>
      <p:sp>
        <p:nvSpPr>
          <p:cNvPr id="412" name="Google Shape;412;p33"/>
          <p:cNvSpPr txBox="1"/>
          <p:nvPr/>
        </p:nvSpPr>
        <p:spPr>
          <a:xfrm>
            <a:off x="5795010" y="4135374"/>
            <a:ext cx="274320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lang="en-GB" sz="1100">
                <a:solidFill>
                  <a:schemeClr val="dk1"/>
                </a:solidFill>
                <a:latin typeface="Calibri"/>
                <a:ea typeface="Calibri"/>
                <a:cs typeface="Calibri"/>
                <a:sym typeface="Calibri"/>
              </a:rPr>
              <a:t>unnecessary follow-ups avoided per 100 people vs flagging everyone (10–30% thresholds)</a:t>
            </a:r>
            <a:endParaRPr sz="1100">
              <a:solidFill>
                <a:schemeClr val="dk1"/>
              </a:solidFill>
              <a:latin typeface="Calibri"/>
              <a:ea typeface="Calibri"/>
              <a:cs typeface="Calibri"/>
              <a:sym typeface="Calibri"/>
            </a:endParaRPr>
          </a:p>
        </p:txBody>
      </p:sp>
      <p:sp>
        <p:nvSpPr>
          <p:cNvPr id="413" name="Google Shape;413;p33"/>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pic>
        <p:nvPicPr>
          <p:cNvPr id="414" name="Google Shape;414;p33"/>
          <p:cNvPicPr preferRelativeResize="0"/>
          <p:nvPr/>
        </p:nvPicPr>
        <p:blipFill>
          <a:blip r:embed="rId3">
            <a:alphaModFix/>
          </a:blip>
          <a:stretch>
            <a:fillRect/>
          </a:stretch>
        </p:blipFill>
        <p:spPr>
          <a:xfrm>
            <a:off x="411475" y="1043940"/>
            <a:ext cx="4766057" cy="2952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4"/>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The result holds when we change the design</a:t>
            </a:r>
            <a:endParaRPr sz="2100"/>
          </a:p>
        </p:txBody>
      </p:sp>
      <p:pic>
        <p:nvPicPr>
          <p:cNvPr id="421" name="Google Shape;421;p34"/>
          <p:cNvPicPr preferRelativeResize="0"/>
          <p:nvPr/>
        </p:nvPicPr>
        <p:blipFill rotWithShape="1">
          <a:blip r:embed="rId3">
            <a:alphaModFix/>
          </a:blip>
          <a:srcRect b="0" l="0" r="0" t="0"/>
          <a:stretch/>
        </p:blipFill>
        <p:spPr>
          <a:xfrm>
            <a:off x="274320" y="994410"/>
            <a:ext cx="5417820" cy="3429000"/>
          </a:xfrm>
          <a:prstGeom prst="rect">
            <a:avLst/>
          </a:prstGeom>
          <a:noFill/>
          <a:ln>
            <a:noFill/>
          </a:ln>
        </p:spPr>
      </p:pic>
      <p:sp>
        <p:nvSpPr>
          <p:cNvPr id="422" name="Google Shape;422;p34"/>
          <p:cNvSpPr txBox="1"/>
          <p:nvPr/>
        </p:nvSpPr>
        <p:spPr>
          <a:xfrm>
            <a:off x="411480" y="4457700"/>
            <a:ext cx="5143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Axis starts at 0.70. Rolling: trained only on earlier waves.</a:t>
            </a:r>
            <a:endParaRPr sz="800">
              <a:solidFill>
                <a:schemeClr val="dk1"/>
              </a:solidFill>
              <a:latin typeface="Calibri"/>
              <a:ea typeface="Calibri"/>
              <a:cs typeface="Calibri"/>
              <a:sym typeface="Calibri"/>
            </a:endParaRPr>
          </a:p>
        </p:txBody>
      </p:sp>
      <p:sp>
        <p:nvSpPr>
          <p:cNvPr id="423" name="Google Shape;423;p34"/>
          <p:cNvSpPr/>
          <p:nvPr/>
        </p:nvSpPr>
        <p:spPr>
          <a:xfrm>
            <a:off x="5966460" y="1028700"/>
            <a:ext cx="27432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34"/>
          <p:cNvSpPr txBox="1"/>
          <p:nvPr/>
        </p:nvSpPr>
        <p:spPr>
          <a:xfrm>
            <a:off x="6103620" y="1028700"/>
            <a:ext cx="250317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100"/>
              <a:buFont typeface="Calibri"/>
              <a:buNone/>
            </a:pPr>
            <a:r>
              <a:rPr b="1" lang="en-GB" sz="1100">
                <a:solidFill>
                  <a:srgbClr val="123B44"/>
                </a:solidFill>
                <a:latin typeface="Calibri"/>
                <a:ea typeface="Calibri"/>
                <a:cs typeface="Calibri"/>
                <a:sym typeface="Calibri"/>
              </a:rPr>
              <a:t>Attrition reweighting</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AUC unchanged (LR set C 0.763 → 0.763)</a:t>
            </a:r>
            <a:endParaRPr sz="1100">
              <a:solidFill>
                <a:schemeClr val="dk1"/>
              </a:solidFill>
              <a:latin typeface="Calibri"/>
              <a:ea typeface="Calibri"/>
              <a:cs typeface="Calibri"/>
              <a:sym typeface="Calibri"/>
            </a:endParaRPr>
          </a:p>
        </p:txBody>
      </p:sp>
      <p:sp>
        <p:nvSpPr>
          <p:cNvPr id="425" name="Google Shape;425;p34"/>
          <p:cNvSpPr/>
          <p:nvPr/>
        </p:nvSpPr>
        <p:spPr>
          <a:xfrm>
            <a:off x="5966460" y="1885950"/>
            <a:ext cx="27432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6" name="Google Shape;426;p34"/>
          <p:cNvSpPr txBox="1"/>
          <p:nvPr/>
        </p:nvSpPr>
        <p:spPr>
          <a:xfrm>
            <a:off x="6103620" y="1885950"/>
            <a:ext cx="250317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100"/>
              <a:buFont typeface="Calibri"/>
              <a:buNone/>
            </a:pPr>
            <a:r>
              <a:rPr b="1" lang="en-GB" sz="1100">
                <a:solidFill>
                  <a:srgbClr val="123B44"/>
                </a:solidFill>
                <a:latin typeface="Calibri"/>
                <a:ea typeface="Calibri"/>
                <a:cs typeface="Calibri"/>
                <a:sym typeface="Calibri"/>
              </a:rPr>
              <a:t>Stricter outcome ADL ≥ 2</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higher AUC: 0.810 (LR set C)</a:t>
            </a:r>
            <a:endParaRPr sz="1100">
              <a:solidFill>
                <a:schemeClr val="dk1"/>
              </a:solidFill>
              <a:latin typeface="Calibri"/>
              <a:ea typeface="Calibri"/>
              <a:cs typeface="Calibri"/>
              <a:sym typeface="Calibri"/>
            </a:endParaRPr>
          </a:p>
        </p:txBody>
      </p:sp>
      <p:sp>
        <p:nvSpPr>
          <p:cNvPr id="427" name="Google Shape;427;p34"/>
          <p:cNvSpPr/>
          <p:nvPr/>
        </p:nvSpPr>
        <p:spPr>
          <a:xfrm>
            <a:off x="5966460" y="2743200"/>
            <a:ext cx="27432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8" name="Google Shape;428;p34"/>
          <p:cNvSpPr txBox="1"/>
          <p:nvPr/>
        </p:nvSpPr>
        <p:spPr>
          <a:xfrm>
            <a:off x="6103620" y="2743200"/>
            <a:ext cx="250317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100"/>
              <a:buFont typeface="Calibri"/>
              <a:buNone/>
            </a:pPr>
            <a:r>
              <a:rPr b="1" lang="en-GB" sz="1100">
                <a:solidFill>
                  <a:srgbClr val="123B44"/>
                </a:solidFill>
                <a:latin typeface="Calibri"/>
                <a:ea typeface="Calibri"/>
                <a:cs typeface="Calibri"/>
                <a:sym typeface="Calibri"/>
              </a:rPr>
              <a:t>Household-grouped CV</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0.756 / 0.773 / 0.790 (LR B, LR C, LR D)</a:t>
            </a:r>
            <a:endParaRPr sz="1100">
              <a:solidFill>
                <a:schemeClr val="dk1"/>
              </a:solidFill>
              <a:latin typeface="Calibri"/>
              <a:ea typeface="Calibri"/>
              <a:cs typeface="Calibri"/>
              <a:sym typeface="Calibri"/>
            </a:endParaRPr>
          </a:p>
        </p:txBody>
      </p:sp>
      <p:sp>
        <p:nvSpPr>
          <p:cNvPr id="429" name="Google Shape;429;p34"/>
          <p:cNvSpPr/>
          <p:nvPr/>
        </p:nvSpPr>
        <p:spPr>
          <a:xfrm>
            <a:off x="5966460" y="3600450"/>
            <a:ext cx="2743200" cy="754380"/>
          </a:xfrm>
          <a:prstGeom prst="roundRect">
            <a:avLst>
              <a:gd fmla="val 7273"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0" name="Google Shape;430;p34"/>
          <p:cNvSpPr txBox="1"/>
          <p:nvPr/>
        </p:nvSpPr>
        <p:spPr>
          <a:xfrm>
            <a:off x="6103620" y="3600450"/>
            <a:ext cx="250317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B44"/>
              </a:buClr>
              <a:buSzPts val="1100"/>
              <a:buFont typeface="Calibri"/>
              <a:buNone/>
            </a:pPr>
            <a:r>
              <a:rPr b="1" lang="en-GB" sz="1100">
                <a:solidFill>
                  <a:srgbClr val="123B44"/>
                </a:solidFill>
                <a:latin typeface="Calibri"/>
                <a:ea typeface="Calibri"/>
                <a:cs typeface="Calibri"/>
                <a:sym typeface="Calibri"/>
              </a:rPr>
              <a:t>Smoking, interval, log doctor visits</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000"/>
              <a:buFont typeface="Calibri"/>
              <a:buNone/>
            </a:pPr>
            <a:r>
              <a:rPr lang="en-GB" sz="1000">
                <a:solidFill>
                  <a:srgbClr val="1F2D33"/>
                </a:solidFill>
                <a:latin typeface="Calibri"/>
                <a:ea typeface="Calibri"/>
                <a:cs typeface="Calibri"/>
                <a:sym typeface="Calibri"/>
              </a:rPr>
              <a:t>AUC change &lt; 0.001</a:t>
            </a:r>
            <a:endParaRPr sz="1100">
              <a:solidFill>
                <a:schemeClr val="dk1"/>
              </a:solidFill>
              <a:latin typeface="Calibri"/>
              <a:ea typeface="Calibri"/>
              <a:cs typeface="Calibri"/>
              <a:sym typeface="Calibri"/>
            </a:endParaRPr>
          </a:p>
        </p:txBody>
      </p:sp>
      <p:sp>
        <p:nvSpPr>
          <p:cNvPr id="431" name="Google Shape;431;p34"/>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5"/>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Limits to keep in mind, and what we would do next</a:t>
            </a:r>
            <a:endParaRPr sz="2100"/>
          </a:p>
        </p:txBody>
      </p:sp>
      <p:sp>
        <p:nvSpPr>
          <p:cNvPr id="438" name="Google Shape;438;p35"/>
          <p:cNvSpPr/>
          <p:nvPr/>
        </p:nvSpPr>
        <p:spPr>
          <a:xfrm>
            <a:off x="411480" y="1028700"/>
            <a:ext cx="4080510" cy="3429000"/>
          </a:xfrm>
          <a:prstGeom prst="roundRect">
            <a:avLst>
              <a:gd fmla="val 16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39" name="Google Shape;439;p35"/>
          <p:cNvSpPr/>
          <p:nvPr/>
        </p:nvSpPr>
        <p:spPr>
          <a:xfrm>
            <a:off x="617220" y="1165860"/>
            <a:ext cx="411480" cy="4114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Limitations" id="440" name="Google Shape;440;p35"/>
          <p:cNvPicPr preferRelativeResize="0"/>
          <p:nvPr/>
        </p:nvPicPr>
        <p:blipFill rotWithShape="1">
          <a:blip r:embed="rId3">
            <a:alphaModFix/>
          </a:blip>
          <a:srcRect b="0" l="0" r="0" t="0"/>
          <a:stretch/>
        </p:blipFill>
        <p:spPr>
          <a:xfrm>
            <a:off x="706374" y="1255014"/>
            <a:ext cx="233172" cy="233172"/>
          </a:xfrm>
          <a:prstGeom prst="rect">
            <a:avLst/>
          </a:prstGeom>
          <a:noFill/>
          <a:ln>
            <a:noFill/>
          </a:ln>
        </p:spPr>
      </p:pic>
      <p:sp>
        <p:nvSpPr>
          <p:cNvPr id="441" name="Google Shape;441;p35"/>
          <p:cNvSpPr txBox="1"/>
          <p:nvPr/>
        </p:nvSpPr>
        <p:spPr>
          <a:xfrm>
            <a:off x="1131570" y="1165860"/>
            <a:ext cx="30861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572E"/>
              </a:buClr>
              <a:buSzPts val="1500"/>
              <a:buFont typeface="Calibri"/>
              <a:buNone/>
            </a:pPr>
            <a:r>
              <a:rPr b="1" lang="en-GB" sz="1500">
                <a:solidFill>
                  <a:srgbClr val="E4572E"/>
                </a:solidFill>
                <a:latin typeface="Calibri"/>
                <a:ea typeface="Calibri"/>
                <a:cs typeface="Calibri"/>
                <a:sym typeface="Calibri"/>
              </a:rPr>
              <a:t>Limitations</a:t>
            </a:r>
            <a:endParaRPr sz="1500">
              <a:solidFill>
                <a:schemeClr val="dk1"/>
              </a:solidFill>
              <a:latin typeface="Calibri"/>
              <a:ea typeface="Calibri"/>
              <a:cs typeface="Calibri"/>
              <a:sym typeface="Calibri"/>
            </a:endParaRPr>
          </a:p>
        </p:txBody>
      </p:sp>
      <p:sp>
        <p:nvSpPr>
          <p:cNvPr id="442" name="Google Shape;442;p35"/>
          <p:cNvSpPr txBox="1"/>
          <p:nvPr/>
        </p:nvSpPr>
        <p:spPr>
          <a:xfrm>
            <a:off x="617220" y="1714500"/>
            <a:ext cx="3703320" cy="267462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Moderate precision: 30% of flagged people decline (43% recall); outcome is self-reported</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Drop-outs and deaths unobserved: reweighting gives 9.7% vs 9.0% observed</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SHARELIFE: 36% of test rows miss whole blocks; AUC is 0.015–0.019 lower for them</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Test period reused for some design checks, so AUCs are slightly optimistic; income and doctor-visit caps set on all waves</a:t>
            </a:r>
            <a:endParaRPr sz="1100">
              <a:solidFill>
                <a:schemeClr val="dk1"/>
              </a:solidFill>
              <a:latin typeface="Calibri"/>
              <a:ea typeface="Calibri"/>
              <a:cs typeface="Calibri"/>
              <a:sym typeface="Calibri"/>
            </a:endParaRPr>
          </a:p>
        </p:txBody>
      </p:sp>
      <p:sp>
        <p:nvSpPr>
          <p:cNvPr id="443" name="Google Shape;443;p35"/>
          <p:cNvSpPr/>
          <p:nvPr/>
        </p:nvSpPr>
        <p:spPr>
          <a:xfrm>
            <a:off x="4629150" y="1028700"/>
            <a:ext cx="4080510" cy="3429000"/>
          </a:xfrm>
          <a:prstGeom prst="roundRect">
            <a:avLst>
              <a:gd fmla="val 1600" name="adj"/>
            </a:avLst>
          </a:prstGeom>
          <a:solidFill>
            <a:srgbClr val="EEF3F3"/>
          </a:solidFill>
          <a:ln cap="flat" cmpd="sng" w="12700">
            <a:solidFill>
              <a:srgbClr val="EEF3F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44" name="Google Shape;444;p35"/>
          <p:cNvSpPr/>
          <p:nvPr/>
        </p:nvSpPr>
        <p:spPr>
          <a:xfrm>
            <a:off x="4834890" y="1165860"/>
            <a:ext cx="411480" cy="41148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Future work" id="445" name="Google Shape;445;p35"/>
          <p:cNvPicPr preferRelativeResize="0"/>
          <p:nvPr/>
        </p:nvPicPr>
        <p:blipFill rotWithShape="1">
          <a:blip r:embed="rId4">
            <a:alphaModFix/>
          </a:blip>
          <a:srcRect b="0" l="0" r="0" t="0"/>
          <a:stretch/>
        </p:blipFill>
        <p:spPr>
          <a:xfrm>
            <a:off x="4924044" y="1255014"/>
            <a:ext cx="233172" cy="233172"/>
          </a:xfrm>
          <a:prstGeom prst="rect">
            <a:avLst/>
          </a:prstGeom>
          <a:noFill/>
          <a:ln>
            <a:noFill/>
          </a:ln>
        </p:spPr>
      </p:pic>
      <p:sp>
        <p:nvSpPr>
          <p:cNvPr id="446" name="Google Shape;446;p35"/>
          <p:cNvSpPr txBox="1"/>
          <p:nvPr/>
        </p:nvSpPr>
        <p:spPr>
          <a:xfrm>
            <a:off x="5349240" y="1165860"/>
            <a:ext cx="30861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7A82"/>
              </a:buClr>
              <a:buSzPts val="1500"/>
              <a:buFont typeface="Calibri"/>
              <a:buNone/>
            </a:pPr>
            <a:r>
              <a:rPr b="1" lang="en-GB" sz="1500">
                <a:solidFill>
                  <a:srgbClr val="157A82"/>
                </a:solidFill>
                <a:latin typeface="Calibri"/>
                <a:ea typeface="Calibri"/>
                <a:cs typeface="Calibri"/>
                <a:sym typeface="Calibri"/>
              </a:rPr>
              <a:t>Future work</a:t>
            </a:r>
            <a:endParaRPr sz="1500">
              <a:solidFill>
                <a:schemeClr val="dk1"/>
              </a:solidFill>
              <a:latin typeface="Calibri"/>
              <a:ea typeface="Calibri"/>
              <a:cs typeface="Calibri"/>
              <a:sym typeface="Calibri"/>
            </a:endParaRPr>
          </a:p>
        </p:txBody>
      </p:sp>
      <p:sp>
        <p:nvSpPr>
          <p:cNvPr id="447" name="Google Shape;447;p35"/>
          <p:cNvSpPr txBox="1"/>
          <p:nvPr/>
        </p:nvSpPr>
        <p:spPr>
          <a:xfrm>
            <a:off x="4834890" y="1714500"/>
            <a:ext cx="3703320" cy="267462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Validate externally: other cohorts and the next SHARE wave</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Make every design choice on validation; fit caps on training data only</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Treat death as a competing outcome</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Set the threshold with care providers from real costs</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Recalibrate by country; report calibration slope</a:t>
            </a:r>
            <a:endParaRPr sz="1100">
              <a:solidFill>
                <a:schemeClr val="dk1"/>
              </a:solidFill>
              <a:latin typeface="Calibri"/>
              <a:ea typeface="Calibri"/>
              <a:cs typeface="Calibri"/>
              <a:sym typeface="Calibri"/>
            </a:endParaRPr>
          </a:p>
        </p:txBody>
      </p:sp>
      <p:sp>
        <p:nvSpPr>
          <p:cNvPr id="448" name="Google Shape;448;p35"/>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6"/>
          <p:cNvSpPr txBox="1"/>
          <p:nvPr>
            <p:ph type="title"/>
          </p:nvPr>
        </p:nvSpPr>
        <p:spPr>
          <a:xfrm>
            <a:off x="480060" y="411480"/>
            <a:ext cx="699516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600"/>
              <a:buFont typeface="Cambria"/>
              <a:buNone/>
            </a:pPr>
            <a:r>
              <a:rPr b="1" lang="en-GB" sz="2600">
                <a:solidFill>
                  <a:schemeClr val="lt1"/>
                </a:solidFill>
                <a:latin typeface="Cambria"/>
                <a:ea typeface="Cambria"/>
                <a:cs typeface="Cambria"/>
                <a:sym typeface="Cambria"/>
              </a:rPr>
              <a:t>Clean data and the right information matter most</a:t>
            </a:r>
            <a:endParaRPr sz="2600"/>
          </a:p>
        </p:txBody>
      </p:sp>
      <p:sp>
        <p:nvSpPr>
          <p:cNvPr id="455" name="Google Shape;455;p36"/>
          <p:cNvSpPr/>
          <p:nvPr/>
        </p:nvSpPr>
        <p:spPr>
          <a:xfrm>
            <a:off x="480060" y="1337310"/>
            <a:ext cx="2606040" cy="1988820"/>
          </a:xfrm>
          <a:prstGeom prst="roundRect">
            <a:avLst>
              <a:gd fmla="val 2759" name="adj"/>
            </a:avLst>
          </a:prstGeom>
          <a:solidFill>
            <a:srgbClr val="1D5560"/>
          </a:solidFill>
          <a:ln cap="flat" cmpd="sng" w="12700">
            <a:solidFill>
              <a:srgbClr val="1D556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56" name="Google Shape;456;p36"/>
          <p:cNvSpPr txBox="1"/>
          <p:nvPr/>
        </p:nvSpPr>
        <p:spPr>
          <a:xfrm>
            <a:off x="685800" y="1474470"/>
            <a:ext cx="411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541"/>
              </a:buClr>
              <a:buSzPts val="2300"/>
              <a:buFont typeface="Cambria"/>
              <a:buNone/>
            </a:pPr>
            <a:r>
              <a:rPr b="1" lang="en-GB" sz="2300">
                <a:solidFill>
                  <a:srgbClr val="F2A541"/>
                </a:solidFill>
                <a:latin typeface="Cambria"/>
                <a:ea typeface="Cambria"/>
                <a:cs typeface="Cambria"/>
                <a:sym typeface="Cambria"/>
              </a:rPr>
              <a:t>1</a:t>
            </a:r>
            <a:endParaRPr sz="2300">
              <a:solidFill>
                <a:schemeClr val="dk1"/>
              </a:solidFill>
              <a:latin typeface="Calibri"/>
              <a:ea typeface="Calibri"/>
              <a:cs typeface="Calibri"/>
              <a:sym typeface="Calibri"/>
            </a:endParaRPr>
          </a:p>
        </p:txBody>
      </p:sp>
      <p:sp>
        <p:nvSpPr>
          <p:cNvPr id="457" name="Google Shape;457;p36"/>
          <p:cNvSpPr txBox="1"/>
          <p:nvPr/>
        </p:nvSpPr>
        <p:spPr>
          <a:xfrm>
            <a:off x="685800" y="1920240"/>
            <a:ext cx="22631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GB" sz="1500">
                <a:solidFill>
                  <a:srgbClr val="FFFFFF"/>
                </a:solidFill>
                <a:latin typeface="Calibri"/>
                <a:ea typeface="Calibri"/>
                <a:cs typeface="Calibri"/>
                <a:sym typeface="Calibri"/>
              </a:rPr>
              <a:t>Clean first</a:t>
            </a:r>
            <a:endParaRPr sz="1500">
              <a:solidFill>
                <a:schemeClr val="dk1"/>
              </a:solidFill>
              <a:latin typeface="Calibri"/>
              <a:ea typeface="Calibri"/>
              <a:cs typeface="Calibri"/>
              <a:sym typeface="Calibri"/>
            </a:endParaRPr>
          </a:p>
        </p:txBody>
      </p:sp>
      <p:sp>
        <p:nvSpPr>
          <p:cNvPr id="458" name="Google Shape;458;p36"/>
          <p:cNvSpPr txBox="1"/>
          <p:nvPr/>
        </p:nvSpPr>
        <p:spPr>
          <a:xfrm>
            <a:off x="685800" y="2297430"/>
            <a:ext cx="22631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EF3F3"/>
              </a:buClr>
              <a:buSzPts val="1100"/>
              <a:buFont typeface="Calibri"/>
              <a:buNone/>
            </a:pPr>
            <a:r>
              <a:rPr lang="en-GB" sz="1100">
                <a:solidFill>
                  <a:srgbClr val="EEF3F3"/>
                </a:solidFill>
                <a:latin typeface="Calibri"/>
                <a:ea typeface="Calibri"/>
                <a:cs typeface="Calibri"/>
                <a:sym typeface="Calibri"/>
              </a:rPr>
              <a:t>Masking survey codes alone raised the original model from 0.734 to 0.749 AUC.</a:t>
            </a:r>
            <a:endParaRPr sz="1100">
              <a:solidFill>
                <a:schemeClr val="dk1"/>
              </a:solidFill>
              <a:latin typeface="Calibri"/>
              <a:ea typeface="Calibri"/>
              <a:cs typeface="Calibri"/>
              <a:sym typeface="Calibri"/>
            </a:endParaRPr>
          </a:p>
        </p:txBody>
      </p:sp>
      <p:sp>
        <p:nvSpPr>
          <p:cNvPr id="459" name="Google Shape;459;p36"/>
          <p:cNvSpPr/>
          <p:nvPr/>
        </p:nvSpPr>
        <p:spPr>
          <a:xfrm>
            <a:off x="3291840" y="1337310"/>
            <a:ext cx="2606040" cy="1988820"/>
          </a:xfrm>
          <a:prstGeom prst="roundRect">
            <a:avLst>
              <a:gd fmla="val 2759" name="adj"/>
            </a:avLst>
          </a:prstGeom>
          <a:solidFill>
            <a:srgbClr val="1D5560"/>
          </a:solidFill>
          <a:ln cap="flat" cmpd="sng" w="12700">
            <a:solidFill>
              <a:srgbClr val="1D556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0" name="Google Shape;460;p36"/>
          <p:cNvSpPr txBox="1"/>
          <p:nvPr/>
        </p:nvSpPr>
        <p:spPr>
          <a:xfrm>
            <a:off x="3497580" y="1474470"/>
            <a:ext cx="411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541"/>
              </a:buClr>
              <a:buSzPts val="2300"/>
              <a:buFont typeface="Cambria"/>
              <a:buNone/>
            </a:pPr>
            <a:r>
              <a:rPr b="1" lang="en-GB" sz="2300">
                <a:solidFill>
                  <a:srgbClr val="F2A541"/>
                </a:solidFill>
                <a:latin typeface="Cambria"/>
                <a:ea typeface="Cambria"/>
                <a:cs typeface="Cambria"/>
                <a:sym typeface="Cambria"/>
              </a:rPr>
              <a:t>2</a:t>
            </a:r>
            <a:endParaRPr sz="2300">
              <a:solidFill>
                <a:schemeClr val="dk1"/>
              </a:solidFill>
              <a:latin typeface="Calibri"/>
              <a:ea typeface="Calibri"/>
              <a:cs typeface="Calibri"/>
              <a:sym typeface="Calibri"/>
            </a:endParaRPr>
          </a:p>
        </p:txBody>
      </p:sp>
      <p:sp>
        <p:nvSpPr>
          <p:cNvPr id="461" name="Google Shape;461;p36"/>
          <p:cNvSpPr txBox="1"/>
          <p:nvPr/>
        </p:nvSpPr>
        <p:spPr>
          <a:xfrm>
            <a:off x="3497580" y="1920240"/>
            <a:ext cx="22631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GB" sz="1500">
                <a:solidFill>
                  <a:srgbClr val="FFFFFF"/>
                </a:solidFill>
                <a:latin typeface="Calibri"/>
                <a:ea typeface="Calibri"/>
                <a:cs typeface="Calibri"/>
                <a:sym typeface="Calibri"/>
              </a:rPr>
              <a:t>Information beats algorithm</a:t>
            </a:r>
            <a:endParaRPr sz="1500">
              <a:solidFill>
                <a:schemeClr val="dk1"/>
              </a:solidFill>
              <a:latin typeface="Calibri"/>
              <a:ea typeface="Calibri"/>
              <a:cs typeface="Calibri"/>
              <a:sym typeface="Calibri"/>
            </a:endParaRPr>
          </a:p>
        </p:txBody>
      </p:sp>
      <p:sp>
        <p:nvSpPr>
          <p:cNvPr id="462" name="Google Shape;462;p36"/>
          <p:cNvSpPr txBox="1"/>
          <p:nvPr/>
        </p:nvSpPr>
        <p:spPr>
          <a:xfrm>
            <a:off x="3497580" y="2297430"/>
            <a:ext cx="22631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EF3F3"/>
              </a:buClr>
              <a:buSzPts val="1100"/>
              <a:buFont typeface="Calibri"/>
              <a:buNone/>
            </a:pPr>
            <a:r>
              <a:rPr lang="en-GB" sz="1100">
                <a:solidFill>
                  <a:srgbClr val="EEF3F3"/>
                </a:solidFill>
                <a:latin typeface="Calibri"/>
                <a:ea typeface="Calibri"/>
                <a:cs typeface="Calibri"/>
                <a:sym typeface="Calibri"/>
              </a:rPr>
              <a:t>Functional indicators: 0.750 → 0.784. Algorithms differ by ≤ 0.01; PCA gives no gain.</a:t>
            </a:r>
            <a:endParaRPr sz="1100">
              <a:solidFill>
                <a:schemeClr val="dk1"/>
              </a:solidFill>
              <a:latin typeface="Calibri"/>
              <a:ea typeface="Calibri"/>
              <a:cs typeface="Calibri"/>
              <a:sym typeface="Calibri"/>
            </a:endParaRPr>
          </a:p>
        </p:txBody>
      </p:sp>
      <p:sp>
        <p:nvSpPr>
          <p:cNvPr id="463" name="Google Shape;463;p36"/>
          <p:cNvSpPr/>
          <p:nvPr/>
        </p:nvSpPr>
        <p:spPr>
          <a:xfrm>
            <a:off x="6103620" y="1337310"/>
            <a:ext cx="2606040" cy="1988820"/>
          </a:xfrm>
          <a:prstGeom prst="roundRect">
            <a:avLst>
              <a:gd fmla="val 2759" name="adj"/>
            </a:avLst>
          </a:prstGeom>
          <a:solidFill>
            <a:srgbClr val="1D5560"/>
          </a:solidFill>
          <a:ln cap="flat" cmpd="sng" w="12700">
            <a:solidFill>
              <a:srgbClr val="1D5560"/>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4" name="Google Shape;464;p36"/>
          <p:cNvSpPr txBox="1"/>
          <p:nvPr/>
        </p:nvSpPr>
        <p:spPr>
          <a:xfrm>
            <a:off x="6309360" y="1474470"/>
            <a:ext cx="411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541"/>
              </a:buClr>
              <a:buSzPts val="2300"/>
              <a:buFont typeface="Cambria"/>
              <a:buNone/>
            </a:pPr>
            <a:r>
              <a:rPr b="1" lang="en-GB" sz="2300">
                <a:solidFill>
                  <a:srgbClr val="F2A541"/>
                </a:solidFill>
                <a:latin typeface="Cambria"/>
                <a:ea typeface="Cambria"/>
                <a:cs typeface="Cambria"/>
                <a:sym typeface="Cambria"/>
              </a:rPr>
              <a:t>3</a:t>
            </a:r>
            <a:endParaRPr sz="2300">
              <a:solidFill>
                <a:schemeClr val="dk1"/>
              </a:solidFill>
              <a:latin typeface="Calibri"/>
              <a:ea typeface="Calibri"/>
              <a:cs typeface="Calibri"/>
              <a:sym typeface="Calibri"/>
            </a:endParaRPr>
          </a:p>
        </p:txBody>
      </p:sp>
      <p:sp>
        <p:nvSpPr>
          <p:cNvPr id="465" name="Google Shape;465;p36"/>
          <p:cNvSpPr txBox="1"/>
          <p:nvPr/>
        </p:nvSpPr>
        <p:spPr>
          <a:xfrm>
            <a:off x="6309360" y="1920240"/>
            <a:ext cx="22631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GB" sz="1500">
                <a:solidFill>
                  <a:srgbClr val="FFFFFF"/>
                </a:solidFill>
                <a:latin typeface="Calibri"/>
                <a:ea typeface="Calibri"/>
                <a:cs typeface="Calibri"/>
                <a:sym typeface="Calibri"/>
              </a:rPr>
              <a:t>Useful for screening</a:t>
            </a:r>
            <a:endParaRPr sz="1500">
              <a:solidFill>
                <a:schemeClr val="dk1"/>
              </a:solidFill>
              <a:latin typeface="Calibri"/>
              <a:ea typeface="Calibri"/>
              <a:cs typeface="Calibri"/>
              <a:sym typeface="Calibri"/>
            </a:endParaRPr>
          </a:p>
        </p:txBody>
      </p:sp>
      <p:sp>
        <p:nvSpPr>
          <p:cNvPr id="466" name="Google Shape;466;p36"/>
          <p:cNvSpPr txBox="1"/>
          <p:nvPr/>
        </p:nvSpPr>
        <p:spPr>
          <a:xfrm>
            <a:off x="6309360" y="2297430"/>
            <a:ext cx="22631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EF3F3"/>
              </a:buClr>
              <a:buSzPts val="1100"/>
              <a:buFont typeface="Calibri"/>
              <a:buNone/>
            </a:pPr>
            <a:r>
              <a:rPr lang="en-GB" sz="1100">
                <a:solidFill>
                  <a:srgbClr val="EEF3F3"/>
                </a:solidFill>
                <a:latin typeface="Calibri"/>
                <a:ea typeface="Calibri"/>
                <a:cs typeface="Calibri"/>
                <a:sym typeface="Calibri"/>
              </a:rPr>
              <a:t>Top 20% of predicted risk holds 56% of new cases; probabilities track observed rates.</a:t>
            </a:r>
            <a:endParaRPr sz="1100">
              <a:solidFill>
                <a:schemeClr val="dk1"/>
              </a:solidFill>
              <a:latin typeface="Calibri"/>
              <a:ea typeface="Calibri"/>
              <a:cs typeface="Calibri"/>
              <a:sym typeface="Calibri"/>
            </a:endParaRPr>
          </a:p>
        </p:txBody>
      </p:sp>
      <p:sp>
        <p:nvSpPr>
          <p:cNvPr id="467" name="Google Shape;467;p36"/>
          <p:cNvSpPr/>
          <p:nvPr/>
        </p:nvSpPr>
        <p:spPr>
          <a:xfrm>
            <a:off x="480060" y="3600450"/>
            <a:ext cx="8229600" cy="822960"/>
          </a:xfrm>
          <a:prstGeom prst="roundRect">
            <a:avLst>
              <a:gd fmla="val 6667" name="adj"/>
            </a:avLst>
          </a:prstGeom>
          <a:solidFill>
            <a:srgbClr val="157A82"/>
          </a:solidFill>
          <a:ln cap="flat" cmpd="sng" w="12700">
            <a:solidFill>
              <a:srgbClr val="157A8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68" name="Google Shape;468;p36"/>
          <p:cNvSpPr txBox="1"/>
          <p:nvPr/>
        </p:nvSpPr>
        <p:spPr>
          <a:xfrm>
            <a:off x="685800" y="3600450"/>
            <a:ext cx="7818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lang="en-GB" sz="1300">
                <a:solidFill>
                  <a:srgbClr val="FFFFFF"/>
                </a:solidFill>
                <a:latin typeface="Calibri"/>
                <a:ea typeface="Calibri"/>
                <a:cs typeface="Calibri"/>
                <a:sym typeface="Calibri"/>
              </a:rPr>
              <a:t>Recommendation: </a:t>
            </a:r>
            <a:r>
              <a:rPr lang="en-GB" sz="1300">
                <a:solidFill>
                  <a:srgbClr val="FFFFFF"/>
                </a:solidFill>
                <a:latin typeface="Calibri"/>
                <a:ea typeface="Calibri"/>
                <a:cs typeface="Calibri"/>
                <a:sym typeface="Calibri"/>
              </a:rPr>
              <a:t>screen adults 65+ with a few questions on mobility, large-muscle and IADL difficulties plus self-rated health, and target prevention at the highest-risk group. Use it to rank risk, not to diagnose individuals.</a:t>
            </a:r>
            <a:endParaRPr sz="13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7"/>
          <p:cNvSpPr txBox="1"/>
          <p:nvPr>
            <p:ph type="title"/>
          </p:nvPr>
        </p:nvSpPr>
        <p:spPr>
          <a:xfrm>
            <a:off x="570285" y="2138605"/>
            <a:ext cx="69951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600"/>
              <a:buFont typeface="Cambria"/>
              <a:buNone/>
            </a:pPr>
            <a:r>
              <a:rPr lang="en-GB"/>
              <a:t>Thank You !!</a:t>
            </a:r>
            <a:endParaRPr/>
          </a:p>
          <a:p>
            <a:pPr indent="0" lvl="0" marL="0" rtl="0" algn="l">
              <a:spcBef>
                <a:spcPts val="0"/>
              </a:spcBef>
              <a:spcAft>
                <a:spcPts val="0"/>
              </a:spcAft>
              <a:buClr>
                <a:schemeClr val="lt1"/>
              </a:buClr>
              <a:buSzPts val="2600"/>
              <a:buFont typeface="Cambria"/>
              <a:buNone/>
            </a:pPr>
            <a:r>
              <a:rPr b="1" lang="en-GB" sz="2600">
                <a:solidFill>
                  <a:schemeClr val="lt1"/>
                </a:solidFill>
                <a:latin typeface="Cambria"/>
                <a:ea typeface="Cambria"/>
                <a:cs typeface="Cambria"/>
                <a:sym typeface="Cambria"/>
              </a:rPr>
              <a:t>Questions</a:t>
            </a:r>
            <a:r>
              <a:rPr lang="en-GB"/>
              <a:t> are Welcome </a:t>
            </a:r>
            <a:endParaRPr sz="2600"/>
          </a:p>
        </p:txBody>
      </p:sp>
      <p:pic>
        <p:nvPicPr>
          <p:cNvPr id="475" name="Google Shape;475;p37"/>
          <p:cNvPicPr preferRelativeResize="0"/>
          <p:nvPr/>
        </p:nvPicPr>
        <p:blipFill>
          <a:blip r:embed="rId3">
            <a:alphaModFix/>
          </a:blip>
          <a:stretch>
            <a:fillRect/>
          </a:stretch>
        </p:blipFill>
        <p:spPr>
          <a:xfrm>
            <a:off x="4724975" y="1371250"/>
            <a:ext cx="4419025" cy="2220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8"/>
          <p:cNvSpPr txBox="1"/>
          <p:nvPr>
            <p:ph type="title"/>
          </p:nvPr>
        </p:nvSpPr>
        <p:spPr>
          <a:xfrm>
            <a:off x="411480" y="240030"/>
            <a:ext cx="7063740" cy="65151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100"/>
              <a:buFont typeface="Cambria"/>
              <a:buNone/>
            </a:pPr>
            <a:r>
              <a:rPr b="1" lang="en-GB" sz="2100">
                <a:solidFill>
                  <a:schemeClr val="dk2"/>
                </a:solidFill>
                <a:latin typeface="Cambria"/>
                <a:ea typeface="Cambria"/>
                <a:cs typeface="Cambria"/>
                <a:sym typeface="Cambria"/>
              </a:rPr>
              <a:t>References</a:t>
            </a:r>
            <a:endParaRPr sz="2100"/>
          </a:p>
        </p:txBody>
      </p:sp>
      <p:sp>
        <p:nvSpPr>
          <p:cNvPr id="482" name="Google Shape;482;p38"/>
          <p:cNvSpPr txBox="1"/>
          <p:nvPr/>
        </p:nvSpPr>
        <p:spPr>
          <a:xfrm>
            <a:off x="411480" y="1028700"/>
            <a:ext cx="8298180" cy="315468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SHARE-ERIC (2024). easySHARE. Release version: 9.0.0. SHARE-ERIC. Data set. DOI: 10.6103/SHARE.easy.900</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Gruber, S., Hunkler, C. &amp; Stuck, S. (2014). Generating easySHARE: guidelines, structure, content and programming. SHARE Working Paper Series 17-2014.</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Börsch-Supan, A. et al. (2013). Data resource profile: the Survey of Health, Ageing and Retirement in Europe (SHARE). International Journal of Epidemiology, 42(4), 992–1001.</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Katz, S. et al. (1963). Studies of illness in the aged. The index of ADL. JAMA, 185(12), 914–919.</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Cruz-Jentoft, A. J. et al. (2019). Sarcopenia: revised European consensus on definition and diagnosis (EWGSOP2). Age and Ageing, 48(1), 16–31.</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Vickers, A. J. &amp; Elkin, E. B. (2006). Decision curve analysis. Medical Decision Making, 26(6), 565–574.</a:t>
            </a:r>
            <a:endParaRPr sz="1100">
              <a:solidFill>
                <a:schemeClr val="dk1"/>
              </a:solidFill>
              <a:latin typeface="Calibri"/>
              <a:ea typeface="Calibri"/>
              <a:cs typeface="Calibri"/>
              <a:sym typeface="Calibri"/>
            </a:endParaRPr>
          </a:p>
          <a:p>
            <a:pPr indent="-260350" lvl="0" marL="254000" marR="0" rtl="0" algn="l">
              <a:spcBef>
                <a:spcPts val="600"/>
              </a:spcBef>
              <a:spcAft>
                <a:spcPts val="0"/>
              </a:spcAft>
              <a:buClr>
                <a:schemeClr val="dk1"/>
              </a:buClr>
              <a:buSzPts val="1100"/>
              <a:buFont typeface="Calibri"/>
              <a:buChar char="•"/>
            </a:pPr>
            <a:r>
              <a:rPr lang="en-GB" sz="1100">
                <a:solidFill>
                  <a:schemeClr val="dk1"/>
                </a:solidFill>
                <a:latin typeface="Calibri"/>
                <a:ea typeface="Calibri"/>
                <a:cs typeface="Calibri"/>
                <a:sym typeface="Calibri"/>
              </a:rPr>
              <a:t>Pedregosa, F. et al. (2011). Scikit-learn: machine learning in Python. Journal of Machine Learning Research, 12, 2825–2830.</a:t>
            </a:r>
            <a:endParaRPr sz="1100">
              <a:solidFill>
                <a:schemeClr val="dk1"/>
              </a:solidFill>
              <a:latin typeface="Calibri"/>
              <a:ea typeface="Calibri"/>
              <a:cs typeface="Calibri"/>
              <a:sym typeface="Calibri"/>
            </a:endParaRPr>
          </a:p>
        </p:txBody>
      </p:sp>
      <p:sp>
        <p:nvSpPr>
          <p:cNvPr id="483" name="Google Shape;483;p38"/>
          <p:cNvSpPr txBox="1"/>
          <p:nvPr/>
        </p:nvSpPr>
        <p:spPr>
          <a:xfrm>
            <a:off x="411480" y="3360420"/>
            <a:ext cx="829818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This presentation uses data from SHARE via the generated easySHARE data set (DOI: 10.6103/SHARE.easy.900); see Börsch-Supan et al. (2013) and Gruber et al. (2014) for methodological details.</a:t>
            </a:r>
            <a:endParaRPr sz="1100"/>
          </a:p>
          <a:p>
            <a:pPr indent="0" lvl="0" marL="0" marR="0" rtl="0" algn="l">
              <a:spcBef>
                <a:spcPts val="500"/>
              </a:spcBef>
              <a:spcAft>
                <a:spcPts val="0"/>
              </a:spcAft>
              <a:buClr>
                <a:srgbClr val="5F6F75"/>
              </a:buClr>
              <a:buSzPts val="800"/>
              <a:buFont typeface="Calibri"/>
              <a:buNone/>
            </a:pPr>
            <a:r>
              <a:rPr i="1" lang="en-GB" sz="800">
                <a:solidFill>
                  <a:srgbClr val="5F6F75"/>
                </a:solidFill>
                <a:latin typeface="Calibri"/>
                <a:ea typeface="Calibri"/>
                <a:cs typeface="Calibri"/>
                <a:sym typeface="Calibri"/>
              </a:rPr>
              <a:t>The SHARE data collection has been funded by the European Commission, DG RTD through FP5 (QLK6-CT-2001-00360), FP6 (SHARE-I3: RII-CT-2006-062193, COMPARE: CIT5-CT-2005-028857, SHARELIFE: CIT4-CT-2006-028812), FP7 (SHARE-PREP: GA N°211909, SHARE-LEAP: GA N°227822, SHARE M4: GA N°261982, DASISH: GA N°283646) and Horizon 2020 (SHARE-DEV3: GA N°676536, SHARE-COHESION: GA N°870628, SERISS: GA N°654221, SSHOC: GA N°823782, SHARE-COVID19: GA N°101015924) and by DG Employment, Social Affairs &amp; Inclusion through VS 2015/0195, VS 2016/0135, VS 2018/0285, VS 2019/0332, VS 2020/0313, SHARE-EUCOV: GA N°101052589 and EUCOVII: GA N°101102412. Additional funding from the German Federal Ministry of Research, Technology and Space (01UW1301, 01UW1801, 01UW2202), the Max Planck Society for the Advancement of Science, the U.S. National Institute on Aging (U01_AG09740-13S2, P01_AG005842, P01_AG08291, P30_AG12815, R21_AG025169, Y1-AG-4553-01, IAG_BSR06-11, OGHA_04-064, BSR12-04, R01_AG052527-02, R01_AG056329-02, R01_AG063944, HHSN271201300071C, RAG052527A) and from various national funding sources is gratefully acknowledged (see share-eric.eu).</a:t>
            </a:r>
            <a:endParaRPr sz="800">
              <a:solidFill>
                <a:schemeClr val="dk1"/>
              </a:solidFill>
              <a:latin typeface="Calibri"/>
              <a:ea typeface="Calibri"/>
              <a:cs typeface="Calibri"/>
              <a:sym typeface="Calibri"/>
            </a:endParaRPr>
          </a:p>
        </p:txBody>
      </p:sp>
      <p:sp>
        <p:nvSpPr>
          <p:cNvPr id="484" name="Google Shape;484;p38"/>
          <p:cNvSpPr txBox="1"/>
          <p:nvPr>
            <p:ph idx="4294967295" type="sldNum"/>
          </p:nvPr>
        </p:nvSpPr>
        <p:spPr>
          <a:xfrm>
            <a:off x="8435340" y="4800600"/>
            <a:ext cx="34290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lang="en-GB" sz="800">
                <a:solidFill>
                  <a:srgbClr val="5F6F75"/>
                </a:solidFill>
                <a:latin typeface="Calibri"/>
                <a:ea typeface="Calibri"/>
                <a:cs typeface="Calibri"/>
                <a:sym typeface="Calibri"/>
              </a:rPr>
              <a:t>‹#›</a:t>
            </a:fld>
            <a:endParaRPr sz="800">
              <a:solidFill>
                <a:srgbClr val="5F6F7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ADL Teal">
  <a:themeElements>
    <a:clrScheme name="ADL Teal">
      <a:dk1>
        <a:srgbClr val="1F2D33"/>
      </a:dk1>
      <a:lt1>
        <a:srgbClr val="FFFFFF"/>
      </a:lt1>
      <a:dk2>
        <a:srgbClr val="123B44"/>
      </a:dk2>
      <a:lt2>
        <a:srgbClr val="EEF3F3"/>
      </a:lt2>
      <a:accent1>
        <a:srgbClr val="157A82"/>
      </a:accent1>
      <a:accent2>
        <a:srgbClr val="E4572E"/>
      </a:accent2>
      <a:accent3>
        <a:srgbClr val="F2A541"/>
      </a:accent3>
      <a:accent4>
        <a:srgbClr val="7FA7A9"/>
      </a:accent4>
      <a:accent5>
        <a:srgbClr val="9AA5AB"/>
      </a:accent5>
      <a:accent6>
        <a:srgbClr val="3C6E71"/>
      </a:accent6>
      <a:hlink>
        <a:srgbClr val="157A82"/>
      </a:hlink>
      <a:folHlink>
        <a:srgbClr val="3C6E7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