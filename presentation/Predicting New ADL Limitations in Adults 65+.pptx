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63" r:id="rId4"/>
    <p:sldMasterId id="2147483664"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h2275696d7361a964_3_9: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5" name="Google Shape;65;h2275696d7361a964_3_9: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lang="en-GB" sz="1200">
                <a:solidFill>
                  <a:schemeClr val="dk1"/>
                </a:solidFill>
              </a:rPr>
              <a:t>Good morning, everyone! We are ZhiJie, Xiaomin, and Kani.</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sz="1200">
                <a:solidFill>
                  <a:schemeClr val="dk1"/>
                </a:solidFill>
              </a:rPr>
              <a:t>According to research, By 2035, one in four people in Germany will be 67 or older, that‘s why we conducted this research: Can we predict whether older adults will develop difficulties with everyday activities?</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sz="1200">
                <a:solidFill>
                  <a:schemeClr val="dk1"/>
                </a:solidFill>
              </a:rPr>
              <a:t>We focus on people aged 65 and above who can still manage daily activities independently, and try to predict whether they'll develop limitations by the next survey.</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sz="1200">
                <a:solidFill>
                  <a:schemeClr val="dk1"/>
                </a:solidFill>
              </a:rPr>
              <a:t>We used the easySHARE dataset, and here are three key numbers: over 115,000 observations, a final model AUC of 0.784, and 55.6% of new cases captured in the highest-risk 20%.</a:t>
            </a:r>
            <a:endParaRPr sz="1200">
              <a:solidFill>
                <a:schemeClr val="dk1"/>
              </a:solidFill>
            </a:endParaRPr>
          </a:p>
          <a:p>
            <a:pPr indent="0" lvl="0" marL="0" rtl="0" algn="l">
              <a:lnSpc>
                <a:spcPct val="115000"/>
              </a:lnSpc>
              <a:spcBef>
                <a:spcPts val="1200"/>
              </a:spcBef>
              <a:spcAft>
                <a:spcPts val="1200"/>
              </a:spcAft>
              <a:buSzPts val="1100"/>
              <a:buNone/>
            </a:pPr>
            <a:r>
              <a:rPr lang="en-GB" sz="1200">
                <a:solidFill>
                  <a:schemeClr val="dk1"/>
                </a:solidFill>
              </a:rPr>
              <a:t>I'll introduce the problem and data preparation. Then Xiaomin will cover the analysis and features, and Kani will present the models and results.</a:t>
            </a:r>
            <a:endParaRPr sz="1200">
              <a:solidFill>
                <a:schemeClr val="dk1"/>
              </a:solidFill>
            </a:endParaRPr>
          </a:p>
        </p:txBody>
      </p:sp>
      <p:sp>
        <p:nvSpPr>
          <p:cNvPr id="66" name="Google Shape;66;h2275696d7361a964_3_9: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GB"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h2275696d7361a964_3_27: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h2275696d7361a964_3_27: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lang="en-GB" sz="1200">
                <a:solidFill>
                  <a:schemeClr val="dk1"/>
                </a:solidFill>
              </a:rPr>
              <a:t>First, let's talk about Activities of Daily Living, or ADL.</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sz="1200">
                <a:solidFill>
                  <a:schemeClr val="dk1"/>
                </a:solidFill>
              </a:rPr>
              <a:t>These are basic everyday tasks, like getting dressed, bathing, eating, or moving around at home.</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sz="1200">
                <a:solidFill>
                  <a:schemeClr val="dk1"/>
                </a:solidFill>
              </a:rPr>
              <a:t>Our goal is to predict whether someone will develop a new ADL limitation, rather than how severe it might become.</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sz="1200">
                <a:solidFill>
                  <a:schemeClr val="dk1"/>
                </a:solidFill>
              </a:rPr>
              <a:t>We focus on people aged 65 and above who have no limitations at the beginning, and check whether they develop at least one by the next survey, usually around two years later.</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sz="1200">
                <a:solidFill>
                  <a:schemeClr val="dk1"/>
                </a:solidFill>
              </a:rPr>
              <a:t>We have three main goals: build a dataset that follows people over time, compare models using future survey data, and identify the factors that influence the risk.</a:t>
            </a:r>
            <a:endParaRPr sz="1200">
              <a:solidFill>
                <a:schemeClr val="dk1"/>
              </a:solidFill>
            </a:endParaRPr>
          </a:p>
          <a:p>
            <a:pPr indent="0" lvl="0" marL="0" rtl="0" algn="l">
              <a:lnSpc>
                <a:spcPct val="115000"/>
              </a:lnSpc>
              <a:spcBef>
                <a:spcPts val="1200"/>
              </a:spcBef>
              <a:spcAft>
                <a:spcPts val="1200"/>
              </a:spcAft>
              <a:buSzPts val="1100"/>
              <a:buNone/>
            </a:pPr>
            <a:r>
              <a:rPr lang="en-GB" sz="1200">
                <a:solidFill>
                  <a:schemeClr val="dk1"/>
                </a:solidFill>
              </a:rPr>
              <a:t>Now, let's look at our dataset.</a:t>
            </a:r>
            <a:endParaRPr sz="1200">
              <a:solidFill>
                <a:schemeClr val="dk1"/>
              </a:solidFill>
            </a:endParaRPr>
          </a:p>
        </p:txBody>
      </p:sp>
      <p:sp>
        <p:nvSpPr>
          <p:cNvPr id="83" name="Google Shape;83;h2275696d7361a964_3_27: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GB"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h2275696d7361a964_3_64: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0" name="Google Shape;120;h2275696d7361a964_3_64: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lang="en-GB" sz="1200">
                <a:solidFill>
                  <a:schemeClr val="dk1"/>
                </a:solidFill>
              </a:rPr>
              <a:t>The original easySHARE dataset contains around 488,000 interviews and 108 variables across nine survey waves.</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sz="1200">
                <a:solidFill>
                  <a:schemeClr val="dk1"/>
                </a:solidFill>
              </a:rPr>
              <a:t>We selected people aged 65 and above with no ADL limitations, then matched them with their next interview.</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sz="1200">
                <a:solidFill>
                  <a:schemeClr val="dk1"/>
                </a:solidFill>
              </a:rPr>
              <a:t>Since wave 3 doesn't include the ADL measure we need, we ended up with six transitions and more than 115,000 interview pairs.</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sz="1200">
                <a:solidFill>
                  <a:schemeClr val="dk1"/>
                </a:solidFill>
              </a:rPr>
              <a:t>Overall, almost 10 </a:t>
            </a:r>
            <a:r>
              <a:rPr lang="en-GB" sz="1200">
                <a:solidFill>
                  <a:schemeClr val="dk1"/>
                </a:solidFill>
              </a:rPr>
              <a:t>percent of them</a:t>
            </a:r>
            <a:r>
              <a:rPr lang="en-GB" sz="1200">
                <a:solidFill>
                  <a:schemeClr val="dk1"/>
                </a:solidFill>
              </a:rPr>
              <a:t> developed at least one new limitation, while some of them developed two or more.</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sz="1200">
                <a:solidFill>
                  <a:schemeClr val="dk1"/>
                </a:solidFill>
              </a:rPr>
              <a:t>As the chart shows, the rate stays around 8 to 11% across transitions, meaning our data is quite imbalanced.</a:t>
            </a:r>
            <a:endParaRPr sz="1200">
              <a:solidFill>
                <a:schemeClr val="dk1"/>
              </a:solidFill>
            </a:endParaRPr>
          </a:p>
          <a:p>
            <a:pPr indent="0" lvl="0" marL="0" rtl="0" algn="l">
              <a:lnSpc>
                <a:spcPct val="115000"/>
              </a:lnSpc>
              <a:spcBef>
                <a:spcPts val="1200"/>
              </a:spcBef>
              <a:spcAft>
                <a:spcPts val="1200"/>
              </a:spcAft>
              <a:buSzPts val="1100"/>
              <a:buNone/>
            </a:pPr>
            <a:r>
              <a:rPr lang="en-GB" sz="1200">
                <a:solidFill>
                  <a:schemeClr val="dk1"/>
                </a:solidFill>
              </a:rPr>
              <a:t>Also, not everyone returned for follow-up, and the time between interviews varies. So we're predicting limitations by the next survey, not within exactly two years.</a:t>
            </a:r>
            <a:endParaRPr sz="1200">
              <a:solidFill>
                <a:schemeClr val="dk1"/>
              </a:solidFill>
            </a:endParaRPr>
          </a:p>
        </p:txBody>
      </p:sp>
      <p:sp>
        <p:nvSpPr>
          <p:cNvPr id="121" name="Google Shape;121;h2275696d7361a964_3_64: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GB"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h2275696d7361a964_3_81: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8" name="Google Shape;138;h2275696d7361a964_3_81: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1200">
                <a:solidFill>
                  <a:schemeClr val="dk1"/>
                </a:solidFill>
              </a:rPr>
              <a:t>One important issue we found was how missing values were recorded.</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sz="1200">
                <a:solidFill>
                  <a:schemeClr val="dk1"/>
                </a:solidFill>
              </a:rPr>
              <a:t>In the dataset, missing answers are sometimes stored as negative numbers, like minus 10 or minus 15. At first, our model treated these as real values.</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sz="1200">
                <a:solidFill>
                  <a:schemeClr val="dk1"/>
                </a:solidFill>
              </a:rPr>
              <a:t>You can see the problem in the red charts, especially for grip strength and depression scores.</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sz="1200">
                <a:solidFill>
                  <a:schemeClr val="dk1"/>
                </a:solidFill>
              </a:rPr>
              <a:t>After correcting these values, the average depression score changed from 0.28 to 2.29.</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sz="1200">
                <a:solidFill>
                  <a:schemeClr val="dk1"/>
                </a:solidFill>
              </a:rPr>
              <a:t>More importantly, just fixing this issue improved our test AUC, without changing the model.</a:t>
            </a:r>
            <a:endParaRPr sz="1200">
              <a:solidFill>
                <a:schemeClr val="dk1"/>
              </a:solidFill>
            </a:endParaRPr>
          </a:p>
          <a:p>
            <a:pPr indent="0" lvl="0" marL="0" rtl="0" algn="l">
              <a:lnSpc>
                <a:spcPct val="115000"/>
              </a:lnSpc>
              <a:spcBef>
                <a:spcPts val="1200"/>
              </a:spcBef>
              <a:spcAft>
                <a:spcPts val="1200"/>
              </a:spcAft>
              <a:buSzPts val="1100"/>
              <a:buNone/>
            </a:pPr>
            <a:r>
              <a:rPr lang="en-GB" sz="1200">
                <a:solidFill>
                  <a:schemeClr val="dk1"/>
                </a:solidFill>
              </a:rPr>
              <a:t>We also found that 76% of eligible observations in wave 7 had missing depression scores. Kani will explain this later.</a:t>
            </a:r>
            <a:endParaRPr sz="1200">
              <a:solidFill>
                <a:schemeClr val="dk1"/>
              </a:solidFill>
            </a:endParaRPr>
          </a:p>
        </p:txBody>
      </p:sp>
      <p:sp>
        <p:nvSpPr>
          <p:cNvPr id="139" name="Google Shape;139;h2275696d7361a964_3_81: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GB"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h2275696d7361a964_3_99: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7" name="Google Shape;157;h2275696d7361a964_3_99: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lang="en-GB" sz="1200">
                <a:solidFill>
                  <a:schemeClr val="dk1"/>
                </a:solidFill>
              </a:rPr>
              <a:t>Since we're predicting future outcomes, we split the data by time instead of randomly.</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sz="1200">
                <a:solidFill>
                  <a:schemeClr val="dk1"/>
                </a:solidFill>
              </a:rPr>
              <a:t>We used around 45,500 interview pairs for training, 25,000 for validation, and 44,000 from the latest waves for testing.</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sz="1200">
                <a:solidFill>
                  <a:schemeClr val="dk1"/>
                </a:solidFill>
              </a:rPr>
              <a:t>For missing data, we chose to fill in the values rather than delete observations, since that would have removed around 40% of our extended dataset.</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sz="1200">
                <a:solidFill>
                  <a:schemeClr val="dk1"/>
                </a:solidFill>
              </a:rPr>
              <a:t>We also applied scaling, transformations for age and BMI, and country encoding.</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sz="1200">
                <a:solidFill>
                  <a:schemeClr val="dk1"/>
                </a:solidFill>
              </a:rPr>
              <a:t>All preprocessing was fitted only on the training data to avoid data leakage. We used validation data for tuning and household-level bootstrapping for confidence intervals.</a:t>
            </a:r>
            <a:endParaRPr sz="1200">
              <a:solidFill>
                <a:schemeClr val="dk1"/>
              </a:solidFill>
            </a:endParaRPr>
          </a:p>
          <a:p>
            <a:pPr indent="0" lvl="0" marL="0" rtl="0" algn="l">
              <a:lnSpc>
                <a:spcPct val="115000"/>
              </a:lnSpc>
              <a:spcBef>
                <a:spcPts val="1200"/>
              </a:spcBef>
              <a:spcAft>
                <a:spcPts val="1200"/>
              </a:spcAft>
              <a:buSzPts val="1100"/>
              <a:buNone/>
            </a:pPr>
            <a:r>
              <a:rPr lang="en-GB" sz="1200">
                <a:solidFill>
                  <a:schemeClr val="dk1"/>
                </a:solidFill>
              </a:rPr>
              <a:t>Now, I'll hand it over to Xiaomin.</a:t>
            </a:r>
            <a:endParaRPr sz="1200">
              <a:solidFill>
                <a:schemeClr val="dk1"/>
              </a:solidFill>
            </a:endParaRPr>
          </a:p>
        </p:txBody>
      </p:sp>
      <p:sp>
        <p:nvSpPr>
          <p:cNvPr id="158" name="Google Shape;158;h2275696d7361a964_3_99: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GB"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h7ce947beaf230dae_6_0: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3" name="Google Shape;173;h7ce947beaf230dae_6_0: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0"/>
              </a:spcBef>
              <a:spcAft>
                <a:spcPts val="0"/>
              </a:spcAft>
              <a:buClr>
                <a:schemeClr val="dk1"/>
              </a:buClr>
              <a:buSzPts val="1100"/>
              <a:buFont typeface="Arial"/>
              <a:buNone/>
            </a:pPr>
            <a:r>
              <a:rPr lang="en-GB"/>
              <a:t>The time interval between each pair is</a:t>
            </a:r>
            <a:r>
              <a:rPr lang="en-GB"/>
              <a:t> two years. </a:t>
            </a:r>
            <a:r>
              <a:rPr lang="en-GB"/>
              <a:t>We always pair two consecutive waves, so that the time between baseline and follow-up is about the same for everyone. We are using a longitudinal dataset.</a:t>
            </a:r>
            <a:endParaRPr/>
          </a:p>
          <a:p>
            <a:pPr indent="0" lvl="0" marL="0" rtl="0" algn="l">
              <a:lnSpc>
                <a:spcPct val="115000"/>
              </a:lnSpc>
              <a:spcBef>
                <a:spcPts val="800"/>
              </a:spcBef>
              <a:spcAft>
                <a:spcPts val="0"/>
              </a:spcAft>
              <a:buClr>
                <a:schemeClr val="dk1"/>
              </a:buClr>
              <a:buSzPts val="1100"/>
              <a:buFont typeface="Arial"/>
              <a:buNone/>
            </a:pPr>
            <a:r>
              <a:rPr lang="en-GB"/>
              <a:t>As mentioned before, we measure performance with the AUC, not with accuracy. Only 9.6 percent of the pairs develop a new limitation, which makes accuracy misleading: a model that simply predicts “nobody” is 91 percent accurate but does not find a single case. The AUC is the probability that a person who develops a limitation gets a higher predicted risk than a person who does not. 0.5 is chance, and 1 is perfect.</a:t>
            </a:r>
            <a:endParaRPr/>
          </a:p>
          <a:p>
            <a:pPr indent="0" lvl="0" marL="0" marR="0" rtl="0" algn="l">
              <a:spcBef>
                <a:spcPts val="800"/>
              </a:spcBef>
              <a:spcAft>
                <a:spcPts val="0"/>
              </a:spcAft>
              <a:buNone/>
            </a:pPr>
            <a:r>
              <a:t/>
            </a:r>
            <a:endParaRPr/>
          </a:p>
        </p:txBody>
      </p:sp>
      <p:sp>
        <p:nvSpPr>
          <p:cNvPr id="174" name="Google Shape;174;h7ce947beaf230dae_6_0: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GB"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h7ce947beaf230dae_6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GB"/>
              <a:t>Before modelling, we did an exploratory data analysis to see who develops a limitation.</a:t>
            </a:r>
            <a:endParaRPr/>
          </a:p>
          <a:p>
            <a:pPr indent="0" lvl="0" marL="0" rtl="0" algn="l">
              <a:lnSpc>
                <a:spcPct val="115000"/>
              </a:lnSpc>
              <a:spcBef>
                <a:spcPts val="800"/>
              </a:spcBef>
              <a:spcAft>
                <a:spcPts val="0"/>
              </a:spcAft>
              <a:buClr>
                <a:schemeClr val="dk1"/>
              </a:buClr>
              <a:buSzPts val="1100"/>
              <a:buFont typeface="Arial"/>
              <a:buNone/>
            </a:pPr>
            <a:r>
              <a:rPr lang="en-GB"/>
              <a:t>First, age: 5 percent of people aged 65 to 69 develop a new limitation by the next wave, compared with 26 percent of those aged 85 and over, five times as many.</a:t>
            </a:r>
            <a:endParaRPr/>
          </a:p>
          <a:p>
            <a:pPr indent="0" lvl="0" marL="0" rtl="0" algn="l">
              <a:lnSpc>
                <a:spcPct val="115000"/>
              </a:lnSpc>
              <a:spcBef>
                <a:spcPts val="800"/>
              </a:spcBef>
              <a:spcAft>
                <a:spcPts val="0"/>
              </a:spcAft>
              <a:buClr>
                <a:schemeClr val="dk1"/>
              </a:buClr>
              <a:buSzPts val="1100"/>
              <a:buFont typeface="Arial"/>
              <a:buNone/>
            </a:pPr>
            <a:r>
              <a:rPr lang="en-GB"/>
              <a:t>Second, self-rated health shows an even steeper gradient: from about 3 percent for excellent to 28 percent for poor health, roughly ten times.</a:t>
            </a:r>
            <a:endParaRPr/>
          </a:p>
          <a:p>
            <a:pPr indent="0" lvl="0" marL="0" rtl="0" algn="l">
              <a:lnSpc>
                <a:spcPct val="115000"/>
              </a:lnSpc>
              <a:spcBef>
                <a:spcPts val="800"/>
              </a:spcBef>
              <a:spcAft>
                <a:spcPts val="0"/>
              </a:spcAft>
              <a:buClr>
                <a:schemeClr val="dk1"/>
              </a:buClr>
              <a:buSzPts val="1100"/>
              <a:buFont typeface="Arial"/>
              <a:buNone/>
            </a:pPr>
            <a:r>
              <a:rPr lang="en-GB"/>
              <a:t>Third, people who hardly ever do vigorous activity develop a limitation almost three times as often as those who are active more than once a week.</a:t>
            </a:r>
            <a:endParaRPr/>
          </a:p>
          <a:p>
            <a:pPr indent="0" lvl="0" marL="0" rtl="0" algn="l">
              <a:lnSpc>
                <a:spcPct val="115000"/>
              </a:lnSpc>
              <a:spcBef>
                <a:spcPts val="800"/>
              </a:spcBef>
              <a:spcAft>
                <a:spcPts val="0"/>
              </a:spcAft>
              <a:buClr>
                <a:schemeClr val="dk1"/>
              </a:buClr>
              <a:buSzPts val="1100"/>
              <a:buFont typeface="Arial"/>
              <a:buNone/>
            </a:pPr>
            <a:r>
              <a:rPr lang="en-GB"/>
              <a:t>Finally, people who already receive help develop one about twice as often, 15 versus 8 percent.</a:t>
            </a:r>
            <a:endParaRPr/>
          </a:p>
          <a:p>
            <a:pPr indent="0" lvl="0" marL="0" rtl="0" algn="l">
              <a:lnSpc>
                <a:spcPct val="115000"/>
              </a:lnSpc>
              <a:spcBef>
                <a:spcPts val="800"/>
              </a:spcBef>
              <a:spcAft>
                <a:spcPts val="0"/>
              </a:spcAft>
              <a:buClr>
                <a:schemeClr val="dk1"/>
              </a:buClr>
              <a:buSzPts val="1100"/>
              <a:buFont typeface="Arial"/>
              <a:buNone/>
            </a:pPr>
            <a:r>
              <a:rPr lang="en-GB"/>
              <a:t>Even so, the best single variable, self-rated health, reaches an AUC of only 0.685, far from the 0.78 we reach later, so we have to combine variables.</a:t>
            </a:r>
            <a:endParaRPr/>
          </a:p>
          <a:p>
            <a:pPr indent="0" lvl="0" marL="0" rtl="0" algn="l">
              <a:lnSpc>
                <a:spcPct val="115000"/>
              </a:lnSpc>
              <a:spcBef>
                <a:spcPts val="800"/>
              </a:spcBef>
              <a:spcAft>
                <a:spcPts val="0"/>
              </a:spcAft>
              <a:buClr>
                <a:schemeClr val="dk1"/>
              </a:buClr>
              <a:buSzPts val="1100"/>
              <a:buFont typeface="Arial"/>
              <a:buNone/>
            </a:pPr>
            <a:r>
              <a:rPr lang="en-GB"/>
              <a:t>Keep in mind that these are descriptive associations, not causal effects.</a:t>
            </a:r>
            <a:endParaRPr/>
          </a:p>
          <a:p>
            <a:pPr indent="0" lvl="0" marL="0" rtl="0" algn="l">
              <a:spcBef>
                <a:spcPts val="800"/>
              </a:spcBef>
              <a:spcAft>
                <a:spcPts val="0"/>
              </a:spcAft>
              <a:buNone/>
            </a:pPr>
            <a:r>
              <a:t/>
            </a:r>
            <a:endParaRPr/>
          </a:p>
        </p:txBody>
      </p:sp>
      <p:sp>
        <p:nvSpPr>
          <p:cNvPr id="230" name="Google Shape;230;h7ce947beaf230dae_6_57:notes"/>
          <p:cNvSpPr/>
          <p:nvPr>
            <p:ph idx="2" type="sldImg"/>
          </p:nvPr>
        </p:nvSpPr>
        <p:spPr>
          <a:xfrm>
            <a:off x="857419" y="685800"/>
            <a:ext cx="3429169"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h7ce947beaf230dae_6_76: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0" name="Google Shape;250;h7ce947beaf230dae_6_76: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0"/>
              </a:spcBef>
              <a:spcAft>
                <a:spcPts val="0"/>
              </a:spcAft>
              <a:buClr>
                <a:schemeClr val="dk1"/>
              </a:buClr>
              <a:buSzPts val="1100"/>
              <a:buFont typeface="Arial"/>
              <a:buNone/>
            </a:pPr>
            <a:r>
              <a:rPr lang="en-GB"/>
              <a:t>In this step we did feature selection. Instead of putting all variables into one model, we built five nested feature sets, each adding one block of information, and fitted the same logistic regression on each. Because only one block changes at a time, the difference in AUC shows exactly what that block adds.</a:t>
            </a:r>
            <a:endParaRPr/>
          </a:p>
          <a:p>
            <a:pPr indent="0" lvl="0" marL="0" rtl="0" algn="l">
              <a:lnSpc>
                <a:spcPct val="115000"/>
              </a:lnSpc>
              <a:spcBef>
                <a:spcPts val="800"/>
              </a:spcBef>
              <a:spcAft>
                <a:spcPts val="0"/>
              </a:spcAft>
              <a:buClr>
                <a:schemeClr val="dk1"/>
              </a:buClr>
              <a:buSzPts val="1100"/>
              <a:buFont typeface="Arial"/>
              <a:buNone/>
            </a:pPr>
            <a:r>
              <a:rPr lang="en-GB"/>
              <a:t>Set A, a minimal health core with five variables, reaches an AUC of 0.739.</a:t>
            </a:r>
            <a:br>
              <a:rPr lang="en-GB"/>
            </a:br>
            <a:r>
              <a:rPr lang="en-GB"/>
              <a:t> Set B adds mental health, BMI, income and memory; these are the nine variables of our original project and our reference, with an AUC of 0.750.</a:t>
            </a:r>
            <a:br>
              <a:rPr lang="en-GB"/>
            </a:br>
            <a:r>
              <a:rPr lang="en-GB"/>
              <a:t> Set C adds the social and lifestyle context and reaches 0.763.</a:t>
            </a:r>
            <a:br>
              <a:rPr lang="en-GB"/>
            </a:br>
            <a:r>
              <a:rPr lang="en-GB"/>
              <a:t> Set D adds three indices of milder functional difficulty and jumps to 0.784, the largest single step.</a:t>
            </a:r>
            <a:br>
              <a:rPr lang="en-GB"/>
            </a:br>
            <a:r>
              <a:rPr lang="en-GB"/>
              <a:t> Set D+T adds how eight variables changed since the previous wave, but only reaches 0.790.</a:t>
            </a:r>
            <a:endParaRPr/>
          </a:p>
          <a:p>
            <a:pPr indent="0" lvl="0" marL="0" rtl="0" algn="l">
              <a:lnSpc>
                <a:spcPct val="115000"/>
              </a:lnSpc>
              <a:spcBef>
                <a:spcPts val="800"/>
              </a:spcBef>
              <a:spcAft>
                <a:spcPts val="0"/>
              </a:spcAft>
              <a:buClr>
                <a:schemeClr val="dk1"/>
              </a:buClr>
              <a:buSzPts val="1100"/>
              <a:buFont typeface="Arial"/>
              <a:buNone/>
            </a:pPr>
            <a:r>
              <a:rPr lang="en-GB"/>
              <a:t>We also tried a purely data-driven set, the twelve variables with the highest single AUC. It reached only 0.750, no better than B.</a:t>
            </a:r>
            <a:endParaRPr/>
          </a:p>
          <a:p>
            <a:pPr indent="0" lvl="0" marL="0" rtl="0" algn="l">
              <a:lnSpc>
                <a:spcPct val="115000"/>
              </a:lnSpc>
              <a:spcBef>
                <a:spcPts val="800"/>
              </a:spcBef>
              <a:spcAft>
                <a:spcPts val="0"/>
              </a:spcAft>
              <a:buClr>
                <a:schemeClr val="dk1"/>
              </a:buClr>
              <a:buSzPts val="1100"/>
              <a:buFont typeface="Arial"/>
              <a:buNone/>
            </a:pPr>
            <a:r>
              <a:rPr lang="en-GB"/>
              <a:t>So the functional difficulty indices bring the largest improvement, while changes over time add only a little, and selecting variables by domain knowledge works at least as well as automatic selection.</a:t>
            </a:r>
            <a:endParaRPr/>
          </a:p>
          <a:p>
            <a:pPr indent="0" lvl="0" marL="0" marR="0" rtl="0" algn="l">
              <a:spcBef>
                <a:spcPts val="800"/>
              </a:spcBef>
              <a:spcAft>
                <a:spcPts val="0"/>
              </a:spcAft>
              <a:buNone/>
            </a:pPr>
            <a:r>
              <a:t/>
            </a:r>
            <a:endParaRPr/>
          </a:p>
        </p:txBody>
      </p:sp>
      <p:sp>
        <p:nvSpPr>
          <p:cNvPr id="251" name="Google Shape;251;h7ce947beaf230dae_6_76: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GB"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h7ce947beaf230dae_6_99: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4" name="Google Shape;274;h7ce947beaf230dae_6_99: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0"/>
              </a:spcBef>
              <a:spcAft>
                <a:spcPts val="0"/>
              </a:spcAft>
              <a:buClr>
                <a:schemeClr val="dk1"/>
              </a:buClr>
              <a:buSzPts val="1100"/>
              <a:buFont typeface="Arial"/>
              <a:buNone/>
            </a:pPr>
            <a:r>
              <a:rPr lang="en-GB"/>
              <a:t>So, why do the functional indices help so much?</a:t>
            </a:r>
            <a:endParaRPr/>
          </a:p>
          <a:p>
            <a:pPr indent="0" lvl="0" marL="0" rtl="0" algn="l">
              <a:lnSpc>
                <a:spcPct val="115000"/>
              </a:lnSpc>
              <a:spcBef>
                <a:spcPts val="800"/>
              </a:spcBef>
              <a:spcAft>
                <a:spcPts val="0"/>
              </a:spcAft>
              <a:buClr>
                <a:schemeClr val="dk1"/>
              </a:buClr>
              <a:buSzPts val="1100"/>
              <a:buFont typeface="Arial"/>
              <a:buNone/>
            </a:pPr>
            <a:r>
              <a:rPr lang="en-GB"/>
              <a:t>Everyone in our data has no ADL limitation at baseline, but many already have milder difficulties, for example climbing stairs, walking 100 metres or rising from a chair.</a:t>
            </a:r>
            <a:endParaRPr/>
          </a:p>
          <a:p>
            <a:pPr indent="0" lvl="0" marL="0" rtl="0" algn="l">
              <a:lnSpc>
                <a:spcPct val="115000"/>
              </a:lnSpc>
              <a:spcBef>
                <a:spcPts val="800"/>
              </a:spcBef>
              <a:spcAft>
                <a:spcPts val="0"/>
              </a:spcAft>
              <a:buClr>
                <a:schemeClr val="dk1"/>
              </a:buClr>
              <a:buSzPts val="1100"/>
              <a:buFont typeface="Arial"/>
              <a:buNone/>
            </a:pPr>
            <a:r>
              <a:rPr lang="en-GB"/>
              <a:t>The chart shows a clear dose-response: with no mobility difficulty, 6 percent develop a limitation; with three or more, 35 percent. The large-muscle index shows the same pattern.</a:t>
            </a:r>
            <a:endParaRPr/>
          </a:p>
          <a:p>
            <a:pPr indent="0" lvl="0" marL="0" rtl="0" algn="l">
              <a:lnSpc>
                <a:spcPct val="115000"/>
              </a:lnSpc>
              <a:spcBef>
                <a:spcPts val="800"/>
              </a:spcBef>
              <a:spcAft>
                <a:spcPts val="0"/>
              </a:spcAft>
              <a:buClr>
                <a:schemeClr val="dk1"/>
              </a:buClr>
              <a:buSzPts val="1100"/>
              <a:buFont typeface="Arial"/>
              <a:buNone/>
            </a:pPr>
            <a:r>
              <a:rPr lang="en-GB"/>
              <a:t>Adding these indices raises the AUC by 0.021 on top of set C, and by 0.033 over the original variables. This is not leakage, because they are measured at baseline, before the outcome.</a:t>
            </a:r>
            <a:endParaRPr/>
          </a:p>
          <a:p>
            <a:pPr indent="0" lvl="0" marL="0" rtl="0" algn="l">
              <a:lnSpc>
                <a:spcPct val="115000"/>
              </a:lnSpc>
              <a:spcBef>
                <a:spcPts val="800"/>
              </a:spcBef>
              <a:spcAft>
                <a:spcPts val="0"/>
              </a:spcAft>
              <a:buClr>
                <a:schemeClr val="dk1"/>
              </a:buClr>
              <a:buSzPts val="1100"/>
              <a:buFont typeface="Arial"/>
              <a:buNone/>
            </a:pPr>
            <a:r>
              <a:rPr lang="en-GB"/>
              <a:t>These results suggest that disability develops step by step, and mild difficulties come first.</a:t>
            </a:r>
            <a:endParaRPr/>
          </a:p>
          <a:p>
            <a:pPr indent="0" lvl="0" marL="0" marR="0" rtl="0" algn="l">
              <a:spcBef>
                <a:spcPts val="800"/>
              </a:spcBef>
              <a:spcAft>
                <a:spcPts val="0"/>
              </a:spcAft>
              <a:buNone/>
            </a:pPr>
            <a:r>
              <a:t/>
            </a:r>
            <a:endParaRPr/>
          </a:p>
        </p:txBody>
      </p:sp>
      <p:sp>
        <p:nvSpPr>
          <p:cNvPr id="275" name="Google Shape;275;h7ce947beaf230dae_6_99: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GB"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h7ce947beaf230dae_6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GB"/>
              <a:t>Moving on to dimension reduction.</a:t>
            </a:r>
            <a:endParaRPr/>
          </a:p>
          <a:p>
            <a:pPr indent="0" lvl="0" marL="0" rtl="0" algn="l">
              <a:lnSpc>
                <a:spcPct val="115000"/>
              </a:lnSpc>
              <a:spcBef>
                <a:spcPts val="800"/>
              </a:spcBef>
              <a:spcAft>
                <a:spcPts val="0"/>
              </a:spcAft>
              <a:buClr>
                <a:schemeClr val="dk1"/>
              </a:buClr>
              <a:buSzPts val="1100"/>
              <a:buFont typeface="Arial"/>
              <a:buNone/>
            </a:pPr>
            <a:r>
              <a:rPr lang="en-GB"/>
              <a:t>PCA only helps if predictors are strongly correlated, so that a few components carry most of the information. This matrix shows the correlations between our eight main predictors.</a:t>
            </a:r>
            <a:endParaRPr/>
          </a:p>
          <a:p>
            <a:pPr indent="0" lvl="0" marL="0" rtl="0" algn="l">
              <a:lnSpc>
                <a:spcPct val="115000"/>
              </a:lnSpc>
              <a:spcBef>
                <a:spcPts val="800"/>
              </a:spcBef>
              <a:spcAft>
                <a:spcPts val="0"/>
              </a:spcAft>
              <a:buClr>
                <a:schemeClr val="dk1"/>
              </a:buClr>
              <a:buSzPts val="1100"/>
              <a:buFont typeface="Arial"/>
              <a:buNone/>
            </a:pPr>
            <a:r>
              <a:rPr lang="en-GB"/>
              <a:t>So there is little redundancy: each variable carries its own information, and that is exactly why PCA cannot compress them.</a:t>
            </a:r>
            <a:endParaRPr/>
          </a:p>
          <a:p>
            <a:pPr indent="0" lvl="0" marL="0" rtl="0" algn="l">
              <a:spcBef>
                <a:spcPts val="800"/>
              </a:spcBef>
              <a:spcAft>
                <a:spcPts val="0"/>
              </a:spcAft>
              <a:buNone/>
            </a:pPr>
            <a:r>
              <a:t/>
            </a:r>
            <a:endParaRPr/>
          </a:p>
        </p:txBody>
      </p:sp>
      <p:sp>
        <p:nvSpPr>
          <p:cNvPr id="292" name="Google Shape;292;h7ce947beaf230dae_6_116:notes"/>
          <p:cNvSpPr/>
          <p:nvPr>
            <p:ph idx="2" type="sldImg"/>
          </p:nvPr>
        </p:nvSpPr>
        <p:spPr>
          <a:xfrm>
            <a:off x="857419" y="685800"/>
            <a:ext cx="3429169"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h7ce947beaf230dae_6_121: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8" name="Google Shape;298;h7ce947beaf230dae_6_121: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0"/>
              </a:spcBef>
              <a:spcAft>
                <a:spcPts val="0"/>
              </a:spcAft>
              <a:buClr>
                <a:schemeClr val="dk1"/>
              </a:buClr>
              <a:buSzPts val="1100"/>
              <a:buFont typeface="Arial"/>
              <a:buNone/>
            </a:pPr>
            <a:r>
              <a:rPr lang="en-GB"/>
              <a:t>Here are the results.</a:t>
            </a:r>
            <a:endParaRPr/>
          </a:p>
          <a:p>
            <a:pPr indent="0" lvl="0" marL="0" rtl="0" algn="l">
              <a:lnSpc>
                <a:spcPct val="115000"/>
              </a:lnSpc>
              <a:spcBef>
                <a:spcPts val="800"/>
              </a:spcBef>
              <a:spcAft>
                <a:spcPts val="0"/>
              </a:spcAft>
              <a:buClr>
                <a:schemeClr val="dk1"/>
              </a:buClr>
              <a:buSzPts val="1100"/>
              <a:buFont typeface="Arial"/>
              <a:buNone/>
            </a:pPr>
            <a:r>
              <a:rPr lang="en-GB"/>
              <a:t>The scree plot on the left shows the eigenvalues of the eight components: only two are above one,</a:t>
            </a:r>
            <a:endParaRPr/>
          </a:p>
          <a:p>
            <a:pPr indent="0" lvl="0" marL="0" rtl="0" algn="l">
              <a:lnSpc>
                <a:spcPct val="115000"/>
              </a:lnSpc>
              <a:spcBef>
                <a:spcPts val="800"/>
              </a:spcBef>
              <a:spcAft>
                <a:spcPts val="0"/>
              </a:spcAft>
              <a:buClr>
                <a:schemeClr val="dk1"/>
              </a:buClr>
              <a:buSzPts val="1100"/>
              <a:buFont typeface="Arial"/>
              <a:buNone/>
            </a:pPr>
            <a:r>
              <a:rPr lang="en-GB"/>
              <a:t>and we need seven of eight components to keep 90 percent of the variance. The right panel shows the validation AUC of PCA plus logistic regression for each number of components.</a:t>
            </a:r>
            <a:endParaRPr/>
          </a:p>
          <a:p>
            <a:pPr indent="0" lvl="0" marL="0" rtl="0" algn="l">
              <a:lnSpc>
                <a:spcPct val="115000"/>
              </a:lnSpc>
              <a:spcBef>
                <a:spcPts val="800"/>
              </a:spcBef>
              <a:spcAft>
                <a:spcPts val="0"/>
              </a:spcAft>
              <a:buClr>
                <a:schemeClr val="dk1"/>
              </a:buClr>
              <a:buSzPts val="1100"/>
              <a:buFont typeface="Arial"/>
              <a:buNone/>
            </a:pPr>
            <a:r>
              <a:rPr lang="en-GB"/>
              <a:t>It rises as we keep more components, is best with all eight, which means no compression at all,</a:t>
            </a:r>
            <a:endParaRPr/>
          </a:p>
          <a:p>
            <a:pPr indent="0" lvl="0" marL="0" rtl="0" algn="l">
              <a:lnSpc>
                <a:spcPct val="115000"/>
              </a:lnSpc>
              <a:spcBef>
                <a:spcPts val="800"/>
              </a:spcBef>
              <a:spcAft>
                <a:spcPts val="0"/>
              </a:spcAft>
              <a:buClr>
                <a:schemeClr val="dk1"/>
              </a:buClr>
              <a:buSzPts val="1100"/>
              <a:buFont typeface="Arial"/>
              <a:buNone/>
            </a:pPr>
            <a:r>
              <a:rPr lang="en-GB"/>
              <a:t>From the green dashed line. We repeated this for the larger sets with the same result, and the test AUC is 0.001 to 0.002 lower.</a:t>
            </a:r>
            <a:endParaRPr/>
          </a:p>
          <a:p>
            <a:pPr indent="0" lvl="0" marL="0" rtl="0" algn="l">
              <a:lnSpc>
                <a:spcPct val="115000"/>
              </a:lnSpc>
              <a:spcBef>
                <a:spcPts val="800"/>
              </a:spcBef>
              <a:spcAft>
                <a:spcPts val="0"/>
              </a:spcAft>
              <a:buClr>
                <a:schemeClr val="dk1"/>
              </a:buClr>
              <a:buSzPts val="1100"/>
              <a:buFont typeface="Arial"/>
              <a:buNone/>
            </a:pPr>
            <a:r>
              <a:rPr lang="en-GB"/>
              <a:t>PCA would also cost us interpretability, because components have no odds ratios. To make sure we understand the methods, we also implemented PCA and logistic regression ourselves in NumPy; both reproduce scikit-learn. So we keep the original variables, and [name] will now show how the models compare.</a:t>
            </a:r>
            <a:endParaRPr/>
          </a:p>
          <a:p>
            <a:pPr indent="0" lvl="0" marL="0" marR="0" rtl="0" algn="l">
              <a:spcBef>
                <a:spcPts val="800"/>
              </a:spcBef>
              <a:spcAft>
                <a:spcPts val="0"/>
              </a:spcAft>
              <a:buNone/>
            </a:pPr>
            <a:r>
              <a:t/>
            </a:r>
            <a:endParaRPr/>
          </a:p>
        </p:txBody>
      </p:sp>
      <p:sp>
        <p:nvSpPr>
          <p:cNvPr id="299" name="Google Shape;299;h7ce947beaf230dae_6_121: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GB"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h2275696d7361a964_3_191: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9" name="Google Shape;319;h2275696d7361a964_3_191: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br>
              <a:rPr lang="en-GB" sz="1200">
                <a:solidFill>
                  <a:schemeClr val="dk1"/>
                </a:solidFill>
                <a:latin typeface="Arial"/>
                <a:ea typeface="Arial"/>
                <a:cs typeface="Arial"/>
                <a:sym typeface="Arial"/>
              </a:rPr>
            </a:br>
            <a:r>
              <a:rPr lang="en-GB" sz="1200">
                <a:solidFill>
                  <a:schemeClr val="dk1"/>
                </a:solidFill>
                <a:latin typeface="Arial"/>
                <a:ea typeface="Arial"/>
                <a:cs typeface="Arial"/>
                <a:sym typeface="Arial"/>
              </a:rPr>
              <a:t>Thank you, Xiaomin. </a:t>
            </a:r>
            <a:r>
              <a:rPr lang="en-GB" sz="1200">
                <a:solidFill>
                  <a:schemeClr val="dk1"/>
                </a:solidFill>
              </a:rPr>
              <a:t>We first checked whether our models beat two simple comparisons. If we predict that nobody develops ADL problems, we get 90.95% accuracy, but we miss every real case. So accuracy is not enough. </a:t>
            </a:r>
            <a:endParaRPr sz="1200">
              <a:solidFill>
                <a:schemeClr val="dk1"/>
              </a:solidFill>
            </a:endParaRPr>
          </a:p>
          <a:p>
            <a:pPr indent="0" lvl="0" marL="0" marR="0" rtl="0" algn="l">
              <a:spcBef>
                <a:spcPts val="0"/>
              </a:spcBef>
              <a:spcAft>
                <a:spcPts val="0"/>
              </a:spcAft>
              <a:buNone/>
            </a:pPr>
            <a:r>
              <a:t/>
            </a:r>
            <a:endParaRPr sz="1200">
              <a:solidFill>
                <a:schemeClr val="dk1"/>
              </a:solidFill>
            </a:endParaRPr>
          </a:p>
          <a:p>
            <a:pPr indent="0" lvl="0" marL="0" marR="0" rtl="0" algn="l">
              <a:spcBef>
                <a:spcPts val="0"/>
              </a:spcBef>
              <a:spcAft>
                <a:spcPts val="0"/>
              </a:spcAft>
              <a:buNone/>
            </a:pPr>
            <a:r>
              <a:rPr lang="en-GB" sz="1200">
                <a:solidFill>
                  <a:schemeClr val="dk1"/>
                </a:solidFill>
              </a:rPr>
              <a:t>Our second comparison uses only age and scores 0.666 AUC. We then compared four types of models, with 15 configurations. All were checked on the same future test data.</a:t>
            </a:r>
            <a:endParaRPr sz="1200">
              <a:solidFill>
                <a:schemeClr val="dk1"/>
              </a:solidFill>
            </a:endParaRPr>
          </a:p>
          <a:p>
            <a:pPr indent="0" lvl="0" marL="0" marR="0" rtl="0" algn="l">
              <a:spcBef>
                <a:spcPts val="0"/>
              </a:spcBef>
              <a:spcAft>
                <a:spcPts val="0"/>
              </a:spcAft>
              <a:buNone/>
            </a:pPr>
            <a:r>
              <a:t/>
            </a:r>
            <a:endParaRPr/>
          </a:p>
        </p:txBody>
      </p:sp>
      <p:sp>
        <p:nvSpPr>
          <p:cNvPr id="320" name="Google Shape;320;h2275696d7361a964_3_191: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GB"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h2275696d7361a964_3_213: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2" name="Google Shape;342;h2275696d7361a964_3_213: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lang="en-GB" sz="1200">
                <a:solidFill>
                  <a:schemeClr val="dk1"/>
                </a:solidFill>
              </a:rPr>
              <a:t>“This is our main result. Each bar is one model; the colour shows what information it got.</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sz="1200">
                <a:solidFill>
                  <a:schemeClr val="dk1"/>
                </a:solidFill>
              </a:rPr>
              <a:t>Look within one colour: different algorithms — logistic regression, random forest, PCA — score almost exactly the same. Changing the method changes the score by at most 0.01.</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sz="1200">
                <a:solidFill>
                  <a:schemeClr val="dk1"/>
                </a:solidFill>
              </a:rPr>
              <a:t>Now look across colours: giving the model more useful information makes a much bigger difference. Adding early functional difficulties, like trouble climbing stairs or managing money, raised the AUC from 0.750 to 0.784 — three times more than any change of algorithm.</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sz="1200">
                <a:solidFill>
                  <a:schemeClr val="dk1"/>
                </a:solidFill>
              </a:rPr>
              <a:t>So our final model, in orange, is simple logistic regression with these functional questions. The top bar is only slightly better and needs an extra earlier interview for every person, so it isn’t worth it.</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sz="1200">
                <a:solidFill>
                  <a:schemeClr val="dk1"/>
                </a:solidFill>
              </a:rPr>
              <a:t>In short: better questions beat a fancier model.”</a:t>
            </a:r>
            <a:endParaRPr sz="1200">
              <a:solidFill>
                <a:schemeClr val="dk1"/>
              </a:solidFill>
            </a:endParaRPr>
          </a:p>
          <a:p>
            <a:pPr indent="0" lvl="0" marL="0" marR="0" rtl="0" algn="l">
              <a:spcBef>
                <a:spcPts val="1200"/>
              </a:spcBef>
              <a:spcAft>
                <a:spcPts val="0"/>
              </a:spcAft>
              <a:buNone/>
            </a:pPr>
            <a:r>
              <a:t/>
            </a:r>
            <a:endParaRPr sz="1200">
              <a:solidFill>
                <a:schemeClr val="dk1"/>
              </a:solidFill>
            </a:endParaRPr>
          </a:p>
        </p:txBody>
      </p:sp>
      <p:sp>
        <p:nvSpPr>
          <p:cNvPr id="343" name="Google Shape;343;h2275696d7361a964_3_213: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GB"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h2275696d7361a964_3_229: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9" name="Google Shape;359;h2275696d7361a964_3_229: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1200">
                <a:solidFill>
                  <a:schemeClr val="dk1"/>
                </a:solidFill>
              </a:rPr>
              <a:t>Our final model scored 0.784 ROC-AUC on later waves it had not been trained on. </a:t>
            </a:r>
            <a:endParaRPr sz="1200">
              <a:solidFill>
                <a:schemeClr val="dk1"/>
              </a:solidFill>
            </a:endParaRPr>
          </a:p>
          <a:p>
            <a:pPr indent="0" lvl="0" marL="0" marR="0" rtl="0" algn="l">
              <a:spcBef>
                <a:spcPts val="0"/>
              </a:spcBef>
              <a:spcAft>
                <a:spcPts val="0"/>
              </a:spcAft>
              <a:buNone/>
            </a:pPr>
            <a:r>
              <a:t/>
            </a:r>
            <a:endParaRPr sz="1200">
              <a:solidFill>
                <a:schemeClr val="dk1"/>
              </a:solidFill>
            </a:endParaRPr>
          </a:p>
          <a:p>
            <a:pPr indent="0" lvl="0" marL="0" marR="0" rtl="0" algn="l">
              <a:spcBef>
                <a:spcPts val="0"/>
              </a:spcBef>
              <a:spcAft>
                <a:spcPts val="0"/>
              </a:spcAft>
              <a:buNone/>
            </a:pPr>
            <a:r>
              <a:rPr lang="en-GB" sz="1200">
                <a:solidFill>
                  <a:schemeClr val="dk1"/>
                </a:solidFill>
              </a:rPr>
              <a:t>We ranked everyone from lowest to highest predicted risk and split them into ten equal groups. In the safest group, only 1 in 100 developed a limitation. In the riskiest group, it was 1 in 3. And the top two groups together contained more than half of all new cases.</a:t>
            </a:r>
            <a:endParaRPr sz="1200">
              <a:solidFill>
                <a:schemeClr val="dk1"/>
              </a:solidFill>
            </a:endParaRPr>
          </a:p>
          <a:p>
            <a:pPr indent="0" lvl="0" marL="0" marR="0" rtl="0" algn="l">
              <a:spcBef>
                <a:spcPts val="0"/>
              </a:spcBef>
              <a:spcAft>
                <a:spcPts val="0"/>
              </a:spcAft>
              <a:buNone/>
            </a:pPr>
            <a:r>
              <a:t/>
            </a:r>
            <a:endParaRPr sz="1200">
              <a:solidFill>
                <a:schemeClr val="dk1"/>
              </a:solidFill>
            </a:endParaRPr>
          </a:p>
          <a:p>
            <a:pPr indent="0" lvl="0" marL="0" marR="0" rtl="0" algn="l">
              <a:spcBef>
                <a:spcPts val="0"/>
              </a:spcBef>
              <a:spcAft>
                <a:spcPts val="0"/>
              </a:spcAft>
              <a:buNone/>
            </a:pPr>
            <a:r>
              <a:rPr lang="en-GB" sz="1200">
                <a:solidFill>
                  <a:schemeClr val="dk1"/>
                </a:solidFill>
              </a:rPr>
              <a:t>This means the model could help decide whom to invite for extra assessment, not diagnose individuals.</a:t>
            </a:r>
            <a:r>
              <a:rPr lang="en-GB" sz="1100">
                <a:solidFill>
                  <a:schemeClr val="dk1"/>
                </a:solidFill>
              </a:rPr>
              <a:t> </a:t>
            </a:r>
            <a:endParaRPr/>
          </a:p>
        </p:txBody>
      </p:sp>
      <p:sp>
        <p:nvSpPr>
          <p:cNvPr id="360" name="Google Shape;360;h2275696d7361a964_3_229: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GB"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h2275696d7361a964_3_245: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6" name="Google Shape;376;h2275696d7361a964_3_245: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0"/>
              </a:spcBef>
              <a:spcAft>
                <a:spcPts val="0"/>
              </a:spcAft>
              <a:buClr>
                <a:schemeClr val="dk1"/>
              </a:buClr>
              <a:buSzPts val="1100"/>
              <a:buFont typeface="Arial"/>
              <a:buNone/>
            </a:pPr>
            <a:r>
              <a:rPr lang="en-GB" sz="1200">
                <a:solidFill>
                  <a:schemeClr val="dk1"/>
                </a:solidFill>
              </a:rPr>
              <a:t>Now we ask which information matters most. On the left, we shuffle one variable and see how much the model gets worse.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GB" sz="1200">
                <a:solidFill>
                  <a:schemeClr val="dk1"/>
                </a:solidFill>
              </a:rPr>
              <a:t>Among these variables , Age and large-muscle difficulties cause the biggest drops.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GB" sz="1200">
                <a:solidFill>
                  <a:schemeClr val="dk1"/>
                </a:solidFill>
              </a:rPr>
              <a:t>On the right, odds ratios describe how a characteristic relates to the odds of a future limitation, after accounting for other model variables.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GB" sz="1200">
                <a:solidFill>
                  <a:schemeClr val="dk1"/>
                </a:solidFill>
              </a:rPr>
              <a:t>For example One extra IADL difficulty has an odds ratio of 1.44, meaning 44% higher odds, not 44 percentage points higher probability.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GB" sz="1100">
                <a:solidFill>
                  <a:schemeClr val="dk1"/>
                </a:solidFill>
              </a:rPr>
              <a:t>The model shows that people with IADL difficulties are </a:t>
            </a:r>
            <a:r>
              <a:rPr i="1" lang="en-GB" sz="1100">
                <a:solidFill>
                  <a:schemeClr val="dk1"/>
                </a:solidFill>
              </a:rPr>
              <a:t>more likely</a:t>
            </a:r>
            <a:r>
              <a:rPr lang="en-GB" sz="1100">
                <a:solidFill>
                  <a:schemeClr val="dk1"/>
                </a:solidFill>
              </a:rPr>
              <a:t> to develop an ADL limitation later. It doesn’t show that the IADL difficulty </a:t>
            </a:r>
            <a:r>
              <a:rPr i="1" lang="en-GB" sz="1100">
                <a:solidFill>
                  <a:schemeClr val="dk1"/>
                </a:solidFill>
              </a:rPr>
              <a:t>causes</a:t>
            </a:r>
            <a:r>
              <a:rPr lang="en-GB" sz="1100">
                <a:solidFill>
                  <a:schemeClr val="dk1"/>
                </a:solidFill>
              </a:rPr>
              <a:t> it. Both are probably driven by something underneath, such as frailty, illness or cognitive decline.</a:t>
            </a:r>
            <a:endParaRPr sz="11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GB" sz="1200">
                <a:solidFill>
                  <a:schemeClr val="dk1"/>
                </a:solidFill>
              </a:rPr>
              <a:t>These are associations, not proof of cause.</a:t>
            </a:r>
            <a:endParaRPr sz="1200">
              <a:solidFill>
                <a:schemeClr val="dk1"/>
              </a:solidFill>
            </a:endParaRPr>
          </a:p>
          <a:p>
            <a:pPr indent="0" lvl="0" marL="0" marR="0" rtl="0" algn="l">
              <a:spcBef>
                <a:spcPts val="0"/>
              </a:spcBef>
              <a:spcAft>
                <a:spcPts val="0"/>
              </a:spcAft>
              <a:buNone/>
            </a:pPr>
            <a:r>
              <a:t/>
            </a:r>
            <a:endParaRPr sz="1200">
              <a:solidFill>
                <a:schemeClr val="dk1"/>
              </a:solidFill>
            </a:endParaRPr>
          </a:p>
        </p:txBody>
      </p:sp>
      <p:sp>
        <p:nvSpPr>
          <p:cNvPr id="377" name="Google Shape;377;h2275696d7361a964_3_245: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GB"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 name="Shape 397"/>
        <p:cNvGrpSpPr/>
        <p:nvPr/>
      </p:nvGrpSpPr>
      <p:grpSpPr>
        <a:xfrm>
          <a:off x="0" y="0"/>
          <a:ext cx="0" cy="0"/>
          <a:chOff x="0" y="0"/>
          <a:chExt cx="0" cy="0"/>
        </a:xfrm>
      </p:grpSpPr>
      <p:sp>
        <p:nvSpPr>
          <p:cNvPr id="398" name="Google Shape;398;h2275696d7361a964_3_284: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9" name="Google Shape;399;h2275696d7361a964_3_284: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0"/>
              </a:spcBef>
              <a:spcAft>
                <a:spcPts val="0"/>
              </a:spcAft>
              <a:buClr>
                <a:schemeClr val="dk1"/>
              </a:buClr>
              <a:buSzPts val="1100"/>
              <a:buFont typeface="Arial"/>
              <a:buNone/>
            </a:pPr>
            <a:r>
              <a:rPr lang="en-GB" sz="1200">
                <a:solidFill>
                  <a:schemeClr val="dk1"/>
                </a:solidFill>
              </a:rPr>
              <a:t>We checked whether our result survives when we change the analysis design.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GB" sz="1200">
                <a:solidFill>
                  <a:schemeClr val="dk1"/>
                </a:solidFill>
              </a:rPr>
              <a:t>The main AUC was 0.784. Testing only people not seen during training gave 0.785, and using just one pair per person gave 0.783. Those are very close. We also trained on earlier waves and tested on later waves repeatedly.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GB" sz="1200">
                <a:solidFill>
                  <a:schemeClr val="dk1"/>
                </a:solidFill>
              </a:rPr>
              <a:t>The results stayed around 0.778 to 0.799. Other checks, including missing follow-ups and a stricter ADL outcome, did not overturn the main finding.</a:t>
            </a:r>
            <a:endParaRPr sz="1200">
              <a:solidFill>
                <a:schemeClr val="dk1"/>
              </a:solidFill>
            </a:endParaRPr>
          </a:p>
          <a:p>
            <a:pPr indent="0" lvl="0" marL="0" marR="0" rtl="0" algn="l">
              <a:spcBef>
                <a:spcPts val="0"/>
              </a:spcBef>
              <a:spcAft>
                <a:spcPts val="0"/>
              </a:spcAft>
              <a:buNone/>
            </a:pPr>
            <a:r>
              <a:t/>
            </a:r>
            <a:endParaRPr sz="1200">
              <a:solidFill>
                <a:schemeClr val="dk1"/>
              </a:solidFill>
            </a:endParaRPr>
          </a:p>
        </p:txBody>
      </p:sp>
      <p:sp>
        <p:nvSpPr>
          <p:cNvPr id="400" name="Google Shape;400;h2275696d7361a964_3_284: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GB"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4" name="Shape 414"/>
        <p:cNvGrpSpPr/>
        <p:nvPr/>
      </p:nvGrpSpPr>
      <p:grpSpPr>
        <a:xfrm>
          <a:off x="0" y="0"/>
          <a:ext cx="0" cy="0"/>
          <a:chOff x="0" y="0"/>
          <a:chExt cx="0" cy="0"/>
        </a:xfrm>
      </p:grpSpPr>
      <p:sp>
        <p:nvSpPr>
          <p:cNvPr id="415" name="Google Shape;415;h2275696d7361a964_3_300: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6" name="Google Shape;416;h2275696d7361a964_3_300: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0"/>
              </a:spcBef>
              <a:spcAft>
                <a:spcPts val="0"/>
              </a:spcAft>
              <a:buSzPts val="1100"/>
              <a:buNone/>
            </a:pPr>
            <a:r>
              <a:rPr lang="en-GB" sz="1200">
                <a:solidFill>
                  <a:schemeClr val="dk1"/>
                </a:solidFill>
              </a:rPr>
              <a:t>Our model has limitations. At the selected cutoff, only about 30% of flagged people actually develop a limitation, and we identify 43% of all cases. Some participants do not return, and some die, so we cannot observe every outcome. </a:t>
            </a:r>
            <a:endParaRPr sz="1200">
              <a:solidFill>
                <a:schemeClr val="dk1"/>
              </a:solidFill>
            </a:endParaRPr>
          </a:p>
          <a:p>
            <a:pPr indent="0" lvl="0" marL="0" rtl="0" algn="l">
              <a:lnSpc>
                <a:spcPct val="115000"/>
              </a:lnSpc>
              <a:spcBef>
                <a:spcPts val="0"/>
              </a:spcBef>
              <a:spcAft>
                <a:spcPts val="0"/>
              </a:spcAft>
              <a:buSzPts val="1100"/>
              <a:buNone/>
            </a:pPr>
            <a:r>
              <a:t/>
            </a:r>
            <a:endParaRPr sz="1200">
              <a:solidFill>
                <a:schemeClr val="dk1"/>
              </a:solidFill>
            </a:endParaRPr>
          </a:p>
          <a:p>
            <a:pPr indent="0" lvl="0" marL="0" rtl="0" algn="l">
              <a:lnSpc>
                <a:spcPct val="115000"/>
              </a:lnSpc>
              <a:spcBef>
                <a:spcPts val="0"/>
              </a:spcBef>
              <a:spcAft>
                <a:spcPts val="0"/>
              </a:spcAft>
              <a:buSzPts val="1100"/>
              <a:buNone/>
            </a:pPr>
            <a:r>
              <a:rPr lang="en-GB" sz="1200">
                <a:solidFill>
                  <a:schemeClr val="dk1"/>
                </a:solidFill>
              </a:rPr>
              <a:t>Some SHARELIFE interviews are missing whole sections of information, which makes prediction harder. We also used the test period for a few design checks, so the results may be slightly optimistic. </a:t>
            </a:r>
            <a:endParaRPr sz="1200">
              <a:solidFill>
                <a:schemeClr val="dk1"/>
              </a:solidFill>
            </a:endParaRPr>
          </a:p>
          <a:p>
            <a:pPr indent="0" lvl="0" marL="0" rtl="0" algn="l">
              <a:lnSpc>
                <a:spcPct val="115000"/>
              </a:lnSpc>
              <a:spcBef>
                <a:spcPts val="0"/>
              </a:spcBef>
              <a:spcAft>
                <a:spcPts val="0"/>
              </a:spcAft>
              <a:buSzPts val="1100"/>
              <a:buNone/>
            </a:pPr>
            <a:r>
              <a:t/>
            </a:r>
            <a:endParaRPr sz="1200">
              <a:solidFill>
                <a:schemeClr val="dk1"/>
              </a:solidFill>
            </a:endParaRPr>
          </a:p>
          <a:p>
            <a:pPr indent="0" lvl="0" marL="381000" marR="381000" rtl="0" algn="l">
              <a:lnSpc>
                <a:spcPct val="115000"/>
              </a:lnSpc>
              <a:spcBef>
                <a:spcPts val="1200"/>
              </a:spcBef>
              <a:spcAft>
                <a:spcPts val="0"/>
              </a:spcAft>
              <a:buClr>
                <a:schemeClr val="dk1"/>
              </a:buClr>
              <a:buSzPts val="1100"/>
              <a:buFont typeface="Arial"/>
              <a:buNone/>
            </a:pPr>
            <a:r>
              <a:rPr lang="en-GB" sz="1100">
                <a:solidFill>
                  <a:schemeClr val="dk1"/>
                </a:solidFill>
              </a:rPr>
              <a:t>For future work, we have five ideas.</a:t>
            </a:r>
            <a:endParaRPr sz="1100">
              <a:solidFill>
                <a:schemeClr val="dk1"/>
              </a:solidFill>
            </a:endParaRPr>
          </a:p>
          <a:p>
            <a:pPr indent="0" lvl="0" marL="381000" marR="381000" rtl="0" algn="l">
              <a:lnSpc>
                <a:spcPct val="115000"/>
              </a:lnSpc>
              <a:spcBef>
                <a:spcPts val="1200"/>
              </a:spcBef>
              <a:spcAft>
                <a:spcPts val="0"/>
              </a:spcAft>
              <a:buClr>
                <a:schemeClr val="dk1"/>
              </a:buClr>
              <a:buSzPts val="1100"/>
              <a:buFont typeface="Arial"/>
              <a:buNone/>
            </a:pPr>
            <a:r>
              <a:rPr lang="en-GB" sz="1100">
                <a:solidFill>
                  <a:schemeClr val="dk1"/>
                </a:solidFill>
              </a:rPr>
              <a:t>First, </a:t>
            </a:r>
            <a:r>
              <a:rPr b="1" lang="en-GB" sz="1100">
                <a:solidFill>
                  <a:schemeClr val="dk1"/>
                </a:solidFill>
              </a:rPr>
              <a:t>validate externally</a:t>
            </a:r>
            <a:r>
              <a:rPr lang="en-GB" sz="1100">
                <a:solidFill>
                  <a:schemeClr val="dk1"/>
                </a:solidFill>
              </a:rPr>
              <a:t>: test the model on other ageing studies and on the next SHARE wave when it is released. That shows whether it works beyond our data.</a:t>
            </a:r>
            <a:endParaRPr sz="1100">
              <a:solidFill>
                <a:schemeClr val="dk1"/>
              </a:solidFill>
            </a:endParaRPr>
          </a:p>
          <a:p>
            <a:pPr indent="0" lvl="0" marL="381000" marR="381000" rtl="0" algn="l">
              <a:lnSpc>
                <a:spcPct val="115000"/>
              </a:lnSpc>
              <a:spcBef>
                <a:spcPts val="1200"/>
              </a:spcBef>
              <a:spcAft>
                <a:spcPts val="0"/>
              </a:spcAft>
              <a:buClr>
                <a:schemeClr val="dk1"/>
              </a:buClr>
              <a:buSzPts val="1100"/>
              <a:buFont typeface="Arial"/>
              <a:buNone/>
            </a:pPr>
            <a:r>
              <a:rPr lang="en-GB" sz="1100">
                <a:solidFill>
                  <a:schemeClr val="dk1"/>
                </a:solidFill>
              </a:rPr>
              <a:t>Second, </a:t>
            </a:r>
            <a:r>
              <a:rPr b="1" lang="en-GB" sz="1100">
                <a:solidFill>
                  <a:schemeClr val="dk1"/>
                </a:solidFill>
              </a:rPr>
              <a:t>make every design choice on the validation data only</a:t>
            </a:r>
            <a:r>
              <a:rPr lang="en-GB" sz="1100">
                <a:solidFill>
                  <a:schemeClr val="dk1"/>
                </a:solidFill>
              </a:rPr>
              <a:t>, and fit the caps for income and doctor visits on the training data only. Then the test results would be fully untouched.</a:t>
            </a:r>
            <a:endParaRPr sz="1100">
              <a:solidFill>
                <a:schemeClr val="dk1"/>
              </a:solidFill>
            </a:endParaRPr>
          </a:p>
          <a:p>
            <a:pPr indent="0" lvl="0" marL="381000" marR="381000" rtl="0" algn="l">
              <a:lnSpc>
                <a:spcPct val="115000"/>
              </a:lnSpc>
              <a:spcBef>
                <a:spcPts val="1200"/>
              </a:spcBef>
              <a:spcAft>
                <a:spcPts val="0"/>
              </a:spcAft>
              <a:buClr>
                <a:schemeClr val="dk1"/>
              </a:buClr>
              <a:buSzPts val="1100"/>
              <a:buFont typeface="Arial"/>
              <a:buNone/>
            </a:pPr>
            <a:r>
              <a:rPr lang="en-GB" sz="1100">
                <a:solidFill>
                  <a:schemeClr val="dk1"/>
                </a:solidFill>
              </a:rPr>
              <a:t>Third, </a:t>
            </a:r>
            <a:r>
              <a:rPr b="1" lang="en-GB" sz="1100">
                <a:solidFill>
                  <a:schemeClr val="dk1"/>
                </a:solidFill>
              </a:rPr>
              <a:t>treat death as a competing outcome</a:t>
            </a:r>
            <a:r>
              <a:rPr lang="en-GB" sz="1100">
                <a:solidFill>
                  <a:schemeClr val="dk1"/>
                </a:solidFill>
              </a:rPr>
              <a:t>. Right now, people who die simply drop out, so we cannot separate the risk of losing independence from the risk of dying.</a:t>
            </a:r>
            <a:endParaRPr sz="1100">
              <a:solidFill>
                <a:schemeClr val="dk1"/>
              </a:solidFill>
            </a:endParaRPr>
          </a:p>
          <a:p>
            <a:pPr indent="0" lvl="0" marL="381000" marR="381000" rtl="0" algn="l">
              <a:lnSpc>
                <a:spcPct val="115000"/>
              </a:lnSpc>
              <a:spcBef>
                <a:spcPts val="1200"/>
              </a:spcBef>
              <a:spcAft>
                <a:spcPts val="0"/>
              </a:spcAft>
              <a:buClr>
                <a:schemeClr val="dk1"/>
              </a:buClr>
              <a:buSzPts val="1100"/>
              <a:buFont typeface="Arial"/>
              <a:buNone/>
            </a:pPr>
            <a:r>
              <a:rPr lang="en-GB" sz="1100">
                <a:solidFill>
                  <a:schemeClr val="dk1"/>
                </a:solidFill>
              </a:rPr>
              <a:t>Fourth, </a:t>
            </a:r>
            <a:r>
              <a:rPr b="1" lang="en-GB" sz="1100">
                <a:solidFill>
                  <a:schemeClr val="dk1"/>
                </a:solidFill>
              </a:rPr>
              <a:t>set the threshold together with care providers</a:t>
            </a:r>
            <a:r>
              <a:rPr lang="en-GB" sz="1100">
                <a:solidFill>
                  <a:schemeClr val="dk1"/>
                </a:solidFill>
              </a:rPr>
              <a:t>, based on real costs: what a check-up costs compared with what it costs to miss someone.</a:t>
            </a:r>
            <a:endParaRPr sz="1100">
              <a:solidFill>
                <a:schemeClr val="dk1"/>
              </a:solidFill>
            </a:endParaRPr>
          </a:p>
          <a:p>
            <a:pPr indent="0" lvl="0" marL="381000" marR="381000" rtl="0" algn="l">
              <a:lnSpc>
                <a:spcPct val="115000"/>
              </a:lnSpc>
              <a:spcBef>
                <a:spcPts val="1200"/>
              </a:spcBef>
              <a:spcAft>
                <a:spcPts val="0"/>
              </a:spcAft>
              <a:buSzPts val="1100"/>
              <a:buNone/>
            </a:pPr>
            <a:r>
              <a:rPr lang="en-GB" sz="1100">
                <a:solidFill>
                  <a:schemeClr val="dk1"/>
                </a:solidFill>
              </a:rPr>
              <a:t>Finally, </a:t>
            </a:r>
            <a:r>
              <a:rPr b="1" lang="en-GB" sz="1100">
                <a:solidFill>
                  <a:schemeClr val="dk1"/>
                </a:solidFill>
              </a:rPr>
              <a:t>recalibrate by country</a:t>
            </a:r>
            <a:r>
              <a:rPr lang="en-GB" sz="1100">
                <a:solidFill>
                  <a:schemeClr val="dk1"/>
                </a:solidFill>
              </a:rPr>
              <a:t>, because risk levels differ between countries, and report the calibration slope, which shows whether predicted risks are too extreme or too flat.</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sz="1200">
              <a:solidFill>
                <a:schemeClr val="dk1"/>
              </a:solidFill>
            </a:endParaRPr>
          </a:p>
          <a:p>
            <a:pPr indent="0" lvl="0" marL="0" marR="0" rtl="0" algn="l">
              <a:spcBef>
                <a:spcPts val="0"/>
              </a:spcBef>
              <a:spcAft>
                <a:spcPts val="0"/>
              </a:spcAft>
              <a:buNone/>
            </a:pPr>
            <a:r>
              <a:t/>
            </a:r>
            <a:endParaRPr sz="1200">
              <a:solidFill>
                <a:schemeClr val="dk1"/>
              </a:solidFill>
            </a:endParaRPr>
          </a:p>
        </p:txBody>
      </p:sp>
      <p:sp>
        <p:nvSpPr>
          <p:cNvPr id="417" name="Google Shape;417;h2275696d7361a964_3_300: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GB"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h2275696d7361a964_3_316: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3" name="Google Shape;433;h2275696d7361a964_3_316: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br>
              <a:rPr lang="en-GB" sz="1200">
                <a:solidFill>
                  <a:schemeClr val="dk1"/>
                </a:solidFill>
                <a:latin typeface="Arial"/>
                <a:ea typeface="Arial"/>
                <a:cs typeface="Arial"/>
                <a:sym typeface="Arial"/>
              </a:rPr>
            </a:br>
            <a:r>
              <a:rPr lang="en-GB" sz="1200">
                <a:solidFill>
                  <a:schemeClr val="dk1"/>
                </a:solidFill>
                <a:latin typeface="Arial"/>
                <a:ea typeface="Arial"/>
                <a:cs typeface="Arial"/>
                <a:sym typeface="Arial"/>
              </a:rPr>
              <a:t>To conclude, three takeaways. </a:t>
            </a:r>
            <a:endParaRPr sz="1200">
              <a:solidFill>
                <a:schemeClr val="dk1"/>
              </a:solidFill>
              <a:latin typeface="Arial"/>
              <a:ea typeface="Arial"/>
              <a:cs typeface="Arial"/>
              <a:sym typeface="Arial"/>
            </a:endParaRPr>
          </a:p>
          <a:p>
            <a:pPr indent="0" lvl="0" marL="0" marR="0" rtl="0" algn="l">
              <a:spcBef>
                <a:spcPts val="0"/>
              </a:spcBef>
              <a:spcAft>
                <a:spcPts val="0"/>
              </a:spcAft>
              <a:buNone/>
            </a:pPr>
            <a:r>
              <a:t/>
            </a:r>
            <a:endParaRPr sz="1200">
              <a:solidFill>
                <a:schemeClr val="dk1"/>
              </a:solidFill>
            </a:endParaRPr>
          </a:p>
          <a:p>
            <a:pPr indent="0" lvl="0" marL="0" marR="0" rtl="0" algn="l">
              <a:spcBef>
                <a:spcPts val="0"/>
              </a:spcBef>
              <a:spcAft>
                <a:spcPts val="0"/>
              </a:spcAft>
              <a:buNone/>
            </a:pPr>
            <a:r>
              <a:rPr lang="en-GB" sz="1200">
                <a:solidFill>
                  <a:schemeClr val="dk1"/>
                </a:solidFill>
                <a:latin typeface="Arial"/>
                <a:ea typeface="Arial"/>
                <a:cs typeface="Arial"/>
                <a:sym typeface="Arial"/>
              </a:rPr>
              <a:t>First, we cleaned the data before anything else: masking easySHARE's survey codes alone raised the original model from 0.734 to 0.749.</a:t>
            </a:r>
            <a:endParaRPr sz="1200">
              <a:solidFill>
                <a:schemeClr val="dk1"/>
              </a:solidFill>
              <a:latin typeface="Arial"/>
              <a:ea typeface="Arial"/>
              <a:cs typeface="Arial"/>
              <a:sym typeface="Arial"/>
            </a:endParaRPr>
          </a:p>
          <a:p>
            <a:pPr indent="0" lvl="0" marL="0" marR="0" rtl="0" algn="l">
              <a:spcBef>
                <a:spcPts val="0"/>
              </a:spcBef>
              <a:spcAft>
                <a:spcPts val="0"/>
              </a:spcAft>
              <a:buNone/>
            </a:pPr>
            <a:br>
              <a:rPr lang="en-GB" sz="1200">
                <a:solidFill>
                  <a:schemeClr val="dk1"/>
                </a:solidFill>
                <a:latin typeface="Arial"/>
                <a:ea typeface="Arial"/>
                <a:cs typeface="Arial"/>
                <a:sym typeface="Arial"/>
              </a:rPr>
            </a:br>
            <a:r>
              <a:rPr lang="en-GB" sz="1200">
                <a:solidFill>
                  <a:schemeClr val="dk1"/>
                </a:solidFill>
                <a:latin typeface="Arial"/>
                <a:ea typeface="Arial"/>
                <a:cs typeface="Arial"/>
                <a:sym typeface="Arial"/>
              </a:rPr>
              <a:t>Second, information beats algorithm. Adding baseline functional indicators raised the AUC from 0.750 to 0.784, while the choice of algorithm changed it by at most one hundredth, and PCA did not help because our predictors are only weakly correlated.</a:t>
            </a:r>
            <a:endParaRPr sz="1200">
              <a:solidFill>
                <a:schemeClr val="dk1"/>
              </a:solidFill>
              <a:latin typeface="Arial"/>
              <a:ea typeface="Arial"/>
              <a:cs typeface="Arial"/>
              <a:sym typeface="Arial"/>
            </a:endParaRPr>
          </a:p>
          <a:p>
            <a:pPr indent="0" lvl="0" marL="0" marR="0" rtl="0" algn="l">
              <a:spcBef>
                <a:spcPts val="0"/>
              </a:spcBef>
              <a:spcAft>
                <a:spcPts val="0"/>
              </a:spcAft>
              <a:buNone/>
            </a:pPr>
            <a:br>
              <a:rPr lang="en-GB" sz="1200">
                <a:solidFill>
                  <a:schemeClr val="dk1"/>
                </a:solidFill>
                <a:latin typeface="Arial"/>
                <a:ea typeface="Arial"/>
                <a:cs typeface="Arial"/>
                <a:sym typeface="Arial"/>
              </a:rPr>
            </a:br>
            <a:r>
              <a:rPr lang="en-GB" sz="1200">
                <a:solidFill>
                  <a:schemeClr val="dk1"/>
                </a:solidFill>
                <a:latin typeface="Arial"/>
                <a:ea typeface="Arial"/>
                <a:cs typeface="Arial"/>
                <a:sym typeface="Arial"/>
              </a:rPr>
              <a:t>Third, the model is useful for screening: the top 20% of predicted risk contains 56% of new cases, and its probabilities track the observed rates.</a:t>
            </a:r>
            <a:endParaRPr sz="1200">
              <a:solidFill>
                <a:schemeClr val="dk1"/>
              </a:solidFill>
              <a:latin typeface="Arial"/>
              <a:ea typeface="Arial"/>
              <a:cs typeface="Arial"/>
              <a:sym typeface="Arial"/>
            </a:endParaRPr>
          </a:p>
          <a:p>
            <a:pPr indent="0" lvl="0" marL="0" marR="0" rtl="0" algn="l">
              <a:spcBef>
                <a:spcPts val="0"/>
              </a:spcBef>
              <a:spcAft>
                <a:spcPts val="0"/>
              </a:spcAft>
              <a:buNone/>
            </a:pPr>
            <a:br>
              <a:rPr lang="en-GB" sz="1200">
                <a:solidFill>
                  <a:schemeClr val="dk1"/>
                </a:solidFill>
                <a:latin typeface="Arial"/>
                <a:ea typeface="Arial"/>
                <a:cs typeface="Arial"/>
                <a:sym typeface="Arial"/>
              </a:rPr>
            </a:br>
            <a:r>
              <a:rPr lang="en-GB" sz="1200">
                <a:solidFill>
                  <a:schemeClr val="dk1"/>
                </a:solidFill>
                <a:latin typeface="Arial"/>
                <a:ea typeface="Arial"/>
                <a:cs typeface="Arial"/>
                <a:sym typeface="Arial"/>
              </a:rPr>
              <a:t>Our recommendation: a short set of questions on mobility, large-muscle and everyday-task difficulties, plus self-rated health, can help target prevention at the people most likely to lose independence. It ranks risk; it does not diagnose individuals</a:t>
            </a:r>
            <a:r>
              <a:rPr lang="en-GB" sz="1200">
                <a:solidFill>
                  <a:schemeClr val="dk1"/>
                </a:solidFill>
                <a:latin typeface="Arial"/>
                <a:ea typeface="Arial"/>
                <a:cs typeface="Arial"/>
                <a:sym typeface="Arial"/>
              </a:rPr>
              <a:t>.</a:t>
            </a:r>
            <a:endParaRPr sz="1200">
              <a:solidFill>
                <a:schemeClr val="dk1"/>
              </a:solidFill>
              <a:latin typeface="Arial"/>
              <a:ea typeface="Arial"/>
              <a:cs typeface="Arial"/>
              <a:sym typeface="Arial"/>
            </a:endParaRPr>
          </a:p>
          <a:p>
            <a:pPr indent="0" lvl="0" marL="0" marR="0" rtl="0" algn="l">
              <a:spcBef>
                <a:spcPts val="0"/>
              </a:spcBef>
              <a:spcAft>
                <a:spcPts val="0"/>
              </a:spcAft>
              <a:buNone/>
            </a:pPr>
            <a:br>
              <a:rPr lang="en-GB" sz="1200">
                <a:solidFill>
                  <a:schemeClr val="dk1"/>
                </a:solidFill>
                <a:latin typeface="Arial"/>
                <a:ea typeface="Arial"/>
                <a:cs typeface="Arial"/>
                <a:sym typeface="Arial"/>
              </a:rPr>
            </a:br>
            <a:r>
              <a:rPr lang="en-GB" sz="1200">
                <a:solidFill>
                  <a:schemeClr val="dk1"/>
                </a:solidFill>
                <a:latin typeface="Arial"/>
                <a:ea typeface="Arial"/>
                <a:cs typeface="Arial"/>
                <a:sym typeface="Arial"/>
              </a:rPr>
              <a:t>Thank you. We are happy to take your questions.</a:t>
            </a:r>
            <a:endParaRPr/>
          </a:p>
        </p:txBody>
      </p:sp>
      <p:sp>
        <p:nvSpPr>
          <p:cNvPr id="434" name="Google Shape;434;h2275696d7361a964_3_316: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GB"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1" name="Shape 451"/>
        <p:cNvGrpSpPr/>
        <p:nvPr/>
      </p:nvGrpSpPr>
      <p:grpSpPr>
        <a:xfrm>
          <a:off x="0" y="0"/>
          <a:ext cx="0" cy="0"/>
          <a:chOff x="0" y="0"/>
          <a:chExt cx="0" cy="0"/>
        </a:xfrm>
      </p:grpSpPr>
      <p:sp>
        <p:nvSpPr>
          <p:cNvPr id="452" name="Google Shape;452;h2275696d7361a964_3_335: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3" name="Google Shape;453;h2275696d7361a964_3_335: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a:p>
        </p:txBody>
      </p:sp>
      <p:sp>
        <p:nvSpPr>
          <p:cNvPr id="454" name="Google Shape;454;h2275696d7361a964_3_335: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GB"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8" name="Shape 458"/>
        <p:cNvGrpSpPr/>
        <p:nvPr/>
      </p:nvGrpSpPr>
      <p:grpSpPr>
        <a:xfrm>
          <a:off x="0" y="0"/>
          <a:ext cx="0" cy="0"/>
          <a:chOff x="0" y="0"/>
          <a:chExt cx="0" cy="0"/>
        </a:xfrm>
      </p:grpSpPr>
      <p:sp>
        <p:nvSpPr>
          <p:cNvPr id="459" name="Google Shape;459;h2275696d7361a964_3_342: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0" name="Google Shape;460;h2275696d7361a964_3_342: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a:p>
        </p:txBody>
      </p:sp>
      <p:sp>
        <p:nvSpPr>
          <p:cNvPr id="461" name="Google Shape;461;h2275696d7361a964_3_342: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GB"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RK">
  <p:cSld name="DARK">
    <p:bg>
      <p:bgPr>
        <a:solidFill>
          <a:srgbClr val="123B44"/>
        </a:solidFill>
      </p:bgPr>
    </p:bg>
    <p:spTree>
      <p:nvGrpSpPr>
        <p:cNvPr id="52" name="Shape 52"/>
        <p:cNvGrpSpPr/>
        <p:nvPr/>
      </p:nvGrpSpPr>
      <p:grpSpPr>
        <a:xfrm>
          <a:off x="0" y="0"/>
          <a:ext cx="0" cy="0"/>
          <a:chOff x="0" y="0"/>
          <a:chExt cx="0" cy="0"/>
        </a:xfrm>
      </p:grpSpPr>
      <p:sp>
        <p:nvSpPr>
          <p:cNvPr id="53" name="Google Shape;53;p14"/>
          <p:cNvSpPr txBox="1"/>
          <p:nvPr>
            <p:ph type="title"/>
          </p:nvPr>
        </p:nvSpPr>
        <p:spPr>
          <a:xfrm>
            <a:off x="480060" y="411480"/>
            <a:ext cx="6995160" cy="685800"/>
          </a:xfrm>
          <a:prstGeom prst="rect">
            <a:avLst/>
          </a:prstGeom>
          <a:noFill/>
          <a:ln>
            <a:noFill/>
          </a:ln>
        </p:spPr>
        <p:txBody>
          <a:bodyPr anchorCtr="0" anchor="t" bIns="34275" lIns="68575" spcFirstLastPara="1" rIns="68575" wrap="square" tIns="34275">
            <a:noAutofit/>
          </a:bodyPr>
          <a:lstStyle>
            <a:lvl1pPr lvl="0" marR="0" rtl="0" algn="l">
              <a:spcBef>
                <a:spcPts val="0"/>
              </a:spcBef>
              <a:spcAft>
                <a:spcPts val="0"/>
              </a:spcAft>
              <a:buClr>
                <a:schemeClr val="lt1"/>
              </a:buClr>
              <a:buSzPts val="2600"/>
              <a:buFont typeface="Cambria"/>
              <a:buNone/>
              <a:defRPr b="1" i="0" sz="2600" u="none" cap="none" strike="noStrike">
                <a:solidFill>
                  <a:schemeClr val="lt1"/>
                </a:solidFill>
                <a:latin typeface="Cambria"/>
                <a:ea typeface="Cambria"/>
                <a:cs typeface="Cambria"/>
                <a:sym typeface="Cambria"/>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rgbClr val="FFFFFF"/>
        </a:solidFill>
      </p:bgPr>
    </p:bg>
    <p:spTree>
      <p:nvGrpSpPr>
        <p:cNvPr id="54" name="Shape 54"/>
        <p:cNvGrpSpPr/>
        <p:nvPr/>
      </p:nvGrpSpPr>
      <p:grpSpPr>
        <a:xfrm>
          <a:off x="0" y="0"/>
          <a:ext cx="0" cy="0"/>
          <a:chOff x="0" y="0"/>
          <a:chExt cx="0" cy="0"/>
        </a:xfrm>
      </p:grpSpPr>
      <p:sp>
        <p:nvSpPr>
          <p:cNvPr id="55" name="Google Shape;55;p15"/>
          <p:cNvSpPr txBox="1"/>
          <p:nvPr>
            <p:ph type="title"/>
          </p:nvPr>
        </p:nvSpPr>
        <p:spPr>
          <a:xfrm>
            <a:off x="411480" y="240030"/>
            <a:ext cx="7063740" cy="651510"/>
          </a:xfrm>
          <a:prstGeom prst="rect">
            <a:avLst/>
          </a:prstGeom>
          <a:noFill/>
          <a:ln>
            <a:noFill/>
          </a:ln>
        </p:spPr>
        <p:txBody>
          <a:bodyPr anchorCtr="0" anchor="t" bIns="34275" lIns="68575" spcFirstLastPara="1" rIns="68575" wrap="square" tIns="34275">
            <a:noAutofit/>
          </a:bodyPr>
          <a:lstStyle>
            <a:lvl1pPr lvl="0" marR="0" rtl="0" algn="l">
              <a:spcBef>
                <a:spcPts val="0"/>
              </a:spcBef>
              <a:spcAft>
                <a:spcPts val="0"/>
              </a:spcAft>
              <a:buClr>
                <a:schemeClr val="dk2"/>
              </a:buClr>
              <a:buSzPts val="2100"/>
              <a:buFont typeface="Cambria"/>
              <a:buNone/>
              <a:defRPr b="1" i="0" sz="2100" u="none" cap="none" strike="noStrike">
                <a:solidFill>
                  <a:schemeClr val="dk2"/>
                </a:solidFill>
                <a:latin typeface="Cambria"/>
                <a:ea typeface="Cambria"/>
                <a:cs typeface="Cambria"/>
                <a:sym typeface="Cambria"/>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56" name="Google Shape;56;p15"/>
          <p:cNvSpPr/>
          <p:nvPr/>
        </p:nvSpPr>
        <p:spPr>
          <a:xfrm>
            <a:off x="411480" y="4800600"/>
            <a:ext cx="4114800" cy="2057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F75"/>
              </a:buClr>
              <a:buSzPts val="800"/>
              <a:buFont typeface="Calibri"/>
              <a:buNone/>
            </a:pPr>
            <a:r>
              <a:rPr lang="en-GB" sz="800">
                <a:solidFill>
                  <a:srgbClr val="5F6F75"/>
                </a:solidFill>
                <a:latin typeface="Calibri"/>
                <a:ea typeface="Calibri"/>
                <a:cs typeface="Calibri"/>
                <a:sym typeface="Calibri"/>
              </a:rPr>
              <a:t>ADL onset prediction  ·  easySHARE release 9.0.0</a:t>
            </a:r>
            <a:endParaRPr sz="800">
              <a:solidFill>
                <a:schemeClr val="dk1"/>
              </a:solidFill>
              <a:latin typeface="Calibri"/>
              <a:ea typeface="Calibri"/>
              <a:cs typeface="Calibri"/>
              <a:sym typeface="Calibri"/>
            </a:endParaRPr>
          </a:p>
        </p:txBody>
      </p:sp>
      <p:sp>
        <p:nvSpPr>
          <p:cNvPr id="57" name="Google Shape;57;p15"/>
          <p:cNvSpPr txBox="1"/>
          <p:nvPr>
            <p:ph idx="12" type="sldNum"/>
          </p:nvPr>
        </p:nvSpPr>
        <p:spPr>
          <a:xfrm>
            <a:off x="8435340" y="4800600"/>
            <a:ext cx="342900" cy="205740"/>
          </a:xfrm>
          <a:prstGeom prst="rect">
            <a:avLst/>
          </a:prstGeom>
          <a:noFill/>
          <a:ln>
            <a:noFill/>
          </a:ln>
        </p:spPr>
        <p:txBody>
          <a:bodyPr anchorCtr="0" anchor="t" bIns="34275" lIns="68575" spcFirstLastPara="1" rIns="68575" wrap="square" tIns="34275">
            <a:noAutofit/>
          </a:bodyPr>
          <a:lstStyle>
            <a:lvl1pPr indent="0" lvl="0" marL="0" marR="0" algn="r">
              <a:spcBef>
                <a:spcPts val="0"/>
              </a:spcBef>
              <a:buNone/>
              <a:defRPr b="0" sz="800">
                <a:solidFill>
                  <a:srgbClr val="5F6F75"/>
                </a:solidFill>
                <a:latin typeface="Calibri"/>
                <a:ea typeface="Calibri"/>
                <a:cs typeface="Calibri"/>
                <a:sym typeface="Calibri"/>
              </a:defRPr>
            </a:lvl1pPr>
            <a:lvl2pPr indent="0" lvl="1" marL="0" marR="0" algn="r">
              <a:spcBef>
                <a:spcPts val="0"/>
              </a:spcBef>
              <a:buNone/>
              <a:defRPr b="0" sz="800">
                <a:solidFill>
                  <a:srgbClr val="5F6F75"/>
                </a:solidFill>
                <a:latin typeface="Calibri"/>
                <a:ea typeface="Calibri"/>
                <a:cs typeface="Calibri"/>
                <a:sym typeface="Calibri"/>
              </a:defRPr>
            </a:lvl2pPr>
            <a:lvl3pPr indent="0" lvl="2" marL="0" marR="0" algn="r">
              <a:spcBef>
                <a:spcPts val="0"/>
              </a:spcBef>
              <a:buNone/>
              <a:defRPr b="0" sz="800">
                <a:solidFill>
                  <a:srgbClr val="5F6F75"/>
                </a:solidFill>
                <a:latin typeface="Calibri"/>
                <a:ea typeface="Calibri"/>
                <a:cs typeface="Calibri"/>
                <a:sym typeface="Calibri"/>
              </a:defRPr>
            </a:lvl3pPr>
            <a:lvl4pPr indent="0" lvl="3" marL="0" marR="0" algn="r">
              <a:spcBef>
                <a:spcPts val="0"/>
              </a:spcBef>
              <a:buNone/>
              <a:defRPr b="0" sz="800">
                <a:solidFill>
                  <a:srgbClr val="5F6F75"/>
                </a:solidFill>
                <a:latin typeface="Calibri"/>
                <a:ea typeface="Calibri"/>
                <a:cs typeface="Calibri"/>
                <a:sym typeface="Calibri"/>
              </a:defRPr>
            </a:lvl4pPr>
            <a:lvl5pPr indent="0" lvl="4" marL="0" marR="0" algn="r">
              <a:spcBef>
                <a:spcPts val="0"/>
              </a:spcBef>
              <a:buNone/>
              <a:defRPr b="0" sz="800">
                <a:solidFill>
                  <a:srgbClr val="5F6F75"/>
                </a:solidFill>
                <a:latin typeface="Calibri"/>
                <a:ea typeface="Calibri"/>
                <a:cs typeface="Calibri"/>
                <a:sym typeface="Calibri"/>
              </a:defRPr>
            </a:lvl5pPr>
            <a:lvl6pPr indent="0" lvl="5" marL="0" marR="0" algn="r">
              <a:spcBef>
                <a:spcPts val="0"/>
              </a:spcBef>
              <a:buNone/>
              <a:defRPr b="0" sz="800">
                <a:solidFill>
                  <a:srgbClr val="5F6F75"/>
                </a:solidFill>
                <a:latin typeface="Calibri"/>
                <a:ea typeface="Calibri"/>
                <a:cs typeface="Calibri"/>
                <a:sym typeface="Calibri"/>
              </a:defRPr>
            </a:lvl6pPr>
            <a:lvl7pPr indent="0" lvl="6" marL="0" marR="0" algn="r">
              <a:spcBef>
                <a:spcPts val="0"/>
              </a:spcBef>
              <a:buNone/>
              <a:defRPr b="0" sz="800">
                <a:solidFill>
                  <a:srgbClr val="5F6F75"/>
                </a:solidFill>
                <a:latin typeface="Calibri"/>
                <a:ea typeface="Calibri"/>
                <a:cs typeface="Calibri"/>
                <a:sym typeface="Calibri"/>
              </a:defRPr>
            </a:lvl7pPr>
            <a:lvl8pPr indent="0" lvl="7" marL="0" marR="0" algn="r">
              <a:spcBef>
                <a:spcPts val="0"/>
              </a:spcBef>
              <a:buNone/>
              <a:defRPr b="0" sz="800">
                <a:solidFill>
                  <a:srgbClr val="5F6F75"/>
                </a:solidFill>
                <a:latin typeface="Calibri"/>
                <a:ea typeface="Calibri"/>
                <a:cs typeface="Calibri"/>
                <a:sym typeface="Calibri"/>
              </a:defRPr>
            </a:lvl8pPr>
            <a:lvl9pPr indent="0" lvl="8" marL="0" marR="0" algn="r">
              <a:spcBef>
                <a:spcPts val="0"/>
              </a:spcBef>
              <a:buNone/>
              <a:defRPr b="0" sz="800">
                <a:solidFill>
                  <a:srgbClr val="5F6F75"/>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58" name="Shape 58"/>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2">
  <p:cSld name="CONTENT2">
    <p:bg>
      <p:bgPr>
        <a:solidFill>
          <a:schemeClr val="lt1"/>
        </a:solidFill>
      </p:bgPr>
    </p:bg>
    <p:spTree>
      <p:nvGrpSpPr>
        <p:cNvPr id="59" name="Shape 59"/>
        <p:cNvGrpSpPr/>
        <p:nvPr/>
      </p:nvGrpSpPr>
      <p:grpSpPr>
        <a:xfrm>
          <a:off x="0" y="0"/>
          <a:ext cx="0" cy="0"/>
          <a:chOff x="0" y="0"/>
          <a:chExt cx="0" cy="0"/>
        </a:xfrm>
      </p:grpSpPr>
      <p:sp>
        <p:nvSpPr>
          <p:cNvPr id="60" name="Google Shape;60;p17"/>
          <p:cNvSpPr/>
          <p:nvPr/>
        </p:nvSpPr>
        <p:spPr>
          <a:xfrm>
            <a:off x="411480" y="4828032"/>
            <a:ext cx="4114800" cy="2057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800"/>
              <a:buFont typeface="Calibri"/>
              <a:buNone/>
            </a:pPr>
            <a:r>
              <a:rPr b="0" i="0" lang="en-GB" sz="800" u="none" cap="none" strike="noStrike">
                <a:solidFill>
                  <a:schemeClr val="accent5"/>
                </a:solidFill>
                <a:latin typeface="Calibri"/>
                <a:ea typeface="Calibri"/>
                <a:cs typeface="Calibri"/>
                <a:sym typeface="Calibri"/>
              </a:rPr>
              <a:t>ADL onset prediction  ·  easySHARE release 9.0.0</a:t>
            </a:r>
            <a:endParaRPr b="0" i="0" sz="800" u="none" cap="none" strike="noStrike">
              <a:solidFill>
                <a:schemeClr val="dk1"/>
              </a:solidFill>
              <a:latin typeface="Calibri"/>
              <a:ea typeface="Calibri"/>
              <a:cs typeface="Calibri"/>
              <a:sym typeface="Calibri"/>
            </a:endParaRPr>
          </a:p>
        </p:txBody>
      </p:sp>
      <p:sp>
        <p:nvSpPr>
          <p:cNvPr id="61" name="Google Shape;61;p17"/>
          <p:cNvSpPr txBox="1"/>
          <p:nvPr>
            <p:ph type="title"/>
          </p:nvPr>
        </p:nvSpPr>
        <p:spPr>
          <a:xfrm>
            <a:off x="411480" y="240030"/>
            <a:ext cx="7063740" cy="651510"/>
          </a:xfrm>
          <a:prstGeom prst="rect">
            <a:avLst/>
          </a:prstGeom>
          <a:noFill/>
          <a:ln>
            <a:noFill/>
          </a:ln>
        </p:spPr>
        <p:txBody>
          <a:bodyPr anchorCtr="0" anchor="t" bIns="34275" lIns="68575" spcFirstLastPara="1" rIns="68575" wrap="square" tIns="34275">
            <a:noAutofit/>
          </a:bodyPr>
          <a:lstStyle>
            <a:lvl1pPr lvl="0" marR="0" rtl="0" algn="l">
              <a:spcBef>
                <a:spcPts val="0"/>
              </a:spcBef>
              <a:spcAft>
                <a:spcPts val="0"/>
              </a:spcAft>
              <a:buClr>
                <a:schemeClr val="dk2"/>
              </a:buClr>
              <a:buSzPts val="2100"/>
              <a:buFont typeface="Cambria"/>
              <a:buNone/>
              <a:defRPr b="1" i="0" sz="2100" u="none" cap="none" strike="noStrike">
                <a:solidFill>
                  <a:schemeClr val="dk2"/>
                </a:solidFill>
                <a:latin typeface="Cambria"/>
                <a:ea typeface="Cambria"/>
                <a:cs typeface="Cambria"/>
                <a:sym typeface="Cambria"/>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62" name="Google Shape;62;p17"/>
          <p:cNvSpPr txBox="1"/>
          <p:nvPr>
            <p:ph idx="12" type="sldNum"/>
          </p:nvPr>
        </p:nvSpPr>
        <p:spPr>
          <a:xfrm>
            <a:off x="8229600" y="4828032"/>
            <a:ext cx="500634" cy="205740"/>
          </a:xfrm>
          <a:prstGeom prst="rect">
            <a:avLst/>
          </a:prstGeom>
          <a:noFill/>
          <a:ln>
            <a:noFill/>
          </a:ln>
        </p:spPr>
        <p:txBody>
          <a:bodyPr anchorCtr="0" anchor="t" bIns="34275" lIns="68575" spcFirstLastPara="1" rIns="68575" wrap="square" tIns="34275">
            <a:noAutofit/>
          </a:bodyPr>
          <a:lstStyle>
            <a:lvl1pPr indent="0" lvl="0" marL="0" marR="0" algn="r">
              <a:spcBef>
                <a:spcPts val="0"/>
              </a:spcBef>
              <a:buNone/>
              <a:defRPr b="0" i="0" sz="800" u="none" cap="none" strike="noStrike">
                <a:solidFill>
                  <a:schemeClr val="accent5"/>
                </a:solidFill>
                <a:latin typeface="Calibri"/>
                <a:ea typeface="Calibri"/>
                <a:cs typeface="Calibri"/>
                <a:sym typeface="Calibri"/>
              </a:defRPr>
            </a:lvl1pPr>
            <a:lvl2pPr indent="0" lvl="1" marL="0" marR="0" algn="r">
              <a:spcBef>
                <a:spcPts val="0"/>
              </a:spcBef>
              <a:buNone/>
              <a:defRPr b="0" i="0" sz="800" u="none" cap="none" strike="noStrike">
                <a:solidFill>
                  <a:schemeClr val="accent5"/>
                </a:solidFill>
                <a:latin typeface="Calibri"/>
                <a:ea typeface="Calibri"/>
                <a:cs typeface="Calibri"/>
                <a:sym typeface="Calibri"/>
              </a:defRPr>
            </a:lvl2pPr>
            <a:lvl3pPr indent="0" lvl="2" marL="0" marR="0" algn="r">
              <a:spcBef>
                <a:spcPts val="0"/>
              </a:spcBef>
              <a:buNone/>
              <a:defRPr b="0" i="0" sz="800" u="none" cap="none" strike="noStrike">
                <a:solidFill>
                  <a:schemeClr val="accent5"/>
                </a:solidFill>
                <a:latin typeface="Calibri"/>
                <a:ea typeface="Calibri"/>
                <a:cs typeface="Calibri"/>
                <a:sym typeface="Calibri"/>
              </a:defRPr>
            </a:lvl3pPr>
            <a:lvl4pPr indent="0" lvl="3" marL="0" marR="0" algn="r">
              <a:spcBef>
                <a:spcPts val="0"/>
              </a:spcBef>
              <a:buNone/>
              <a:defRPr b="0" i="0" sz="800" u="none" cap="none" strike="noStrike">
                <a:solidFill>
                  <a:schemeClr val="accent5"/>
                </a:solidFill>
                <a:latin typeface="Calibri"/>
                <a:ea typeface="Calibri"/>
                <a:cs typeface="Calibri"/>
                <a:sym typeface="Calibri"/>
              </a:defRPr>
            </a:lvl4pPr>
            <a:lvl5pPr indent="0" lvl="4" marL="0" marR="0" algn="r">
              <a:spcBef>
                <a:spcPts val="0"/>
              </a:spcBef>
              <a:buNone/>
              <a:defRPr b="0" i="0" sz="800" u="none" cap="none" strike="noStrike">
                <a:solidFill>
                  <a:schemeClr val="accent5"/>
                </a:solidFill>
                <a:latin typeface="Calibri"/>
                <a:ea typeface="Calibri"/>
                <a:cs typeface="Calibri"/>
                <a:sym typeface="Calibri"/>
              </a:defRPr>
            </a:lvl5pPr>
            <a:lvl6pPr indent="0" lvl="5" marL="0" marR="0" algn="r">
              <a:spcBef>
                <a:spcPts val="0"/>
              </a:spcBef>
              <a:buNone/>
              <a:defRPr b="0" i="0" sz="800" u="none" cap="none" strike="noStrike">
                <a:solidFill>
                  <a:schemeClr val="accent5"/>
                </a:solidFill>
                <a:latin typeface="Calibri"/>
                <a:ea typeface="Calibri"/>
                <a:cs typeface="Calibri"/>
                <a:sym typeface="Calibri"/>
              </a:defRPr>
            </a:lvl6pPr>
            <a:lvl7pPr indent="0" lvl="6" marL="0" marR="0" algn="r">
              <a:spcBef>
                <a:spcPts val="0"/>
              </a:spcBef>
              <a:buNone/>
              <a:defRPr b="0" i="0" sz="800" u="none" cap="none" strike="noStrike">
                <a:solidFill>
                  <a:schemeClr val="accent5"/>
                </a:solidFill>
                <a:latin typeface="Calibri"/>
                <a:ea typeface="Calibri"/>
                <a:cs typeface="Calibri"/>
                <a:sym typeface="Calibri"/>
              </a:defRPr>
            </a:lvl7pPr>
            <a:lvl8pPr indent="0" lvl="7" marL="0" marR="0" algn="r">
              <a:spcBef>
                <a:spcPts val="0"/>
              </a:spcBef>
              <a:buNone/>
              <a:defRPr b="0" i="0" sz="800" u="none" cap="none" strike="noStrike">
                <a:solidFill>
                  <a:schemeClr val="accent5"/>
                </a:solidFill>
                <a:latin typeface="Calibri"/>
                <a:ea typeface="Calibri"/>
                <a:cs typeface="Calibri"/>
                <a:sym typeface="Calibri"/>
              </a:defRPr>
            </a:lvl8pPr>
            <a:lvl9pPr indent="0" lvl="8" marL="0" marR="0" algn="r">
              <a:spcBef>
                <a:spcPts val="0"/>
              </a:spcBef>
              <a:buNone/>
              <a:defRPr b="0" i="0" sz="800" u="none" cap="none" strike="noStrike">
                <a:solidFill>
                  <a:schemeClr val="accent5"/>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idx="12" type="sldNum"/>
          </p:nvPr>
        </p:nvSpPr>
        <p:spPr>
          <a:xfrm>
            <a:off x="8435340" y="4800600"/>
            <a:ext cx="342900" cy="205740"/>
          </a:xfrm>
          <a:prstGeom prst="rect">
            <a:avLst/>
          </a:prstGeom>
          <a:noFill/>
          <a:ln>
            <a:noFill/>
          </a:ln>
        </p:spPr>
        <p:txBody>
          <a:bodyPr anchorCtr="0" anchor="t" bIns="34275" lIns="68575" spcFirstLastPara="1" rIns="68575" wrap="square" tIns="34275">
            <a:noAutofit/>
          </a:bodyPr>
          <a:lstStyle>
            <a:lvl1pPr indent="0" lvl="0" marL="0" marR="0" rtl="0" algn="r">
              <a:spcBef>
                <a:spcPts val="0"/>
              </a:spcBef>
              <a:buNone/>
              <a:defRPr b="0" i="0" sz="800" u="none" cap="none" strike="noStrike">
                <a:solidFill>
                  <a:srgbClr val="5F6F75"/>
                </a:solidFill>
                <a:latin typeface="Calibri"/>
                <a:ea typeface="Calibri"/>
                <a:cs typeface="Calibri"/>
                <a:sym typeface="Calibri"/>
              </a:defRPr>
            </a:lvl1pPr>
            <a:lvl2pPr indent="0" lvl="1" marL="0" marR="0" rtl="0" algn="r">
              <a:spcBef>
                <a:spcPts val="0"/>
              </a:spcBef>
              <a:buNone/>
              <a:defRPr b="0" i="0" sz="800" u="none" cap="none" strike="noStrike">
                <a:solidFill>
                  <a:srgbClr val="5F6F75"/>
                </a:solidFill>
                <a:latin typeface="Calibri"/>
                <a:ea typeface="Calibri"/>
                <a:cs typeface="Calibri"/>
                <a:sym typeface="Calibri"/>
              </a:defRPr>
            </a:lvl2pPr>
            <a:lvl3pPr indent="0" lvl="2" marL="0" marR="0" rtl="0" algn="r">
              <a:spcBef>
                <a:spcPts val="0"/>
              </a:spcBef>
              <a:buNone/>
              <a:defRPr b="0" i="0" sz="800" u="none" cap="none" strike="noStrike">
                <a:solidFill>
                  <a:srgbClr val="5F6F75"/>
                </a:solidFill>
                <a:latin typeface="Calibri"/>
                <a:ea typeface="Calibri"/>
                <a:cs typeface="Calibri"/>
                <a:sym typeface="Calibri"/>
              </a:defRPr>
            </a:lvl3pPr>
            <a:lvl4pPr indent="0" lvl="3" marL="0" marR="0" rtl="0" algn="r">
              <a:spcBef>
                <a:spcPts val="0"/>
              </a:spcBef>
              <a:buNone/>
              <a:defRPr b="0" i="0" sz="800" u="none" cap="none" strike="noStrike">
                <a:solidFill>
                  <a:srgbClr val="5F6F75"/>
                </a:solidFill>
                <a:latin typeface="Calibri"/>
                <a:ea typeface="Calibri"/>
                <a:cs typeface="Calibri"/>
                <a:sym typeface="Calibri"/>
              </a:defRPr>
            </a:lvl4pPr>
            <a:lvl5pPr indent="0" lvl="4" marL="0" marR="0" rtl="0" algn="r">
              <a:spcBef>
                <a:spcPts val="0"/>
              </a:spcBef>
              <a:buNone/>
              <a:defRPr b="0" i="0" sz="800" u="none" cap="none" strike="noStrike">
                <a:solidFill>
                  <a:srgbClr val="5F6F75"/>
                </a:solidFill>
                <a:latin typeface="Calibri"/>
                <a:ea typeface="Calibri"/>
                <a:cs typeface="Calibri"/>
                <a:sym typeface="Calibri"/>
              </a:defRPr>
            </a:lvl5pPr>
            <a:lvl6pPr indent="0" lvl="5" marL="0" marR="0" rtl="0" algn="r">
              <a:spcBef>
                <a:spcPts val="0"/>
              </a:spcBef>
              <a:buNone/>
              <a:defRPr b="0" i="0" sz="800" u="none" cap="none" strike="noStrike">
                <a:solidFill>
                  <a:srgbClr val="5F6F75"/>
                </a:solidFill>
                <a:latin typeface="Calibri"/>
                <a:ea typeface="Calibri"/>
                <a:cs typeface="Calibri"/>
                <a:sym typeface="Calibri"/>
              </a:defRPr>
            </a:lvl6pPr>
            <a:lvl7pPr indent="0" lvl="6" marL="0" marR="0" rtl="0" algn="r">
              <a:spcBef>
                <a:spcPts val="0"/>
              </a:spcBef>
              <a:buNone/>
              <a:defRPr b="0" i="0" sz="800" u="none" cap="none" strike="noStrike">
                <a:solidFill>
                  <a:srgbClr val="5F6F75"/>
                </a:solidFill>
                <a:latin typeface="Calibri"/>
                <a:ea typeface="Calibri"/>
                <a:cs typeface="Calibri"/>
                <a:sym typeface="Calibri"/>
              </a:defRPr>
            </a:lvl7pPr>
            <a:lvl8pPr indent="0" lvl="7" marL="0" marR="0" rtl="0" algn="r">
              <a:spcBef>
                <a:spcPts val="0"/>
              </a:spcBef>
              <a:buNone/>
              <a:defRPr b="0" i="0" sz="800" u="none" cap="none" strike="noStrike">
                <a:solidFill>
                  <a:srgbClr val="5F6F75"/>
                </a:solidFill>
                <a:latin typeface="Calibri"/>
                <a:ea typeface="Calibri"/>
                <a:cs typeface="Calibri"/>
                <a:sym typeface="Calibri"/>
              </a:defRPr>
            </a:lvl8pPr>
            <a:lvl9pPr indent="0" lvl="8" marL="0" marR="0" rtl="0" algn="r">
              <a:spcBef>
                <a:spcPts val="0"/>
              </a:spcBef>
              <a:buNone/>
              <a:defRPr b="0" i="0" sz="800" u="none" cap="none" strike="noStrike">
                <a:solidFill>
                  <a:srgbClr val="5F6F75"/>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2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3.png"/><Relationship Id="rId8"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 Id="rId3"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2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8.xml"/><Relationship Id="rId3"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9.xml"/><Relationship Id="rId3"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1.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 Id="rId3"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 Id="rId3"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8"/>
          <p:cNvSpPr txBox="1"/>
          <p:nvPr/>
        </p:nvSpPr>
        <p:spPr>
          <a:xfrm>
            <a:off x="238785" y="2571755"/>
            <a:ext cx="49377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1" i="0" lang="en-GB" sz="1100" u="none" cap="none" strike="noStrike">
                <a:solidFill>
                  <a:srgbClr val="EEF3F3"/>
                </a:solidFill>
                <a:latin typeface="Calibri"/>
                <a:ea typeface="Calibri"/>
                <a:cs typeface="Calibri"/>
                <a:sym typeface="Calibri"/>
              </a:rPr>
              <a:t>Zhijie Tu  ·  Xiaomin Xia  ·  Kanimozhi Selvam</a:t>
            </a:r>
            <a:endParaRPr sz="1100">
              <a:solidFill>
                <a:schemeClr val="dk1"/>
              </a:solidFill>
              <a:latin typeface="Calibri"/>
              <a:ea typeface="Calibri"/>
              <a:cs typeface="Calibri"/>
              <a:sym typeface="Calibri"/>
            </a:endParaRPr>
          </a:p>
          <a:p>
            <a:pPr indent="0" lvl="0" marL="0" marR="0" rtl="0" algn="l">
              <a:spcBef>
                <a:spcPts val="0"/>
              </a:spcBef>
              <a:spcAft>
                <a:spcPts val="0"/>
              </a:spcAft>
              <a:buClr>
                <a:srgbClr val="EEF3F3"/>
              </a:buClr>
              <a:buSzPts val="1100"/>
              <a:buFont typeface="Calibri"/>
              <a:buNone/>
            </a:pPr>
            <a:r>
              <a:rPr lang="en-GB" sz="1100">
                <a:solidFill>
                  <a:srgbClr val="EEF3F3"/>
                </a:solidFill>
                <a:latin typeface="Calibri"/>
                <a:ea typeface="Calibri"/>
                <a:cs typeface="Calibri"/>
                <a:sym typeface="Calibri"/>
              </a:rPr>
              <a:t>Introduction to Data Analytics  ·  29 October 2026</a:t>
            </a:r>
            <a:endParaRPr sz="1100">
              <a:solidFill>
                <a:schemeClr val="dk1"/>
              </a:solidFill>
              <a:latin typeface="Calibri"/>
              <a:ea typeface="Calibri"/>
              <a:cs typeface="Calibri"/>
              <a:sym typeface="Calibri"/>
            </a:endParaRPr>
          </a:p>
        </p:txBody>
      </p:sp>
      <p:sp>
        <p:nvSpPr>
          <p:cNvPr id="69" name="Google Shape;69;p18"/>
          <p:cNvSpPr txBox="1"/>
          <p:nvPr/>
        </p:nvSpPr>
        <p:spPr>
          <a:xfrm>
            <a:off x="238785" y="3188975"/>
            <a:ext cx="4937700" cy="24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FA7A9"/>
              </a:buClr>
              <a:buSzPts val="900"/>
              <a:buFont typeface="Calibri"/>
              <a:buNone/>
            </a:pPr>
            <a:r>
              <a:rPr lang="en-GB" sz="900">
                <a:solidFill>
                  <a:srgbClr val="7FA7A9"/>
                </a:solidFill>
                <a:latin typeface="Calibri"/>
                <a:ea typeface="Calibri"/>
                <a:cs typeface="Calibri"/>
                <a:sym typeface="Calibri"/>
              </a:rPr>
              <a:t>Data: easySHARE release 9.0.0 (SHARE waves 1–9)</a:t>
            </a:r>
            <a:endParaRPr sz="900">
              <a:solidFill>
                <a:schemeClr val="dk1"/>
              </a:solidFill>
              <a:latin typeface="Calibri"/>
              <a:ea typeface="Calibri"/>
              <a:cs typeface="Calibri"/>
              <a:sym typeface="Calibri"/>
            </a:endParaRPr>
          </a:p>
        </p:txBody>
      </p:sp>
      <p:sp>
        <p:nvSpPr>
          <p:cNvPr id="70" name="Google Shape;70;p18"/>
          <p:cNvSpPr/>
          <p:nvPr/>
        </p:nvSpPr>
        <p:spPr>
          <a:xfrm>
            <a:off x="151044" y="3877468"/>
            <a:ext cx="2811900" cy="781800"/>
          </a:xfrm>
          <a:prstGeom prst="roundRect">
            <a:avLst>
              <a:gd fmla="val 6400" name="adj"/>
            </a:avLst>
          </a:prstGeom>
          <a:solidFill>
            <a:srgbClr val="1D5560"/>
          </a:solidFill>
          <a:ln cap="flat" cmpd="sng" w="12700">
            <a:solidFill>
              <a:srgbClr val="1D5560"/>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1" name="Google Shape;71;p18"/>
          <p:cNvSpPr txBox="1"/>
          <p:nvPr/>
        </p:nvSpPr>
        <p:spPr>
          <a:xfrm>
            <a:off x="322499" y="3915902"/>
            <a:ext cx="2469000" cy="41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300"/>
              <a:buFont typeface="Cambria"/>
              <a:buNone/>
            </a:pPr>
            <a:r>
              <a:rPr b="1" lang="en-GB" sz="2300">
                <a:solidFill>
                  <a:srgbClr val="FFFFFF"/>
                </a:solidFill>
                <a:latin typeface="Cambria"/>
                <a:ea typeface="Cambria"/>
                <a:cs typeface="Cambria"/>
                <a:sym typeface="Cambria"/>
              </a:rPr>
              <a:t>115,155</a:t>
            </a:r>
            <a:endParaRPr sz="2300">
              <a:solidFill>
                <a:schemeClr val="dk1"/>
              </a:solidFill>
              <a:latin typeface="Calibri"/>
              <a:ea typeface="Calibri"/>
              <a:cs typeface="Calibri"/>
              <a:sym typeface="Calibri"/>
            </a:endParaRPr>
          </a:p>
        </p:txBody>
      </p:sp>
      <p:sp>
        <p:nvSpPr>
          <p:cNvPr id="72" name="Google Shape;72;p18"/>
          <p:cNvSpPr txBox="1"/>
          <p:nvPr/>
        </p:nvSpPr>
        <p:spPr>
          <a:xfrm>
            <a:off x="322499" y="4341098"/>
            <a:ext cx="24690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EF3F3"/>
              </a:buClr>
              <a:buSzPts val="1000"/>
              <a:buFont typeface="Calibri"/>
              <a:buNone/>
            </a:pPr>
            <a:r>
              <a:rPr lang="en-GB" sz="1000">
                <a:solidFill>
                  <a:srgbClr val="EEF3F3"/>
                </a:solidFill>
                <a:latin typeface="Calibri"/>
                <a:ea typeface="Calibri"/>
                <a:cs typeface="Calibri"/>
                <a:sym typeface="Calibri"/>
              </a:rPr>
              <a:t>baseline → follow-up pairs analysed</a:t>
            </a:r>
            <a:endParaRPr sz="1000">
              <a:solidFill>
                <a:schemeClr val="dk1"/>
              </a:solidFill>
              <a:latin typeface="Calibri"/>
              <a:ea typeface="Calibri"/>
              <a:cs typeface="Calibri"/>
              <a:sym typeface="Calibri"/>
            </a:endParaRPr>
          </a:p>
        </p:txBody>
      </p:sp>
      <p:sp>
        <p:nvSpPr>
          <p:cNvPr id="73" name="Google Shape;73;p18"/>
          <p:cNvSpPr/>
          <p:nvPr/>
        </p:nvSpPr>
        <p:spPr>
          <a:xfrm>
            <a:off x="3243869" y="3877469"/>
            <a:ext cx="2811900" cy="781800"/>
          </a:xfrm>
          <a:prstGeom prst="roundRect">
            <a:avLst>
              <a:gd fmla="val 6400" name="adj"/>
            </a:avLst>
          </a:prstGeom>
          <a:solidFill>
            <a:srgbClr val="1D5560"/>
          </a:solidFill>
          <a:ln cap="flat" cmpd="sng" w="12700">
            <a:solidFill>
              <a:srgbClr val="1D5560"/>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4" name="Google Shape;74;p18"/>
          <p:cNvSpPr txBox="1"/>
          <p:nvPr/>
        </p:nvSpPr>
        <p:spPr>
          <a:xfrm>
            <a:off x="3415324" y="3915902"/>
            <a:ext cx="2469000" cy="41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300"/>
              <a:buFont typeface="Cambria"/>
              <a:buNone/>
            </a:pPr>
            <a:r>
              <a:rPr b="1" lang="en-GB" sz="2300">
                <a:solidFill>
                  <a:srgbClr val="FFFFFF"/>
                </a:solidFill>
                <a:latin typeface="Cambria"/>
                <a:ea typeface="Cambria"/>
                <a:cs typeface="Cambria"/>
                <a:sym typeface="Cambria"/>
              </a:rPr>
              <a:t>0.784</a:t>
            </a:r>
            <a:endParaRPr sz="2300">
              <a:solidFill>
                <a:schemeClr val="dk1"/>
              </a:solidFill>
              <a:latin typeface="Calibri"/>
              <a:ea typeface="Calibri"/>
              <a:cs typeface="Calibri"/>
              <a:sym typeface="Calibri"/>
            </a:endParaRPr>
          </a:p>
        </p:txBody>
      </p:sp>
      <p:sp>
        <p:nvSpPr>
          <p:cNvPr id="75" name="Google Shape;75;p18"/>
          <p:cNvSpPr txBox="1"/>
          <p:nvPr/>
        </p:nvSpPr>
        <p:spPr>
          <a:xfrm>
            <a:off x="3415324" y="4341098"/>
            <a:ext cx="24690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EF3F3"/>
              </a:buClr>
              <a:buSzPts val="1000"/>
              <a:buFont typeface="Calibri"/>
              <a:buNone/>
            </a:pPr>
            <a:r>
              <a:rPr lang="en-GB" sz="1000">
                <a:solidFill>
                  <a:srgbClr val="EEF3F3"/>
                </a:solidFill>
                <a:latin typeface="Calibri"/>
                <a:ea typeface="Calibri"/>
                <a:cs typeface="Calibri"/>
                <a:sym typeface="Calibri"/>
              </a:rPr>
              <a:t>test ROC-AUC of the final model</a:t>
            </a:r>
            <a:endParaRPr sz="1000">
              <a:solidFill>
                <a:schemeClr val="dk1"/>
              </a:solidFill>
              <a:latin typeface="Calibri"/>
              <a:ea typeface="Calibri"/>
              <a:cs typeface="Calibri"/>
              <a:sym typeface="Calibri"/>
            </a:endParaRPr>
          </a:p>
        </p:txBody>
      </p:sp>
      <p:sp>
        <p:nvSpPr>
          <p:cNvPr id="76" name="Google Shape;76;p18"/>
          <p:cNvSpPr/>
          <p:nvPr/>
        </p:nvSpPr>
        <p:spPr>
          <a:xfrm>
            <a:off x="6193994" y="3877469"/>
            <a:ext cx="2811900" cy="781800"/>
          </a:xfrm>
          <a:prstGeom prst="roundRect">
            <a:avLst>
              <a:gd fmla="val 6400" name="adj"/>
            </a:avLst>
          </a:prstGeom>
          <a:solidFill>
            <a:srgbClr val="1D5560"/>
          </a:solidFill>
          <a:ln cap="flat" cmpd="sng" w="12700">
            <a:solidFill>
              <a:srgbClr val="1D5560"/>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7" name="Google Shape;77;p18"/>
          <p:cNvSpPr txBox="1"/>
          <p:nvPr/>
        </p:nvSpPr>
        <p:spPr>
          <a:xfrm>
            <a:off x="6365449" y="3915902"/>
            <a:ext cx="2469000" cy="41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A541"/>
              </a:buClr>
              <a:buSzPts val="2300"/>
              <a:buFont typeface="Cambria"/>
              <a:buNone/>
            </a:pPr>
            <a:r>
              <a:rPr b="1" lang="en-GB" sz="2300">
                <a:solidFill>
                  <a:srgbClr val="F2A541"/>
                </a:solidFill>
                <a:latin typeface="Cambria"/>
                <a:ea typeface="Cambria"/>
                <a:cs typeface="Cambria"/>
                <a:sym typeface="Cambria"/>
              </a:rPr>
              <a:t>55.6%</a:t>
            </a:r>
            <a:endParaRPr sz="2300">
              <a:solidFill>
                <a:schemeClr val="dk1"/>
              </a:solidFill>
              <a:latin typeface="Calibri"/>
              <a:ea typeface="Calibri"/>
              <a:cs typeface="Calibri"/>
              <a:sym typeface="Calibri"/>
            </a:endParaRPr>
          </a:p>
        </p:txBody>
      </p:sp>
      <p:sp>
        <p:nvSpPr>
          <p:cNvPr id="78" name="Google Shape;78;p18"/>
          <p:cNvSpPr txBox="1"/>
          <p:nvPr/>
        </p:nvSpPr>
        <p:spPr>
          <a:xfrm>
            <a:off x="6365449" y="4341098"/>
            <a:ext cx="24690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EF3F3"/>
              </a:buClr>
              <a:buSzPts val="1000"/>
              <a:buFont typeface="Calibri"/>
              <a:buNone/>
            </a:pPr>
            <a:r>
              <a:rPr lang="en-GB" sz="1000">
                <a:solidFill>
                  <a:srgbClr val="EEF3F3"/>
                </a:solidFill>
                <a:latin typeface="Calibri"/>
                <a:ea typeface="Calibri"/>
                <a:cs typeface="Calibri"/>
                <a:sym typeface="Calibri"/>
              </a:rPr>
              <a:t>of new cases found in the 20% highest-risk group</a:t>
            </a:r>
            <a:endParaRPr sz="1000">
              <a:solidFill>
                <a:schemeClr val="dk1"/>
              </a:solidFill>
              <a:latin typeface="Calibri"/>
              <a:ea typeface="Calibri"/>
              <a:cs typeface="Calibri"/>
              <a:sym typeface="Calibri"/>
            </a:endParaRPr>
          </a:p>
        </p:txBody>
      </p:sp>
      <p:pic>
        <p:nvPicPr>
          <p:cNvPr id="79" name="Google Shape;79;p18" title="WhatsApp Image 2026-10-28 at 11.55.39.jpeg"/>
          <p:cNvPicPr preferRelativeResize="0"/>
          <p:nvPr/>
        </p:nvPicPr>
        <p:blipFill rotWithShape="1">
          <a:blip r:embed="rId3">
            <a:alphaModFix/>
          </a:blip>
          <a:srcRect b="2988" l="1286" r="1315" t="0"/>
          <a:stretch/>
        </p:blipFill>
        <p:spPr>
          <a:xfrm>
            <a:off x="0" y="0"/>
            <a:ext cx="9144000" cy="2276850"/>
          </a:xfrm>
          <a:prstGeom prst="rect">
            <a:avLst/>
          </a:prstGeom>
          <a:noFill/>
          <a:ln>
            <a:noFill/>
          </a:ln>
          <a:effectLst>
            <a:outerShdw blurRad="57150" rotWithShape="0" algn="bl" dir="5400000" dist="1905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9"/>
          <p:cNvSpPr txBox="1"/>
          <p:nvPr>
            <p:ph type="title"/>
          </p:nvPr>
        </p:nvSpPr>
        <p:spPr>
          <a:xfrm>
            <a:off x="411480" y="240030"/>
            <a:ext cx="7063740" cy="65151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2100"/>
              <a:buFont typeface="Cambria"/>
              <a:buNone/>
            </a:pPr>
            <a:r>
              <a:rPr b="1" lang="en-GB" sz="2100">
                <a:solidFill>
                  <a:schemeClr val="dk2"/>
                </a:solidFill>
                <a:latin typeface="Cambria"/>
                <a:ea typeface="Cambria"/>
                <a:cs typeface="Cambria"/>
                <a:sym typeface="Cambria"/>
              </a:rPr>
              <a:t>Goal: spot older adults at risk before they lose independence</a:t>
            </a:r>
            <a:endParaRPr sz="2100"/>
          </a:p>
        </p:txBody>
      </p:sp>
      <p:sp>
        <p:nvSpPr>
          <p:cNvPr id="86" name="Google Shape;86;p19"/>
          <p:cNvSpPr/>
          <p:nvPr/>
        </p:nvSpPr>
        <p:spPr>
          <a:xfrm>
            <a:off x="411480" y="1097280"/>
            <a:ext cx="2468880" cy="1303020"/>
          </a:xfrm>
          <a:prstGeom prst="roundRect">
            <a:avLst>
              <a:gd fmla="val 4211" name="adj"/>
            </a:avLst>
          </a:prstGeom>
          <a:solidFill>
            <a:srgbClr val="157A82"/>
          </a:solidFill>
          <a:ln cap="flat" cmpd="sng" w="12700">
            <a:solidFill>
              <a:srgbClr val="157A82"/>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Baseline (wave t)" id="87" name="Google Shape;87;p19"/>
          <p:cNvPicPr preferRelativeResize="0"/>
          <p:nvPr/>
        </p:nvPicPr>
        <p:blipFill rotWithShape="1">
          <a:blip r:embed="rId3">
            <a:alphaModFix/>
          </a:blip>
          <a:srcRect b="0" l="0" r="0" t="0"/>
          <a:stretch/>
        </p:blipFill>
        <p:spPr>
          <a:xfrm>
            <a:off x="617220" y="1268730"/>
            <a:ext cx="342900" cy="342900"/>
          </a:xfrm>
          <a:prstGeom prst="rect">
            <a:avLst/>
          </a:prstGeom>
          <a:noFill/>
          <a:ln>
            <a:noFill/>
          </a:ln>
        </p:spPr>
      </p:pic>
      <p:sp>
        <p:nvSpPr>
          <p:cNvPr id="88" name="Google Shape;88;p19"/>
          <p:cNvSpPr txBox="1"/>
          <p:nvPr/>
        </p:nvSpPr>
        <p:spPr>
          <a:xfrm>
            <a:off x="1062990" y="1268730"/>
            <a:ext cx="17145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400"/>
              <a:buFont typeface="Calibri"/>
              <a:buNone/>
            </a:pPr>
            <a:r>
              <a:rPr b="1" lang="en-GB" sz="1400">
                <a:solidFill>
                  <a:schemeClr val="lt1"/>
                </a:solidFill>
                <a:latin typeface="Calibri"/>
                <a:ea typeface="Calibri"/>
                <a:cs typeface="Calibri"/>
                <a:sym typeface="Calibri"/>
              </a:rPr>
              <a:t>Baseline (wave t)</a:t>
            </a:r>
            <a:endParaRPr sz="1400">
              <a:solidFill>
                <a:schemeClr val="dk1"/>
              </a:solidFill>
              <a:latin typeface="Calibri"/>
              <a:ea typeface="Calibri"/>
              <a:cs typeface="Calibri"/>
              <a:sym typeface="Calibri"/>
            </a:endParaRPr>
          </a:p>
        </p:txBody>
      </p:sp>
      <p:sp>
        <p:nvSpPr>
          <p:cNvPr id="89" name="Google Shape;89;p19"/>
          <p:cNvSpPr txBox="1"/>
          <p:nvPr/>
        </p:nvSpPr>
        <p:spPr>
          <a:xfrm>
            <a:off x="617220" y="1748790"/>
            <a:ext cx="212598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100"/>
              <a:buFont typeface="Calibri"/>
              <a:buNone/>
            </a:pPr>
            <a:r>
              <a:rPr lang="en-GB" sz="1100">
                <a:solidFill>
                  <a:schemeClr val="lt1"/>
                </a:solidFill>
                <a:latin typeface="Calibri"/>
                <a:ea typeface="Calibri"/>
                <a:cs typeface="Calibri"/>
                <a:sym typeface="Calibri"/>
              </a:rPr>
              <a:t>Aged 65+ and no ADL limitation (ADL = 0)</a:t>
            </a:r>
            <a:endParaRPr sz="1100">
              <a:solidFill>
                <a:schemeClr val="dk1"/>
              </a:solidFill>
              <a:latin typeface="Calibri"/>
              <a:ea typeface="Calibri"/>
              <a:cs typeface="Calibri"/>
              <a:sym typeface="Calibri"/>
            </a:endParaRPr>
          </a:p>
        </p:txBody>
      </p:sp>
      <p:sp>
        <p:nvSpPr>
          <p:cNvPr id="90" name="Google Shape;90;p19"/>
          <p:cNvSpPr/>
          <p:nvPr/>
        </p:nvSpPr>
        <p:spPr>
          <a:xfrm>
            <a:off x="2935224" y="1611630"/>
            <a:ext cx="274320" cy="274320"/>
          </a:xfrm>
          <a:prstGeom prst="rightArrow">
            <a:avLst>
              <a:gd fmla="val 50000" name="adj1"/>
              <a:gd fmla="val 50000" name="adj2"/>
            </a:avLst>
          </a:prstGeom>
          <a:solidFill>
            <a:srgbClr val="9AA5AB"/>
          </a:solidFill>
          <a:ln cap="flat" cmpd="sng" w="12700">
            <a:solidFill>
              <a:srgbClr val="9AA5AB"/>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1" name="Google Shape;91;p19"/>
          <p:cNvSpPr/>
          <p:nvPr/>
        </p:nvSpPr>
        <p:spPr>
          <a:xfrm>
            <a:off x="3257550" y="1097280"/>
            <a:ext cx="2468880" cy="1303020"/>
          </a:xfrm>
          <a:prstGeom prst="roundRect">
            <a:avLst>
              <a:gd fmla="val 4211" name="adj"/>
            </a:avLst>
          </a:prstGeom>
          <a:solidFill>
            <a:srgbClr val="3C6E71"/>
          </a:solidFill>
          <a:ln cap="flat" cmpd="sng" w="12700">
            <a:solidFill>
              <a:srgbClr val="3C6E71"/>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Next SHARE wave" id="92" name="Google Shape;92;p19"/>
          <p:cNvPicPr preferRelativeResize="0"/>
          <p:nvPr/>
        </p:nvPicPr>
        <p:blipFill rotWithShape="1">
          <a:blip r:embed="rId4">
            <a:alphaModFix/>
          </a:blip>
          <a:srcRect b="0" l="0" r="0" t="0"/>
          <a:stretch/>
        </p:blipFill>
        <p:spPr>
          <a:xfrm>
            <a:off x="3463290" y="1268730"/>
            <a:ext cx="342900" cy="342900"/>
          </a:xfrm>
          <a:prstGeom prst="rect">
            <a:avLst/>
          </a:prstGeom>
          <a:noFill/>
          <a:ln>
            <a:noFill/>
          </a:ln>
        </p:spPr>
      </p:pic>
      <p:sp>
        <p:nvSpPr>
          <p:cNvPr id="93" name="Google Shape;93;p19"/>
          <p:cNvSpPr txBox="1"/>
          <p:nvPr/>
        </p:nvSpPr>
        <p:spPr>
          <a:xfrm>
            <a:off x="3909060" y="1268730"/>
            <a:ext cx="17145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400"/>
              <a:buFont typeface="Calibri"/>
              <a:buNone/>
            </a:pPr>
            <a:r>
              <a:rPr b="1" lang="en-GB" sz="1400">
                <a:solidFill>
                  <a:schemeClr val="lt1"/>
                </a:solidFill>
                <a:latin typeface="Calibri"/>
                <a:ea typeface="Calibri"/>
                <a:cs typeface="Calibri"/>
                <a:sym typeface="Calibri"/>
              </a:rPr>
              <a:t>Next SHARE wave</a:t>
            </a:r>
            <a:endParaRPr sz="1400">
              <a:solidFill>
                <a:schemeClr val="dk1"/>
              </a:solidFill>
              <a:latin typeface="Calibri"/>
              <a:ea typeface="Calibri"/>
              <a:cs typeface="Calibri"/>
              <a:sym typeface="Calibri"/>
            </a:endParaRPr>
          </a:p>
        </p:txBody>
      </p:sp>
      <p:sp>
        <p:nvSpPr>
          <p:cNvPr id="94" name="Google Shape;94;p19"/>
          <p:cNvSpPr txBox="1"/>
          <p:nvPr/>
        </p:nvSpPr>
        <p:spPr>
          <a:xfrm>
            <a:off x="3463290" y="1748790"/>
            <a:ext cx="212598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100"/>
              <a:buFont typeface="Calibri"/>
              <a:buNone/>
            </a:pPr>
            <a:r>
              <a:rPr lang="en-GB" sz="1100">
                <a:solidFill>
                  <a:schemeClr val="lt1"/>
                </a:solidFill>
                <a:latin typeface="Calibri"/>
                <a:ea typeface="Calibri"/>
                <a:cs typeface="Calibri"/>
                <a:sym typeface="Calibri"/>
              </a:rPr>
              <a:t>Follow-up interview, mostly 2 years later</a:t>
            </a:r>
            <a:endParaRPr sz="1100">
              <a:solidFill>
                <a:schemeClr val="dk1"/>
              </a:solidFill>
              <a:latin typeface="Calibri"/>
              <a:ea typeface="Calibri"/>
              <a:cs typeface="Calibri"/>
              <a:sym typeface="Calibri"/>
            </a:endParaRPr>
          </a:p>
        </p:txBody>
      </p:sp>
      <p:sp>
        <p:nvSpPr>
          <p:cNvPr id="95" name="Google Shape;95;p19"/>
          <p:cNvSpPr/>
          <p:nvPr/>
        </p:nvSpPr>
        <p:spPr>
          <a:xfrm>
            <a:off x="5781294" y="1611630"/>
            <a:ext cx="274320" cy="274320"/>
          </a:xfrm>
          <a:prstGeom prst="rightArrow">
            <a:avLst>
              <a:gd fmla="val 50000" name="adj1"/>
              <a:gd fmla="val 50000" name="adj2"/>
            </a:avLst>
          </a:prstGeom>
          <a:solidFill>
            <a:srgbClr val="9AA5AB"/>
          </a:solidFill>
          <a:ln cap="flat" cmpd="sng" w="12700">
            <a:solidFill>
              <a:srgbClr val="9AA5AB"/>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6" name="Google Shape;96;p19"/>
          <p:cNvSpPr/>
          <p:nvPr/>
        </p:nvSpPr>
        <p:spPr>
          <a:xfrm>
            <a:off x="6103620" y="1097280"/>
            <a:ext cx="2468880" cy="1303020"/>
          </a:xfrm>
          <a:prstGeom prst="roundRect">
            <a:avLst>
              <a:gd fmla="val 4211" name="adj"/>
            </a:avLst>
          </a:prstGeom>
          <a:solidFill>
            <a:srgbClr val="E4572E"/>
          </a:solidFill>
          <a:ln cap="flat" cmpd="sng" w="12700">
            <a:solidFill>
              <a:srgbClr val="E4572E"/>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Outcome" id="97" name="Google Shape;97;p19"/>
          <p:cNvPicPr preferRelativeResize="0"/>
          <p:nvPr/>
        </p:nvPicPr>
        <p:blipFill rotWithShape="1">
          <a:blip r:embed="rId5">
            <a:alphaModFix/>
          </a:blip>
          <a:srcRect b="0" l="0" r="0" t="0"/>
          <a:stretch/>
        </p:blipFill>
        <p:spPr>
          <a:xfrm>
            <a:off x="6309360" y="1268730"/>
            <a:ext cx="342900" cy="342900"/>
          </a:xfrm>
          <a:prstGeom prst="rect">
            <a:avLst/>
          </a:prstGeom>
          <a:noFill/>
          <a:ln>
            <a:noFill/>
          </a:ln>
        </p:spPr>
      </p:pic>
      <p:sp>
        <p:nvSpPr>
          <p:cNvPr id="98" name="Google Shape;98;p19"/>
          <p:cNvSpPr txBox="1"/>
          <p:nvPr/>
        </p:nvSpPr>
        <p:spPr>
          <a:xfrm>
            <a:off x="6755130" y="1268730"/>
            <a:ext cx="17145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400"/>
              <a:buFont typeface="Calibri"/>
              <a:buNone/>
            </a:pPr>
            <a:r>
              <a:rPr b="1" lang="en-GB" sz="1400">
                <a:solidFill>
                  <a:schemeClr val="lt1"/>
                </a:solidFill>
                <a:latin typeface="Calibri"/>
                <a:ea typeface="Calibri"/>
                <a:cs typeface="Calibri"/>
                <a:sym typeface="Calibri"/>
              </a:rPr>
              <a:t>Outcome</a:t>
            </a:r>
            <a:endParaRPr sz="1400">
              <a:solidFill>
                <a:schemeClr val="dk1"/>
              </a:solidFill>
              <a:latin typeface="Calibri"/>
              <a:ea typeface="Calibri"/>
              <a:cs typeface="Calibri"/>
              <a:sym typeface="Calibri"/>
            </a:endParaRPr>
          </a:p>
        </p:txBody>
      </p:sp>
      <p:sp>
        <p:nvSpPr>
          <p:cNvPr id="99" name="Google Shape;99;p19"/>
          <p:cNvSpPr txBox="1"/>
          <p:nvPr/>
        </p:nvSpPr>
        <p:spPr>
          <a:xfrm>
            <a:off x="6309360" y="1748790"/>
            <a:ext cx="212598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100"/>
              <a:buFont typeface="Calibri"/>
              <a:buNone/>
            </a:pPr>
            <a:r>
              <a:rPr lang="en-GB" sz="1100">
                <a:solidFill>
                  <a:schemeClr val="lt1"/>
                </a:solidFill>
                <a:latin typeface="Calibri"/>
                <a:ea typeface="Calibri"/>
                <a:cs typeface="Calibri"/>
                <a:sym typeface="Calibri"/>
              </a:rPr>
              <a:t>New ADL limitation: ADL ≥ 1 (yes / no)</a:t>
            </a:r>
            <a:endParaRPr sz="1100">
              <a:solidFill>
                <a:schemeClr val="dk1"/>
              </a:solidFill>
              <a:latin typeface="Calibri"/>
              <a:ea typeface="Calibri"/>
              <a:cs typeface="Calibri"/>
              <a:sym typeface="Calibri"/>
            </a:endParaRPr>
          </a:p>
        </p:txBody>
      </p:sp>
      <p:sp>
        <p:nvSpPr>
          <p:cNvPr id="100" name="Google Shape;100;p19"/>
          <p:cNvSpPr txBox="1"/>
          <p:nvPr/>
        </p:nvSpPr>
        <p:spPr>
          <a:xfrm>
            <a:off x="411480" y="2503170"/>
            <a:ext cx="8298180" cy="24003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F6F75"/>
              </a:buClr>
              <a:buSzPts val="800"/>
              <a:buFont typeface="Calibri"/>
              <a:buNone/>
            </a:pPr>
            <a:r>
              <a:rPr i="1" lang="en-GB" sz="800">
                <a:solidFill>
                  <a:srgbClr val="5F6F75"/>
                </a:solidFill>
                <a:latin typeface="Calibri"/>
                <a:ea typeface="Calibri"/>
                <a:cs typeface="Calibri"/>
                <a:sym typeface="Calibri"/>
              </a:rPr>
              <a:t>ADL index (0–5): difficulty dressing, bathing, eating, walking across a room, getting in or out of bed (easySHARE guide).</a:t>
            </a:r>
            <a:endParaRPr sz="800">
              <a:solidFill>
                <a:schemeClr val="dk1"/>
              </a:solidFill>
              <a:latin typeface="Calibri"/>
              <a:ea typeface="Calibri"/>
              <a:cs typeface="Calibri"/>
              <a:sym typeface="Calibri"/>
            </a:endParaRPr>
          </a:p>
        </p:txBody>
      </p:sp>
      <p:sp>
        <p:nvSpPr>
          <p:cNvPr id="101" name="Google Shape;101;p19"/>
          <p:cNvSpPr txBox="1"/>
          <p:nvPr/>
        </p:nvSpPr>
        <p:spPr>
          <a:xfrm>
            <a:off x="411480" y="2880360"/>
            <a:ext cx="2743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1" lang="en-GB" sz="1400">
                <a:solidFill>
                  <a:schemeClr val="dk2"/>
                </a:solidFill>
                <a:latin typeface="Calibri"/>
                <a:ea typeface="Calibri"/>
                <a:cs typeface="Calibri"/>
                <a:sym typeface="Calibri"/>
              </a:rPr>
              <a:t>Objectives</a:t>
            </a:r>
            <a:endParaRPr sz="1400">
              <a:solidFill>
                <a:schemeClr val="dk1"/>
              </a:solidFill>
              <a:latin typeface="Calibri"/>
              <a:ea typeface="Calibri"/>
              <a:cs typeface="Calibri"/>
              <a:sym typeface="Calibri"/>
            </a:endParaRPr>
          </a:p>
        </p:txBody>
      </p:sp>
      <p:sp>
        <p:nvSpPr>
          <p:cNvPr id="102" name="Google Shape;102;p19"/>
          <p:cNvSpPr/>
          <p:nvPr/>
        </p:nvSpPr>
        <p:spPr>
          <a:xfrm>
            <a:off x="411480" y="3257550"/>
            <a:ext cx="2468880" cy="1200150"/>
          </a:xfrm>
          <a:prstGeom prst="roundRect">
            <a:avLst>
              <a:gd fmla="val 4571" name="adj"/>
            </a:avLst>
          </a:prstGeom>
          <a:solidFill>
            <a:srgbClr val="EEF3F3"/>
          </a:solidFill>
          <a:ln cap="flat" cmpd="sng" w="12700">
            <a:solidFill>
              <a:srgbClr val="EEF3F3"/>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3" name="Google Shape;103;p19"/>
          <p:cNvSpPr/>
          <p:nvPr/>
        </p:nvSpPr>
        <p:spPr>
          <a:xfrm>
            <a:off x="582930" y="3415284"/>
            <a:ext cx="411480" cy="41148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Build" id="104" name="Google Shape;104;p19"/>
          <p:cNvPicPr preferRelativeResize="0"/>
          <p:nvPr/>
        </p:nvPicPr>
        <p:blipFill rotWithShape="1">
          <a:blip r:embed="rId6">
            <a:alphaModFix/>
          </a:blip>
          <a:srcRect b="0" l="0" r="0" t="0"/>
          <a:stretch/>
        </p:blipFill>
        <p:spPr>
          <a:xfrm>
            <a:off x="672084" y="3504438"/>
            <a:ext cx="233172" cy="233172"/>
          </a:xfrm>
          <a:prstGeom prst="rect">
            <a:avLst/>
          </a:prstGeom>
          <a:noFill/>
          <a:ln>
            <a:noFill/>
          </a:ln>
        </p:spPr>
      </p:pic>
      <p:sp>
        <p:nvSpPr>
          <p:cNvPr id="105" name="Google Shape;105;p19"/>
          <p:cNvSpPr txBox="1"/>
          <p:nvPr/>
        </p:nvSpPr>
        <p:spPr>
          <a:xfrm>
            <a:off x="1097280" y="3415284"/>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1400"/>
              <a:buFont typeface="Calibri"/>
              <a:buNone/>
            </a:pPr>
            <a:r>
              <a:rPr b="1" lang="en-GB" sz="1400">
                <a:solidFill>
                  <a:schemeClr val="accent1"/>
                </a:solidFill>
                <a:latin typeface="Calibri"/>
                <a:ea typeface="Calibri"/>
                <a:cs typeface="Calibri"/>
                <a:sym typeface="Calibri"/>
              </a:rPr>
              <a:t>Build</a:t>
            </a:r>
            <a:endParaRPr sz="1400">
              <a:solidFill>
                <a:schemeClr val="dk1"/>
              </a:solidFill>
              <a:latin typeface="Calibri"/>
              <a:ea typeface="Calibri"/>
              <a:cs typeface="Calibri"/>
              <a:sym typeface="Calibri"/>
            </a:endParaRPr>
          </a:p>
        </p:txBody>
      </p:sp>
      <p:sp>
        <p:nvSpPr>
          <p:cNvPr id="106" name="Google Shape;106;p19"/>
          <p:cNvSpPr txBox="1"/>
          <p:nvPr/>
        </p:nvSpPr>
        <p:spPr>
          <a:xfrm>
            <a:off x="582930" y="3909060"/>
            <a:ext cx="2160270" cy="4800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a clean, longitudinal baseline → follow-up dataset</a:t>
            </a:r>
            <a:endParaRPr sz="1100">
              <a:solidFill>
                <a:schemeClr val="dk1"/>
              </a:solidFill>
              <a:latin typeface="Calibri"/>
              <a:ea typeface="Calibri"/>
              <a:cs typeface="Calibri"/>
              <a:sym typeface="Calibri"/>
            </a:endParaRPr>
          </a:p>
        </p:txBody>
      </p:sp>
      <p:sp>
        <p:nvSpPr>
          <p:cNvPr id="107" name="Google Shape;107;p19"/>
          <p:cNvSpPr/>
          <p:nvPr/>
        </p:nvSpPr>
        <p:spPr>
          <a:xfrm>
            <a:off x="3257550" y="3257550"/>
            <a:ext cx="2468880" cy="1200150"/>
          </a:xfrm>
          <a:prstGeom prst="roundRect">
            <a:avLst>
              <a:gd fmla="val 4571" name="adj"/>
            </a:avLst>
          </a:prstGeom>
          <a:solidFill>
            <a:srgbClr val="EEF3F3"/>
          </a:solidFill>
          <a:ln cap="flat" cmpd="sng" w="12700">
            <a:solidFill>
              <a:srgbClr val="EEF3F3"/>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8" name="Google Shape;108;p19"/>
          <p:cNvSpPr/>
          <p:nvPr/>
        </p:nvSpPr>
        <p:spPr>
          <a:xfrm>
            <a:off x="3429000" y="3415284"/>
            <a:ext cx="411480" cy="41148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Compare" id="109" name="Google Shape;109;p19"/>
          <p:cNvPicPr preferRelativeResize="0"/>
          <p:nvPr/>
        </p:nvPicPr>
        <p:blipFill rotWithShape="1">
          <a:blip r:embed="rId7">
            <a:alphaModFix/>
          </a:blip>
          <a:srcRect b="0" l="0" r="0" t="0"/>
          <a:stretch/>
        </p:blipFill>
        <p:spPr>
          <a:xfrm>
            <a:off x="3518154" y="3504438"/>
            <a:ext cx="233172" cy="233172"/>
          </a:xfrm>
          <a:prstGeom prst="rect">
            <a:avLst/>
          </a:prstGeom>
          <a:noFill/>
          <a:ln>
            <a:noFill/>
          </a:ln>
        </p:spPr>
      </p:pic>
      <p:sp>
        <p:nvSpPr>
          <p:cNvPr id="110" name="Google Shape;110;p19"/>
          <p:cNvSpPr txBox="1"/>
          <p:nvPr/>
        </p:nvSpPr>
        <p:spPr>
          <a:xfrm>
            <a:off x="3943350" y="3415284"/>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1400"/>
              <a:buFont typeface="Calibri"/>
              <a:buNone/>
            </a:pPr>
            <a:r>
              <a:rPr b="1" lang="en-GB" sz="1400">
                <a:solidFill>
                  <a:schemeClr val="accent1"/>
                </a:solidFill>
                <a:latin typeface="Calibri"/>
                <a:ea typeface="Calibri"/>
                <a:cs typeface="Calibri"/>
                <a:sym typeface="Calibri"/>
              </a:rPr>
              <a:t>Compare</a:t>
            </a:r>
            <a:endParaRPr sz="1400">
              <a:solidFill>
                <a:schemeClr val="dk1"/>
              </a:solidFill>
              <a:latin typeface="Calibri"/>
              <a:ea typeface="Calibri"/>
              <a:cs typeface="Calibri"/>
              <a:sym typeface="Calibri"/>
            </a:endParaRPr>
          </a:p>
        </p:txBody>
      </p:sp>
      <p:sp>
        <p:nvSpPr>
          <p:cNvPr id="111" name="Google Shape;111;p19"/>
          <p:cNvSpPr txBox="1"/>
          <p:nvPr/>
        </p:nvSpPr>
        <p:spPr>
          <a:xfrm>
            <a:off x="3429000" y="3909060"/>
            <a:ext cx="2160270" cy="4800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models fairly on a future, untouched test period</a:t>
            </a:r>
            <a:endParaRPr sz="1100">
              <a:solidFill>
                <a:schemeClr val="dk1"/>
              </a:solidFill>
              <a:latin typeface="Calibri"/>
              <a:ea typeface="Calibri"/>
              <a:cs typeface="Calibri"/>
              <a:sym typeface="Calibri"/>
            </a:endParaRPr>
          </a:p>
        </p:txBody>
      </p:sp>
      <p:sp>
        <p:nvSpPr>
          <p:cNvPr id="112" name="Google Shape;112;p19"/>
          <p:cNvSpPr/>
          <p:nvPr/>
        </p:nvSpPr>
        <p:spPr>
          <a:xfrm>
            <a:off x="6103620" y="3257550"/>
            <a:ext cx="2468880" cy="1200150"/>
          </a:xfrm>
          <a:prstGeom prst="roundRect">
            <a:avLst>
              <a:gd fmla="val 4571" name="adj"/>
            </a:avLst>
          </a:prstGeom>
          <a:solidFill>
            <a:srgbClr val="EEF3F3"/>
          </a:solidFill>
          <a:ln cap="flat" cmpd="sng" w="12700">
            <a:solidFill>
              <a:srgbClr val="EEF3F3"/>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3" name="Google Shape;113;p19"/>
          <p:cNvSpPr/>
          <p:nvPr/>
        </p:nvSpPr>
        <p:spPr>
          <a:xfrm>
            <a:off x="6275070" y="3415284"/>
            <a:ext cx="411480" cy="41148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Explain" id="114" name="Google Shape;114;p19"/>
          <p:cNvPicPr preferRelativeResize="0"/>
          <p:nvPr/>
        </p:nvPicPr>
        <p:blipFill rotWithShape="1">
          <a:blip r:embed="rId8">
            <a:alphaModFix/>
          </a:blip>
          <a:srcRect b="0" l="0" r="0" t="0"/>
          <a:stretch/>
        </p:blipFill>
        <p:spPr>
          <a:xfrm>
            <a:off x="6364224" y="3504438"/>
            <a:ext cx="233172" cy="233172"/>
          </a:xfrm>
          <a:prstGeom prst="rect">
            <a:avLst/>
          </a:prstGeom>
          <a:noFill/>
          <a:ln>
            <a:noFill/>
          </a:ln>
        </p:spPr>
      </p:pic>
      <p:sp>
        <p:nvSpPr>
          <p:cNvPr id="115" name="Google Shape;115;p19"/>
          <p:cNvSpPr txBox="1"/>
          <p:nvPr/>
        </p:nvSpPr>
        <p:spPr>
          <a:xfrm>
            <a:off x="6789420" y="3415284"/>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1400"/>
              <a:buFont typeface="Calibri"/>
              <a:buNone/>
            </a:pPr>
            <a:r>
              <a:rPr b="1" lang="en-GB" sz="1400">
                <a:solidFill>
                  <a:schemeClr val="accent1"/>
                </a:solidFill>
                <a:latin typeface="Calibri"/>
                <a:ea typeface="Calibri"/>
                <a:cs typeface="Calibri"/>
                <a:sym typeface="Calibri"/>
              </a:rPr>
              <a:t>Explain</a:t>
            </a:r>
            <a:endParaRPr sz="1400">
              <a:solidFill>
                <a:schemeClr val="dk1"/>
              </a:solidFill>
              <a:latin typeface="Calibri"/>
              <a:ea typeface="Calibri"/>
              <a:cs typeface="Calibri"/>
              <a:sym typeface="Calibri"/>
            </a:endParaRPr>
          </a:p>
        </p:txBody>
      </p:sp>
      <p:sp>
        <p:nvSpPr>
          <p:cNvPr id="116" name="Google Shape;116;p19"/>
          <p:cNvSpPr txBox="1"/>
          <p:nvPr/>
        </p:nvSpPr>
        <p:spPr>
          <a:xfrm>
            <a:off x="6275070" y="3909060"/>
            <a:ext cx="2160270" cy="4800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which factors drive risk and how to act on it</a:t>
            </a:r>
            <a:endParaRPr sz="1100">
              <a:solidFill>
                <a:schemeClr val="dk1"/>
              </a:solidFill>
              <a:latin typeface="Calibri"/>
              <a:ea typeface="Calibri"/>
              <a:cs typeface="Calibri"/>
              <a:sym typeface="Calibri"/>
            </a:endParaRPr>
          </a:p>
        </p:txBody>
      </p:sp>
      <p:sp>
        <p:nvSpPr>
          <p:cNvPr id="117" name="Google Shape;117;p19"/>
          <p:cNvSpPr txBox="1"/>
          <p:nvPr>
            <p:ph idx="4294967295" type="sldNum"/>
          </p:nvPr>
        </p:nvSpPr>
        <p:spPr>
          <a:xfrm>
            <a:off x="8435340" y="4800600"/>
            <a:ext cx="342900" cy="205740"/>
          </a:xfrm>
          <a:prstGeom prst="rect">
            <a:avLst/>
          </a:prstGeom>
          <a:noFill/>
          <a:ln>
            <a:noFill/>
          </a:ln>
        </p:spPr>
        <p:txBody>
          <a:bodyPr anchorCtr="0" anchor="t" bIns="34275" lIns="68575" spcFirstLastPara="1" rIns="68575" wrap="square" tIns="34275">
            <a:noAutofit/>
          </a:bodyPr>
          <a:lstStyle/>
          <a:p>
            <a:pPr indent="0" lvl="0" marL="0" marR="0" rtl="0" algn="r">
              <a:spcBef>
                <a:spcPts val="0"/>
              </a:spcBef>
              <a:spcAft>
                <a:spcPts val="0"/>
              </a:spcAft>
              <a:buNone/>
            </a:pPr>
            <a:fld id="{00000000-1234-1234-1234-123412341234}" type="slidenum">
              <a:rPr b="0" lang="en-GB" sz="800">
                <a:solidFill>
                  <a:srgbClr val="5F6F75"/>
                </a:solidFill>
                <a:latin typeface="Calibri"/>
                <a:ea typeface="Calibri"/>
                <a:cs typeface="Calibri"/>
                <a:sym typeface="Calibri"/>
              </a:rPr>
              <a:t>‹#›</a:t>
            </a:fld>
            <a:endParaRPr sz="800">
              <a:solidFill>
                <a:srgbClr val="5F6F75"/>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0"/>
          <p:cNvSpPr txBox="1"/>
          <p:nvPr>
            <p:ph type="title"/>
          </p:nvPr>
        </p:nvSpPr>
        <p:spPr>
          <a:xfrm>
            <a:off x="411480" y="240030"/>
            <a:ext cx="7063740" cy="65151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2100"/>
              <a:buFont typeface="Cambria"/>
              <a:buNone/>
            </a:pPr>
            <a:r>
              <a:rPr b="1" lang="en-GB" sz="2100">
                <a:solidFill>
                  <a:schemeClr val="dk2"/>
                </a:solidFill>
                <a:latin typeface="Cambria"/>
                <a:ea typeface="Cambria"/>
                <a:cs typeface="Cambria"/>
                <a:sym typeface="Cambria"/>
              </a:rPr>
              <a:t>About 1 in 10 develops a new limitation by the next wave</a:t>
            </a:r>
            <a:endParaRPr sz="2100"/>
          </a:p>
        </p:txBody>
      </p:sp>
      <p:sp>
        <p:nvSpPr>
          <p:cNvPr id="124" name="Google Shape;124;p20"/>
          <p:cNvSpPr/>
          <p:nvPr/>
        </p:nvSpPr>
        <p:spPr>
          <a:xfrm>
            <a:off x="411480" y="1062990"/>
            <a:ext cx="2880360" cy="1028700"/>
          </a:xfrm>
          <a:prstGeom prst="roundRect">
            <a:avLst>
              <a:gd fmla="val 5333" name="adj"/>
            </a:avLst>
          </a:prstGeom>
          <a:solidFill>
            <a:srgbClr val="EEF3F3"/>
          </a:solidFill>
          <a:ln cap="flat" cmpd="sng" w="12700">
            <a:solidFill>
              <a:srgbClr val="EEF3F3"/>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5" name="Google Shape;125;p20"/>
          <p:cNvSpPr txBox="1"/>
          <p:nvPr/>
        </p:nvSpPr>
        <p:spPr>
          <a:xfrm>
            <a:off x="582930" y="1165860"/>
            <a:ext cx="253746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2100"/>
              <a:buFont typeface="Cambria"/>
              <a:buNone/>
            </a:pPr>
            <a:r>
              <a:rPr b="1" lang="en-GB" sz="2100">
                <a:solidFill>
                  <a:schemeClr val="accent1"/>
                </a:solidFill>
                <a:latin typeface="Cambria"/>
                <a:ea typeface="Cambria"/>
                <a:cs typeface="Cambria"/>
                <a:sym typeface="Cambria"/>
              </a:rPr>
              <a:t>488,400</a:t>
            </a:r>
            <a:endParaRPr sz="2100">
              <a:solidFill>
                <a:schemeClr val="dk1"/>
              </a:solidFill>
              <a:latin typeface="Calibri"/>
              <a:ea typeface="Calibri"/>
              <a:cs typeface="Calibri"/>
              <a:sym typeface="Calibri"/>
            </a:endParaRPr>
          </a:p>
        </p:txBody>
      </p:sp>
      <p:sp>
        <p:nvSpPr>
          <p:cNvPr id="126" name="Google Shape;126;p20"/>
          <p:cNvSpPr txBox="1"/>
          <p:nvPr/>
        </p:nvSpPr>
        <p:spPr>
          <a:xfrm>
            <a:off x="582930" y="1597914"/>
            <a:ext cx="253746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easySHARE interviews × 108 variables (all ages, waves 1–9)</a:t>
            </a:r>
            <a:endParaRPr sz="1100">
              <a:solidFill>
                <a:schemeClr val="dk1"/>
              </a:solidFill>
              <a:latin typeface="Calibri"/>
              <a:ea typeface="Calibri"/>
              <a:cs typeface="Calibri"/>
              <a:sym typeface="Calibri"/>
            </a:endParaRPr>
          </a:p>
        </p:txBody>
      </p:sp>
      <p:sp>
        <p:nvSpPr>
          <p:cNvPr id="127" name="Google Shape;127;p20"/>
          <p:cNvSpPr/>
          <p:nvPr/>
        </p:nvSpPr>
        <p:spPr>
          <a:xfrm>
            <a:off x="411480" y="2228850"/>
            <a:ext cx="2880360" cy="1028700"/>
          </a:xfrm>
          <a:prstGeom prst="roundRect">
            <a:avLst>
              <a:gd fmla="val 5333" name="adj"/>
            </a:avLst>
          </a:prstGeom>
          <a:solidFill>
            <a:srgbClr val="EEF3F3"/>
          </a:solidFill>
          <a:ln cap="flat" cmpd="sng" w="12700">
            <a:solidFill>
              <a:srgbClr val="EEF3F3"/>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8" name="Google Shape;128;p20"/>
          <p:cNvSpPr txBox="1"/>
          <p:nvPr/>
        </p:nvSpPr>
        <p:spPr>
          <a:xfrm>
            <a:off x="582930" y="2331720"/>
            <a:ext cx="253746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2100"/>
              <a:buFont typeface="Cambria"/>
              <a:buNone/>
            </a:pPr>
            <a:r>
              <a:rPr b="1" lang="en-GB" sz="2100">
                <a:solidFill>
                  <a:schemeClr val="accent1"/>
                </a:solidFill>
                <a:latin typeface="Cambria"/>
                <a:ea typeface="Cambria"/>
                <a:cs typeface="Cambria"/>
                <a:sym typeface="Cambria"/>
              </a:rPr>
              <a:t>115,155</a:t>
            </a:r>
            <a:endParaRPr sz="2100">
              <a:solidFill>
                <a:schemeClr val="dk1"/>
              </a:solidFill>
              <a:latin typeface="Calibri"/>
              <a:ea typeface="Calibri"/>
              <a:cs typeface="Calibri"/>
              <a:sym typeface="Calibri"/>
            </a:endParaRPr>
          </a:p>
        </p:txBody>
      </p:sp>
      <p:sp>
        <p:nvSpPr>
          <p:cNvPr id="129" name="Google Shape;129;p20"/>
          <p:cNvSpPr txBox="1"/>
          <p:nvPr/>
        </p:nvSpPr>
        <p:spPr>
          <a:xfrm>
            <a:off x="582930" y="2763774"/>
            <a:ext cx="253746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pairs linked by person ID across 6 wave transitions (wave 3 has no ADL)</a:t>
            </a:r>
            <a:endParaRPr sz="1100">
              <a:solidFill>
                <a:schemeClr val="dk1"/>
              </a:solidFill>
              <a:latin typeface="Calibri"/>
              <a:ea typeface="Calibri"/>
              <a:cs typeface="Calibri"/>
              <a:sym typeface="Calibri"/>
            </a:endParaRPr>
          </a:p>
        </p:txBody>
      </p:sp>
      <p:sp>
        <p:nvSpPr>
          <p:cNvPr id="130" name="Google Shape;130;p20"/>
          <p:cNvSpPr/>
          <p:nvPr/>
        </p:nvSpPr>
        <p:spPr>
          <a:xfrm>
            <a:off x="411480" y="3394710"/>
            <a:ext cx="2880360" cy="1028700"/>
          </a:xfrm>
          <a:prstGeom prst="roundRect">
            <a:avLst>
              <a:gd fmla="val 5333" name="adj"/>
            </a:avLst>
          </a:prstGeom>
          <a:solidFill>
            <a:srgbClr val="EEF3F3"/>
          </a:solidFill>
          <a:ln cap="flat" cmpd="sng" w="12700">
            <a:solidFill>
              <a:srgbClr val="EEF3F3"/>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1" name="Google Shape;131;p20"/>
          <p:cNvSpPr txBox="1"/>
          <p:nvPr/>
        </p:nvSpPr>
        <p:spPr>
          <a:xfrm>
            <a:off x="582930" y="3497580"/>
            <a:ext cx="253746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2"/>
              </a:buClr>
              <a:buSzPts val="2100"/>
              <a:buFont typeface="Cambria"/>
              <a:buNone/>
            </a:pPr>
            <a:r>
              <a:rPr b="1" lang="en-GB" sz="2100">
                <a:solidFill>
                  <a:schemeClr val="accent2"/>
                </a:solidFill>
                <a:latin typeface="Cambria"/>
                <a:ea typeface="Cambria"/>
                <a:cs typeface="Cambria"/>
                <a:sym typeface="Cambria"/>
              </a:rPr>
              <a:t>9.63%</a:t>
            </a:r>
            <a:endParaRPr sz="2100">
              <a:solidFill>
                <a:schemeClr val="dk1"/>
              </a:solidFill>
              <a:latin typeface="Calibri"/>
              <a:ea typeface="Calibri"/>
              <a:cs typeface="Calibri"/>
              <a:sym typeface="Calibri"/>
            </a:endParaRPr>
          </a:p>
        </p:txBody>
      </p:sp>
      <p:sp>
        <p:nvSpPr>
          <p:cNvPr id="132" name="Google Shape;132;p20"/>
          <p:cNvSpPr txBox="1"/>
          <p:nvPr/>
        </p:nvSpPr>
        <p:spPr>
          <a:xfrm>
            <a:off x="582930" y="3929634"/>
            <a:ext cx="253746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develop a new ADL limitation (ADL ≥ 2: 3.87%)</a:t>
            </a:r>
            <a:endParaRPr sz="1100">
              <a:solidFill>
                <a:schemeClr val="dk1"/>
              </a:solidFill>
              <a:latin typeface="Calibri"/>
              <a:ea typeface="Calibri"/>
              <a:cs typeface="Calibri"/>
              <a:sym typeface="Calibri"/>
            </a:endParaRPr>
          </a:p>
        </p:txBody>
      </p:sp>
      <p:pic>
        <p:nvPicPr>
          <p:cNvPr id="133" name="Google Shape;133;p20"/>
          <p:cNvPicPr preferRelativeResize="0"/>
          <p:nvPr/>
        </p:nvPicPr>
        <p:blipFill rotWithShape="1">
          <a:blip r:embed="rId3">
            <a:alphaModFix/>
          </a:blip>
          <a:srcRect b="0" l="0" r="0" t="0"/>
          <a:stretch/>
        </p:blipFill>
        <p:spPr>
          <a:xfrm>
            <a:off x="3566160" y="994410"/>
            <a:ext cx="5143500" cy="3257550"/>
          </a:xfrm>
          <a:prstGeom prst="rect">
            <a:avLst/>
          </a:prstGeom>
          <a:noFill/>
          <a:ln>
            <a:noFill/>
          </a:ln>
        </p:spPr>
      </p:pic>
      <p:sp>
        <p:nvSpPr>
          <p:cNvPr id="134" name="Google Shape;134;p20"/>
          <p:cNvSpPr txBox="1"/>
          <p:nvPr/>
        </p:nvSpPr>
        <p:spPr>
          <a:xfrm>
            <a:off x="3634740" y="4320540"/>
            <a:ext cx="5074920" cy="342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F6F75"/>
              </a:buClr>
              <a:buSzPts val="800"/>
              <a:buFont typeface="Calibri"/>
              <a:buNone/>
            </a:pPr>
            <a:r>
              <a:rPr i="1" lang="en-GB" sz="800">
                <a:solidFill>
                  <a:srgbClr val="5F6F75"/>
                </a:solidFill>
                <a:latin typeface="Calibri"/>
                <a:ea typeface="Calibri"/>
                <a:cs typeface="Calibri"/>
                <a:sym typeface="Calibri"/>
              </a:rPr>
              <a:t>Retention to the next wave: 56–79% of eligible people (lowest after wave 7: 56.2%). Follow-up interval: 77% two years, 19% three years.</a:t>
            </a:r>
            <a:endParaRPr sz="800">
              <a:solidFill>
                <a:schemeClr val="dk1"/>
              </a:solidFill>
              <a:latin typeface="Calibri"/>
              <a:ea typeface="Calibri"/>
              <a:cs typeface="Calibri"/>
              <a:sym typeface="Calibri"/>
            </a:endParaRPr>
          </a:p>
        </p:txBody>
      </p:sp>
      <p:sp>
        <p:nvSpPr>
          <p:cNvPr id="135" name="Google Shape;135;p20"/>
          <p:cNvSpPr txBox="1"/>
          <p:nvPr>
            <p:ph idx="4294967295" type="sldNum"/>
          </p:nvPr>
        </p:nvSpPr>
        <p:spPr>
          <a:xfrm>
            <a:off x="8435340" y="4800600"/>
            <a:ext cx="342900" cy="205740"/>
          </a:xfrm>
          <a:prstGeom prst="rect">
            <a:avLst/>
          </a:prstGeom>
          <a:noFill/>
          <a:ln>
            <a:noFill/>
          </a:ln>
        </p:spPr>
        <p:txBody>
          <a:bodyPr anchorCtr="0" anchor="t" bIns="34275" lIns="68575" spcFirstLastPara="1" rIns="68575" wrap="square" tIns="34275">
            <a:noAutofit/>
          </a:bodyPr>
          <a:lstStyle/>
          <a:p>
            <a:pPr indent="0" lvl="0" marL="0" marR="0" rtl="0" algn="r">
              <a:spcBef>
                <a:spcPts val="0"/>
              </a:spcBef>
              <a:spcAft>
                <a:spcPts val="0"/>
              </a:spcAft>
              <a:buNone/>
            </a:pPr>
            <a:fld id="{00000000-1234-1234-1234-123412341234}" type="slidenum">
              <a:rPr b="0" lang="en-GB" sz="800">
                <a:solidFill>
                  <a:srgbClr val="5F6F75"/>
                </a:solidFill>
                <a:latin typeface="Calibri"/>
                <a:ea typeface="Calibri"/>
                <a:cs typeface="Calibri"/>
                <a:sym typeface="Calibri"/>
              </a:rPr>
              <a:t>‹#›</a:t>
            </a:fld>
            <a:endParaRPr sz="800">
              <a:solidFill>
                <a:srgbClr val="5F6F75"/>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21"/>
          <p:cNvSpPr txBox="1"/>
          <p:nvPr>
            <p:ph type="title"/>
          </p:nvPr>
        </p:nvSpPr>
        <p:spPr>
          <a:xfrm>
            <a:off x="411480" y="240030"/>
            <a:ext cx="7063740" cy="65151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2100"/>
              <a:buFont typeface="Cambria"/>
              <a:buNone/>
            </a:pPr>
            <a:r>
              <a:rPr b="1" lang="en-GB" sz="2100">
                <a:solidFill>
                  <a:schemeClr val="dk2"/>
                </a:solidFill>
                <a:latin typeface="Cambria"/>
                <a:ea typeface="Cambria"/>
                <a:cs typeface="Cambria"/>
                <a:sym typeface="Cambria"/>
              </a:rPr>
              <a:t>Survey codes stored as numbers were hiding the signal</a:t>
            </a:r>
            <a:endParaRPr sz="2100"/>
          </a:p>
        </p:txBody>
      </p:sp>
      <p:pic>
        <p:nvPicPr>
          <p:cNvPr descr="Raw versus cleaned distributions of EURO-D, grip strength and BMI" id="142" name="Google Shape;142;p21"/>
          <p:cNvPicPr preferRelativeResize="0"/>
          <p:nvPr/>
        </p:nvPicPr>
        <p:blipFill rotWithShape="1">
          <a:blip r:embed="rId3">
            <a:alphaModFix/>
          </a:blip>
          <a:srcRect b="0" l="0" r="0" t="0"/>
          <a:stretch/>
        </p:blipFill>
        <p:spPr>
          <a:xfrm>
            <a:off x="411480" y="1028700"/>
            <a:ext cx="5280660" cy="2328542"/>
          </a:xfrm>
          <a:prstGeom prst="rect">
            <a:avLst/>
          </a:prstGeom>
          <a:noFill/>
          <a:ln>
            <a:noFill/>
          </a:ln>
        </p:spPr>
      </p:pic>
      <p:sp>
        <p:nvSpPr>
          <p:cNvPr id="143" name="Google Shape;143;p21"/>
          <p:cNvSpPr txBox="1"/>
          <p:nvPr/>
        </p:nvSpPr>
        <p:spPr>
          <a:xfrm>
            <a:off x="411480" y="3429000"/>
            <a:ext cx="5280660" cy="342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F6F75"/>
              </a:buClr>
              <a:buSzPts val="800"/>
              <a:buFont typeface="Calibri"/>
              <a:buNone/>
            </a:pPr>
            <a:r>
              <a:rPr i="1" lang="en-GB" sz="800">
                <a:solidFill>
                  <a:srgbClr val="5F6F75"/>
                </a:solidFill>
                <a:latin typeface="Calibri"/>
                <a:ea typeface="Calibri"/>
                <a:cs typeface="Calibri"/>
                <a:sym typeface="Calibri"/>
              </a:rPr>
              <a:t>Top: raw values with negative codes (−15, −10 …). Bottom: after cleaning. Baseline-eligible rows (65+, ADL = 0).</a:t>
            </a:r>
            <a:endParaRPr sz="800">
              <a:solidFill>
                <a:schemeClr val="dk1"/>
              </a:solidFill>
              <a:latin typeface="Calibri"/>
              <a:ea typeface="Calibri"/>
              <a:cs typeface="Calibri"/>
              <a:sym typeface="Calibri"/>
            </a:endParaRPr>
          </a:p>
        </p:txBody>
      </p:sp>
      <p:sp>
        <p:nvSpPr>
          <p:cNvPr id="144" name="Google Shape;144;p21"/>
          <p:cNvSpPr/>
          <p:nvPr/>
        </p:nvSpPr>
        <p:spPr>
          <a:xfrm>
            <a:off x="5966460" y="1028700"/>
            <a:ext cx="2743200" cy="1062990"/>
          </a:xfrm>
          <a:prstGeom prst="roundRect">
            <a:avLst>
              <a:gd fmla="val 5161" name="adj"/>
            </a:avLst>
          </a:prstGeom>
          <a:solidFill>
            <a:srgbClr val="EEF3F3"/>
          </a:solidFill>
          <a:ln cap="flat" cmpd="sng" w="12700">
            <a:solidFill>
              <a:srgbClr val="EEF3F3"/>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5" name="Google Shape;145;p21"/>
          <p:cNvSpPr txBox="1"/>
          <p:nvPr/>
        </p:nvSpPr>
        <p:spPr>
          <a:xfrm>
            <a:off x="6137910" y="1131570"/>
            <a:ext cx="24003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2"/>
              </a:buClr>
              <a:buSzPts val="2000"/>
              <a:buFont typeface="Cambria"/>
              <a:buNone/>
            </a:pPr>
            <a:r>
              <a:rPr b="1" lang="en-GB" sz="2000">
                <a:solidFill>
                  <a:schemeClr val="accent2"/>
                </a:solidFill>
                <a:latin typeface="Cambria"/>
                <a:ea typeface="Cambria"/>
                <a:cs typeface="Cambria"/>
                <a:sym typeface="Cambria"/>
              </a:rPr>
              <a:t>0.734 → 0.749</a:t>
            </a:r>
            <a:endParaRPr sz="2000">
              <a:solidFill>
                <a:schemeClr val="dk1"/>
              </a:solidFill>
              <a:latin typeface="Calibri"/>
              <a:ea typeface="Calibri"/>
              <a:cs typeface="Calibri"/>
              <a:sym typeface="Calibri"/>
            </a:endParaRPr>
          </a:p>
        </p:txBody>
      </p:sp>
      <p:sp>
        <p:nvSpPr>
          <p:cNvPr id="146" name="Google Shape;146;p21"/>
          <p:cNvSpPr txBox="1"/>
          <p:nvPr/>
        </p:nvSpPr>
        <p:spPr>
          <a:xfrm>
            <a:off x="6137910" y="1563624"/>
            <a:ext cx="2400300" cy="44577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test AUC of the original model after masking the codes, nothing else changed</a:t>
            </a:r>
            <a:endParaRPr sz="1100">
              <a:solidFill>
                <a:schemeClr val="dk1"/>
              </a:solidFill>
              <a:latin typeface="Calibri"/>
              <a:ea typeface="Calibri"/>
              <a:cs typeface="Calibri"/>
              <a:sym typeface="Calibri"/>
            </a:endParaRPr>
          </a:p>
        </p:txBody>
      </p:sp>
      <p:sp>
        <p:nvSpPr>
          <p:cNvPr id="147" name="Google Shape;147;p21"/>
          <p:cNvSpPr/>
          <p:nvPr/>
        </p:nvSpPr>
        <p:spPr>
          <a:xfrm>
            <a:off x="5966460" y="2228850"/>
            <a:ext cx="2743200" cy="1062990"/>
          </a:xfrm>
          <a:prstGeom prst="roundRect">
            <a:avLst>
              <a:gd fmla="val 5161" name="adj"/>
            </a:avLst>
          </a:prstGeom>
          <a:solidFill>
            <a:srgbClr val="EEF3F3"/>
          </a:solidFill>
          <a:ln cap="flat" cmpd="sng" w="12700">
            <a:solidFill>
              <a:srgbClr val="EEF3F3"/>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8" name="Google Shape;148;p21"/>
          <p:cNvSpPr txBox="1"/>
          <p:nvPr/>
        </p:nvSpPr>
        <p:spPr>
          <a:xfrm>
            <a:off x="6137910" y="2331720"/>
            <a:ext cx="24003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2000"/>
              <a:buFont typeface="Cambria"/>
              <a:buNone/>
            </a:pPr>
            <a:r>
              <a:rPr b="1" lang="en-GB" sz="2000">
                <a:solidFill>
                  <a:schemeClr val="accent1"/>
                </a:solidFill>
                <a:latin typeface="Cambria"/>
                <a:ea typeface="Cambria"/>
                <a:cs typeface="Cambria"/>
                <a:sym typeface="Cambria"/>
              </a:rPr>
              <a:t>0.28 → 2.29</a:t>
            </a:r>
            <a:endParaRPr sz="2000">
              <a:solidFill>
                <a:schemeClr val="dk1"/>
              </a:solidFill>
              <a:latin typeface="Calibri"/>
              <a:ea typeface="Calibri"/>
              <a:cs typeface="Calibri"/>
              <a:sym typeface="Calibri"/>
            </a:endParaRPr>
          </a:p>
        </p:txBody>
      </p:sp>
      <p:sp>
        <p:nvSpPr>
          <p:cNvPr id="149" name="Google Shape;149;p21"/>
          <p:cNvSpPr txBox="1"/>
          <p:nvPr/>
        </p:nvSpPr>
        <p:spPr>
          <a:xfrm>
            <a:off x="6137910" y="2763774"/>
            <a:ext cx="2400300" cy="44577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mean EURO-D depression score (0–12 scale); SD 5.13 → 2.14</a:t>
            </a:r>
            <a:endParaRPr sz="1100">
              <a:solidFill>
                <a:schemeClr val="dk1"/>
              </a:solidFill>
              <a:latin typeface="Calibri"/>
              <a:ea typeface="Calibri"/>
              <a:cs typeface="Calibri"/>
              <a:sym typeface="Calibri"/>
            </a:endParaRPr>
          </a:p>
        </p:txBody>
      </p:sp>
      <p:sp>
        <p:nvSpPr>
          <p:cNvPr id="150" name="Google Shape;150;p21"/>
          <p:cNvSpPr/>
          <p:nvPr/>
        </p:nvSpPr>
        <p:spPr>
          <a:xfrm>
            <a:off x="5966460" y="3429000"/>
            <a:ext cx="2743200" cy="1062990"/>
          </a:xfrm>
          <a:prstGeom prst="roundRect">
            <a:avLst>
              <a:gd fmla="val 5161" name="adj"/>
            </a:avLst>
          </a:prstGeom>
          <a:solidFill>
            <a:srgbClr val="EEF3F3"/>
          </a:solidFill>
          <a:ln cap="flat" cmpd="sng" w="12700">
            <a:solidFill>
              <a:srgbClr val="EEF3F3"/>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1" name="Google Shape;151;p21"/>
          <p:cNvSpPr txBox="1"/>
          <p:nvPr/>
        </p:nvSpPr>
        <p:spPr>
          <a:xfrm>
            <a:off x="6137910" y="3531870"/>
            <a:ext cx="24003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2000"/>
              <a:buFont typeface="Cambria"/>
              <a:buNone/>
            </a:pPr>
            <a:r>
              <a:rPr b="1" lang="en-GB" sz="2000">
                <a:solidFill>
                  <a:schemeClr val="accent1"/>
                </a:solidFill>
                <a:latin typeface="Cambria"/>
                <a:ea typeface="Cambria"/>
                <a:cs typeface="Cambria"/>
                <a:sym typeface="Cambria"/>
              </a:rPr>
              <a:t>76%</a:t>
            </a:r>
            <a:endParaRPr sz="2000">
              <a:solidFill>
                <a:schemeClr val="dk1"/>
              </a:solidFill>
              <a:latin typeface="Calibri"/>
              <a:ea typeface="Calibri"/>
              <a:cs typeface="Calibri"/>
              <a:sym typeface="Calibri"/>
            </a:endParaRPr>
          </a:p>
        </p:txBody>
      </p:sp>
      <p:sp>
        <p:nvSpPr>
          <p:cNvPr id="152" name="Google Shape;152;p21"/>
          <p:cNvSpPr txBox="1"/>
          <p:nvPr/>
        </p:nvSpPr>
        <p:spPr>
          <a:xfrm>
            <a:off x="6137910" y="3963924"/>
            <a:ext cx="2400300" cy="44577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of wave-7 baseline rows carry a missing code for EURO-D (SHARELIFE interviews)</a:t>
            </a:r>
            <a:endParaRPr sz="1100">
              <a:solidFill>
                <a:schemeClr val="dk1"/>
              </a:solidFill>
              <a:latin typeface="Calibri"/>
              <a:ea typeface="Calibri"/>
              <a:cs typeface="Calibri"/>
              <a:sym typeface="Calibri"/>
            </a:endParaRPr>
          </a:p>
        </p:txBody>
      </p:sp>
      <p:sp>
        <p:nvSpPr>
          <p:cNvPr id="153" name="Google Shape;153;p21"/>
          <p:cNvSpPr txBox="1"/>
          <p:nvPr/>
        </p:nvSpPr>
        <p:spPr>
          <a:xfrm>
            <a:off x="411480" y="3874770"/>
            <a:ext cx="5280660" cy="51435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Also: BMI outside 12–60 set to missing; income capped at the 99.9th percentile, equivalised by household size and logged.</a:t>
            </a:r>
            <a:endParaRPr sz="1100">
              <a:solidFill>
                <a:schemeClr val="dk1"/>
              </a:solidFill>
              <a:latin typeface="Calibri"/>
              <a:ea typeface="Calibri"/>
              <a:cs typeface="Calibri"/>
              <a:sym typeface="Calibri"/>
            </a:endParaRPr>
          </a:p>
        </p:txBody>
      </p:sp>
      <p:sp>
        <p:nvSpPr>
          <p:cNvPr id="154" name="Google Shape;154;p21"/>
          <p:cNvSpPr txBox="1"/>
          <p:nvPr>
            <p:ph idx="4294967295" type="sldNum"/>
          </p:nvPr>
        </p:nvSpPr>
        <p:spPr>
          <a:xfrm>
            <a:off x="8435340" y="4800600"/>
            <a:ext cx="342900" cy="205740"/>
          </a:xfrm>
          <a:prstGeom prst="rect">
            <a:avLst/>
          </a:prstGeom>
          <a:noFill/>
          <a:ln>
            <a:noFill/>
          </a:ln>
        </p:spPr>
        <p:txBody>
          <a:bodyPr anchorCtr="0" anchor="t" bIns="34275" lIns="68575" spcFirstLastPara="1" rIns="68575" wrap="square" tIns="34275">
            <a:noAutofit/>
          </a:bodyPr>
          <a:lstStyle/>
          <a:p>
            <a:pPr indent="0" lvl="0" marL="0" marR="0" rtl="0" algn="r">
              <a:spcBef>
                <a:spcPts val="0"/>
              </a:spcBef>
              <a:spcAft>
                <a:spcPts val="0"/>
              </a:spcAft>
              <a:buNone/>
            </a:pPr>
            <a:fld id="{00000000-1234-1234-1234-123412341234}" type="slidenum">
              <a:rPr b="0" lang="en-GB" sz="800">
                <a:solidFill>
                  <a:srgbClr val="5F6F75"/>
                </a:solidFill>
                <a:latin typeface="Calibri"/>
                <a:ea typeface="Calibri"/>
                <a:cs typeface="Calibri"/>
                <a:sym typeface="Calibri"/>
              </a:rPr>
              <a:t>‹#›</a:t>
            </a:fld>
            <a:endParaRPr sz="800">
              <a:solidFill>
                <a:srgbClr val="5F6F75"/>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411480" y="240030"/>
            <a:ext cx="7063740" cy="65151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2100"/>
              <a:buFont typeface="Cambria"/>
              <a:buNone/>
            </a:pPr>
            <a:r>
              <a:rPr b="1" lang="en-GB" sz="2100">
                <a:solidFill>
                  <a:schemeClr val="dk2"/>
                </a:solidFill>
                <a:latin typeface="Cambria"/>
                <a:ea typeface="Cambria"/>
                <a:cs typeface="Cambria"/>
                <a:sym typeface="Cambria"/>
              </a:rPr>
              <a:t>Train on the past, test on the future</a:t>
            </a:r>
            <a:endParaRPr sz="2100"/>
          </a:p>
        </p:txBody>
      </p:sp>
      <p:sp>
        <p:nvSpPr>
          <p:cNvPr id="161" name="Google Shape;161;p22"/>
          <p:cNvSpPr/>
          <p:nvPr/>
        </p:nvSpPr>
        <p:spPr>
          <a:xfrm>
            <a:off x="411480" y="1097280"/>
            <a:ext cx="3154680" cy="994410"/>
          </a:xfrm>
          <a:prstGeom prst="rect">
            <a:avLst/>
          </a:prstGeom>
          <a:solidFill>
            <a:srgbClr val="157A82"/>
          </a:solidFill>
          <a:ln cap="flat" cmpd="sng" w="12700">
            <a:solidFill>
              <a:srgbClr val="157A82"/>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2" name="Google Shape;162;p22"/>
          <p:cNvSpPr txBox="1"/>
          <p:nvPr/>
        </p:nvSpPr>
        <p:spPr>
          <a:xfrm>
            <a:off x="548640" y="1097280"/>
            <a:ext cx="2880360" cy="99441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libri"/>
              <a:buNone/>
            </a:pPr>
            <a:r>
              <a:rPr b="1" lang="en-GB" sz="1300">
                <a:solidFill>
                  <a:srgbClr val="FFFFFF"/>
                </a:solidFill>
                <a:latin typeface="Calibri"/>
                <a:ea typeface="Calibri"/>
                <a:cs typeface="Calibri"/>
                <a:sym typeface="Calibri"/>
              </a:rPr>
              <a:t>Development</a:t>
            </a:r>
            <a:endParaRPr sz="1300">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1100"/>
              <a:buFont typeface="Calibri"/>
              <a:buNone/>
            </a:pPr>
            <a:r>
              <a:rPr lang="en-GB" sz="1100">
                <a:solidFill>
                  <a:srgbClr val="FFFFFF"/>
                </a:solidFill>
                <a:latin typeface="Calibri"/>
                <a:ea typeface="Calibri"/>
                <a:cs typeface="Calibri"/>
                <a:sym typeface="Calibri"/>
              </a:rPr>
              <a:t>baselines in waves 1, 4, 5</a:t>
            </a:r>
            <a:endParaRPr sz="1300">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1100"/>
              <a:buFont typeface="Calibri"/>
              <a:buNone/>
            </a:pPr>
            <a:r>
              <a:rPr b="1" lang="en-GB" sz="1100">
                <a:solidFill>
                  <a:srgbClr val="FFFFFF"/>
                </a:solidFill>
                <a:latin typeface="Calibri"/>
                <a:ea typeface="Calibri"/>
                <a:cs typeface="Calibri"/>
                <a:sym typeface="Calibri"/>
              </a:rPr>
              <a:t>45,574 pairs</a:t>
            </a:r>
            <a:endParaRPr sz="1300">
              <a:solidFill>
                <a:schemeClr val="dk1"/>
              </a:solidFill>
              <a:latin typeface="Calibri"/>
              <a:ea typeface="Calibri"/>
              <a:cs typeface="Calibri"/>
              <a:sym typeface="Calibri"/>
            </a:endParaRPr>
          </a:p>
        </p:txBody>
      </p:sp>
      <p:sp>
        <p:nvSpPr>
          <p:cNvPr id="163" name="Google Shape;163;p22"/>
          <p:cNvSpPr/>
          <p:nvPr/>
        </p:nvSpPr>
        <p:spPr>
          <a:xfrm>
            <a:off x="3600450" y="1097280"/>
            <a:ext cx="2057400" cy="994410"/>
          </a:xfrm>
          <a:prstGeom prst="rect">
            <a:avLst/>
          </a:prstGeom>
          <a:solidFill>
            <a:srgbClr val="F2A541"/>
          </a:solidFill>
          <a:ln cap="flat" cmpd="sng" w="12700">
            <a:solidFill>
              <a:srgbClr val="F2A541"/>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4" name="Google Shape;164;p22"/>
          <p:cNvSpPr txBox="1"/>
          <p:nvPr/>
        </p:nvSpPr>
        <p:spPr>
          <a:xfrm>
            <a:off x="3737610" y="1097280"/>
            <a:ext cx="1783080" cy="99441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D33"/>
              </a:buClr>
              <a:buSzPts val="1300"/>
              <a:buFont typeface="Calibri"/>
              <a:buNone/>
            </a:pPr>
            <a:r>
              <a:rPr b="1" lang="en-GB" sz="1300">
                <a:solidFill>
                  <a:srgbClr val="1F2D33"/>
                </a:solidFill>
                <a:latin typeface="Calibri"/>
                <a:ea typeface="Calibri"/>
                <a:cs typeface="Calibri"/>
                <a:sym typeface="Calibri"/>
              </a:rPr>
              <a:t>Validation</a:t>
            </a:r>
            <a:endParaRPr sz="1300">
              <a:solidFill>
                <a:schemeClr val="dk1"/>
              </a:solidFill>
              <a:latin typeface="Calibri"/>
              <a:ea typeface="Calibri"/>
              <a:cs typeface="Calibri"/>
              <a:sym typeface="Calibri"/>
            </a:endParaRPr>
          </a:p>
          <a:p>
            <a:pPr indent="0" lvl="0" marL="0" marR="0" rtl="0" algn="l">
              <a:spcBef>
                <a:spcPts val="0"/>
              </a:spcBef>
              <a:spcAft>
                <a:spcPts val="0"/>
              </a:spcAft>
              <a:buClr>
                <a:srgbClr val="1F2D33"/>
              </a:buClr>
              <a:buSzPts val="1100"/>
              <a:buFont typeface="Calibri"/>
              <a:buNone/>
            </a:pPr>
            <a:r>
              <a:rPr lang="en-GB" sz="1100">
                <a:solidFill>
                  <a:srgbClr val="1F2D33"/>
                </a:solidFill>
                <a:latin typeface="Calibri"/>
                <a:ea typeface="Calibri"/>
                <a:cs typeface="Calibri"/>
                <a:sym typeface="Calibri"/>
              </a:rPr>
              <a:t>wave 6 → 7</a:t>
            </a:r>
            <a:endParaRPr sz="1300">
              <a:solidFill>
                <a:schemeClr val="dk1"/>
              </a:solidFill>
              <a:latin typeface="Calibri"/>
              <a:ea typeface="Calibri"/>
              <a:cs typeface="Calibri"/>
              <a:sym typeface="Calibri"/>
            </a:endParaRPr>
          </a:p>
          <a:p>
            <a:pPr indent="0" lvl="0" marL="0" marR="0" rtl="0" algn="l">
              <a:spcBef>
                <a:spcPts val="0"/>
              </a:spcBef>
              <a:spcAft>
                <a:spcPts val="0"/>
              </a:spcAft>
              <a:buClr>
                <a:srgbClr val="1F2D33"/>
              </a:buClr>
              <a:buSzPts val="1100"/>
              <a:buFont typeface="Calibri"/>
              <a:buNone/>
            </a:pPr>
            <a:r>
              <a:rPr b="1" lang="en-GB" sz="1100">
                <a:solidFill>
                  <a:srgbClr val="1F2D33"/>
                </a:solidFill>
                <a:latin typeface="Calibri"/>
                <a:ea typeface="Calibri"/>
                <a:cs typeface="Calibri"/>
                <a:sym typeface="Calibri"/>
              </a:rPr>
              <a:t>25,238 pairs</a:t>
            </a:r>
            <a:endParaRPr sz="1300">
              <a:solidFill>
                <a:schemeClr val="dk1"/>
              </a:solidFill>
              <a:latin typeface="Calibri"/>
              <a:ea typeface="Calibri"/>
              <a:cs typeface="Calibri"/>
              <a:sym typeface="Calibri"/>
            </a:endParaRPr>
          </a:p>
        </p:txBody>
      </p:sp>
      <p:sp>
        <p:nvSpPr>
          <p:cNvPr id="165" name="Google Shape;165;p22"/>
          <p:cNvSpPr/>
          <p:nvPr/>
        </p:nvSpPr>
        <p:spPr>
          <a:xfrm>
            <a:off x="5692140" y="1097280"/>
            <a:ext cx="3086100" cy="994410"/>
          </a:xfrm>
          <a:prstGeom prst="rect">
            <a:avLst/>
          </a:prstGeom>
          <a:solidFill>
            <a:srgbClr val="E4572E"/>
          </a:solidFill>
          <a:ln cap="flat" cmpd="sng" w="12700">
            <a:solidFill>
              <a:srgbClr val="E4572E"/>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6" name="Google Shape;166;p22"/>
          <p:cNvSpPr txBox="1"/>
          <p:nvPr/>
        </p:nvSpPr>
        <p:spPr>
          <a:xfrm>
            <a:off x="5829300" y="1097280"/>
            <a:ext cx="2811780" cy="99441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libri"/>
              <a:buNone/>
            </a:pPr>
            <a:r>
              <a:rPr b="1" lang="en-GB" sz="1300">
                <a:solidFill>
                  <a:srgbClr val="FFFFFF"/>
                </a:solidFill>
                <a:latin typeface="Calibri"/>
                <a:ea typeface="Calibri"/>
                <a:cs typeface="Calibri"/>
                <a:sym typeface="Calibri"/>
              </a:rPr>
              <a:t>Test (used for final results)</a:t>
            </a:r>
            <a:endParaRPr sz="1300">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1100"/>
              <a:buFont typeface="Calibri"/>
              <a:buNone/>
            </a:pPr>
            <a:r>
              <a:rPr lang="en-GB" sz="1100">
                <a:solidFill>
                  <a:srgbClr val="FFFFFF"/>
                </a:solidFill>
                <a:latin typeface="Calibri"/>
                <a:ea typeface="Calibri"/>
                <a:cs typeface="Calibri"/>
                <a:sym typeface="Calibri"/>
              </a:rPr>
              <a:t>waves 7 → 8 and 8 → 9</a:t>
            </a:r>
            <a:endParaRPr sz="1300">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1100"/>
              <a:buFont typeface="Calibri"/>
              <a:buNone/>
            </a:pPr>
            <a:r>
              <a:rPr b="1" lang="en-GB" sz="1100">
                <a:solidFill>
                  <a:srgbClr val="FFFFFF"/>
                </a:solidFill>
                <a:latin typeface="Calibri"/>
                <a:ea typeface="Calibri"/>
                <a:cs typeface="Calibri"/>
                <a:sym typeface="Calibri"/>
              </a:rPr>
              <a:t>44,343 pairs · 9.05% new cases</a:t>
            </a:r>
            <a:endParaRPr sz="1300">
              <a:solidFill>
                <a:schemeClr val="dk1"/>
              </a:solidFill>
              <a:latin typeface="Calibri"/>
              <a:ea typeface="Calibri"/>
              <a:cs typeface="Calibri"/>
              <a:sym typeface="Calibri"/>
            </a:endParaRPr>
          </a:p>
        </p:txBody>
      </p:sp>
      <p:cxnSp>
        <p:nvCxnSpPr>
          <p:cNvPr id="167" name="Google Shape;167;p22"/>
          <p:cNvCxnSpPr/>
          <p:nvPr/>
        </p:nvCxnSpPr>
        <p:spPr>
          <a:xfrm>
            <a:off x="411480" y="2263140"/>
            <a:ext cx="8298180" cy="0"/>
          </a:xfrm>
          <a:prstGeom prst="straightConnector1">
            <a:avLst/>
          </a:prstGeom>
          <a:noFill/>
          <a:ln cap="flat" cmpd="sng" w="19050">
            <a:solidFill>
              <a:srgbClr val="9AA5AB"/>
            </a:solidFill>
            <a:prstDash val="solid"/>
            <a:round/>
            <a:headEnd len="sm" w="sm" type="none"/>
            <a:tailEnd len="med" w="med" type="triangle"/>
          </a:ln>
        </p:spPr>
      </p:cxnSp>
      <p:sp>
        <p:nvSpPr>
          <p:cNvPr id="168" name="Google Shape;168;p22"/>
          <p:cNvSpPr txBox="1"/>
          <p:nvPr/>
        </p:nvSpPr>
        <p:spPr>
          <a:xfrm>
            <a:off x="8229600" y="2318004"/>
            <a:ext cx="548640" cy="24003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F6F75"/>
              </a:buClr>
              <a:buSzPts val="800"/>
              <a:buFont typeface="Calibri"/>
              <a:buNone/>
            </a:pPr>
            <a:r>
              <a:rPr i="1" lang="en-GB" sz="800">
                <a:solidFill>
                  <a:srgbClr val="5F6F75"/>
                </a:solidFill>
                <a:latin typeface="Calibri"/>
                <a:ea typeface="Calibri"/>
                <a:cs typeface="Calibri"/>
                <a:sym typeface="Calibri"/>
              </a:rPr>
              <a:t>time →</a:t>
            </a:r>
            <a:endParaRPr sz="800">
              <a:solidFill>
                <a:schemeClr val="dk1"/>
              </a:solidFill>
              <a:latin typeface="Calibri"/>
              <a:ea typeface="Calibri"/>
              <a:cs typeface="Calibri"/>
              <a:sym typeface="Calibri"/>
            </a:endParaRPr>
          </a:p>
        </p:txBody>
      </p:sp>
      <p:sp>
        <p:nvSpPr>
          <p:cNvPr id="169" name="Google Shape;169;p22"/>
          <p:cNvSpPr txBox="1"/>
          <p:nvPr/>
        </p:nvSpPr>
        <p:spPr>
          <a:xfrm>
            <a:off x="411480" y="2708910"/>
            <a:ext cx="8298180" cy="1920240"/>
          </a:xfrm>
          <a:prstGeom prst="rect">
            <a:avLst/>
          </a:prstGeom>
          <a:noFill/>
          <a:ln>
            <a:noFill/>
          </a:ln>
        </p:spPr>
        <p:txBody>
          <a:bodyPr anchorCtr="0" anchor="t" bIns="0" lIns="0" spcFirstLastPara="1" rIns="0" wrap="square" tIns="0">
            <a:noAutofit/>
          </a:bodyPr>
          <a:lstStyle/>
          <a:p>
            <a:pPr indent="-260350" lvl="0" marL="254000" marR="0" rtl="0" algn="l">
              <a:spcBef>
                <a:spcPts val="0"/>
              </a:spcBef>
              <a:spcAft>
                <a:spcPts val="0"/>
              </a:spcAft>
              <a:buClr>
                <a:schemeClr val="dk1"/>
              </a:buClr>
              <a:buSzPts val="1300"/>
              <a:buFont typeface="Calibri"/>
              <a:buChar char="•"/>
            </a:pPr>
            <a:r>
              <a:rPr lang="en-GB" sz="1300">
                <a:solidFill>
                  <a:schemeClr val="dk1"/>
                </a:solidFill>
                <a:latin typeface="Calibri"/>
                <a:ea typeface="Calibri"/>
                <a:cs typeface="Calibri"/>
                <a:sym typeface="Calibri"/>
              </a:rPr>
              <a:t>Missing values kept, not dropped: median / most-frequent imputation (complete cases would lose 40% of rows in set C)</a:t>
            </a:r>
            <a:endParaRPr sz="1300">
              <a:solidFill>
                <a:schemeClr val="dk1"/>
              </a:solidFill>
              <a:latin typeface="Calibri"/>
              <a:ea typeface="Calibri"/>
              <a:cs typeface="Calibri"/>
              <a:sym typeface="Calibri"/>
            </a:endParaRPr>
          </a:p>
          <a:p>
            <a:pPr indent="-260350" lvl="0" marL="254000" marR="0" rtl="0" algn="l">
              <a:spcBef>
                <a:spcPts val="1500"/>
              </a:spcBef>
              <a:spcAft>
                <a:spcPts val="0"/>
              </a:spcAft>
              <a:buClr>
                <a:schemeClr val="dk1"/>
              </a:buClr>
              <a:buSzPts val="1300"/>
              <a:buFont typeface="Calibri"/>
              <a:buChar char="•"/>
            </a:pPr>
            <a:r>
              <a:rPr lang="en-GB" sz="1300">
                <a:solidFill>
                  <a:schemeClr val="dk1"/>
                </a:solidFill>
                <a:latin typeface="Calibri"/>
                <a:ea typeface="Calibri"/>
                <a:cs typeface="Calibri"/>
                <a:sym typeface="Calibri"/>
              </a:rPr>
              <a:t>Imputation, scaling, age and BMI splines and country encoding fitted inside each pipeline on training data only</a:t>
            </a:r>
            <a:endParaRPr sz="1300">
              <a:solidFill>
                <a:schemeClr val="dk1"/>
              </a:solidFill>
              <a:latin typeface="Calibri"/>
              <a:ea typeface="Calibri"/>
              <a:cs typeface="Calibri"/>
              <a:sym typeface="Calibri"/>
            </a:endParaRPr>
          </a:p>
          <a:p>
            <a:pPr indent="-260350" lvl="0" marL="254000" marR="0" rtl="0" algn="l">
              <a:spcBef>
                <a:spcPts val="1500"/>
              </a:spcBef>
              <a:spcAft>
                <a:spcPts val="0"/>
              </a:spcAft>
              <a:buClr>
                <a:schemeClr val="dk1"/>
              </a:buClr>
              <a:buSzPts val="1300"/>
              <a:buFont typeface="Calibri"/>
              <a:buChar char="•"/>
            </a:pPr>
            <a:r>
              <a:rPr lang="en-GB" sz="1300">
                <a:solidFill>
                  <a:schemeClr val="dk1"/>
                </a:solidFill>
                <a:latin typeface="Calibri"/>
                <a:ea typeface="Calibri"/>
                <a:cs typeface="Calibri"/>
                <a:sym typeface="Calibri"/>
              </a:rPr>
              <a:t>Hyper-parameters, number of PCs and the decision threshold chosen on validation; final model refit on development + validation</a:t>
            </a:r>
            <a:endParaRPr sz="1300">
              <a:solidFill>
                <a:schemeClr val="dk1"/>
              </a:solidFill>
              <a:latin typeface="Calibri"/>
              <a:ea typeface="Calibri"/>
              <a:cs typeface="Calibri"/>
              <a:sym typeface="Calibri"/>
            </a:endParaRPr>
          </a:p>
          <a:p>
            <a:pPr indent="-260350" lvl="0" marL="254000" marR="0" rtl="0" algn="l">
              <a:spcBef>
                <a:spcPts val="1500"/>
              </a:spcBef>
              <a:spcAft>
                <a:spcPts val="0"/>
              </a:spcAft>
              <a:buClr>
                <a:schemeClr val="dk1"/>
              </a:buClr>
              <a:buSzPts val="1300"/>
              <a:buFont typeface="Calibri"/>
              <a:buChar char="•"/>
            </a:pPr>
            <a:r>
              <a:rPr lang="en-GB" sz="1300">
                <a:solidFill>
                  <a:schemeClr val="dk1"/>
                </a:solidFill>
                <a:latin typeface="Calibri"/>
                <a:ea typeface="Calibri"/>
                <a:cs typeface="Calibri"/>
                <a:sym typeface="Calibri"/>
              </a:rPr>
              <a:t>95% confidence intervals: bootstrap that resamples whole households (couples are not independent)</a:t>
            </a:r>
            <a:endParaRPr sz="1300">
              <a:solidFill>
                <a:schemeClr val="dk1"/>
              </a:solidFill>
              <a:latin typeface="Calibri"/>
              <a:ea typeface="Calibri"/>
              <a:cs typeface="Calibri"/>
              <a:sym typeface="Calibri"/>
            </a:endParaRPr>
          </a:p>
        </p:txBody>
      </p:sp>
      <p:sp>
        <p:nvSpPr>
          <p:cNvPr id="170" name="Google Shape;170;p22"/>
          <p:cNvSpPr txBox="1"/>
          <p:nvPr>
            <p:ph idx="4294967295" type="sldNum"/>
          </p:nvPr>
        </p:nvSpPr>
        <p:spPr>
          <a:xfrm>
            <a:off x="8435340" y="4800600"/>
            <a:ext cx="342900" cy="205740"/>
          </a:xfrm>
          <a:prstGeom prst="rect">
            <a:avLst/>
          </a:prstGeom>
          <a:noFill/>
          <a:ln>
            <a:noFill/>
          </a:ln>
        </p:spPr>
        <p:txBody>
          <a:bodyPr anchorCtr="0" anchor="t" bIns="34275" lIns="68575" spcFirstLastPara="1" rIns="68575" wrap="square" tIns="34275">
            <a:noAutofit/>
          </a:bodyPr>
          <a:lstStyle/>
          <a:p>
            <a:pPr indent="0" lvl="0" marL="0" marR="0" rtl="0" algn="r">
              <a:spcBef>
                <a:spcPts val="0"/>
              </a:spcBef>
              <a:spcAft>
                <a:spcPts val="0"/>
              </a:spcAft>
              <a:buNone/>
            </a:pPr>
            <a:fld id="{00000000-1234-1234-1234-123412341234}" type="slidenum">
              <a:rPr b="0" lang="en-GB" sz="800">
                <a:solidFill>
                  <a:srgbClr val="5F6F75"/>
                </a:solidFill>
                <a:latin typeface="Calibri"/>
                <a:ea typeface="Calibri"/>
                <a:cs typeface="Calibri"/>
                <a:sym typeface="Calibri"/>
              </a:rPr>
              <a:t>‹#›</a:t>
            </a:fld>
            <a:endParaRPr sz="800">
              <a:solidFill>
                <a:srgbClr val="5F6F75"/>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 name="Shape 175"/>
        <p:cNvGrpSpPr/>
        <p:nvPr/>
      </p:nvGrpSpPr>
      <p:grpSpPr>
        <a:xfrm>
          <a:off x="0" y="0"/>
          <a:ext cx="0" cy="0"/>
          <a:chOff x="0" y="0"/>
          <a:chExt cx="0" cy="0"/>
        </a:xfrm>
      </p:grpSpPr>
      <p:sp>
        <p:nvSpPr>
          <p:cNvPr id="176" name="Google Shape;176;p23"/>
          <p:cNvSpPr txBox="1"/>
          <p:nvPr>
            <p:ph type="title"/>
          </p:nvPr>
        </p:nvSpPr>
        <p:spPr>
          <a:xfrm>
            <a:off x="231930" y="168167"/>
            <a:ext cx="8676173" cy="65151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2100"/>
              <a:buFont typeface="Cambria"/>
              <a:buNone/>
            </a:pPr>
            <a:r>
              <a:rPr b="1" lang="en-GB" sz="2100">
                <a:solidFill>
                  <a:schemeClr val="dk2"/>
                </a:solidFill>
              </a:rPr>
              <a:t>From survey waves to 115,155 prediction pairs (Longitudinal Dataset)</a:t>
            </a:r>
            <a:endParaRPr sz="2100"/>
          </a:p>
        </p:txBody>
      </p:sp>
      <p:sp>
        <p:nvSpPr>
          <p:cNvPr id="177" name="Google Shape;177;p23"/>
          <p:cNvSpPr/>
          <p:nvPr/>
        </p:nvSpPr>
        <p:spPr>
          <a:xfrm>
            <a:off x="411480" y="1097280"/>
            <a:ext cx="857250" cy="582930"/>
          </a:xfrm>
          <a:prstGeom prst="roundRect">
            <a:avLst>
              <a:gd fmla="val 11765" name="adj"/>
            </a:avLst>
          </a:prstGeom>
          <a:solidFill>
            <a:schemeClr val="dk2"/>
          </a:solidFill>
          <a:ln cap="flat" cmpd="sng" w="9525">
            <a:solidFill>
              <a:schemeClr val="dk2"/>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8" name="Google Shape;178;p23"/>
          <p:cNvSpPr txBox="1"/>
          <p:nvPr/>
        </p:nvSpPr>
        <p:spPr>
          <a:xfrm>
            <a:off x="411480" y="1097280"/>
            <a:ext cx="857250" cy="58293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100"/>
              <a:buFont typeface="Calibri"/>
              <a:buNone/>
            </a:pPr>
            <a:r>
              <a:rPr b="1" lang="en-GB" sz="1100">
                <a:solidFill>
                  <a:schemeClr val="lt1"/>
                </a:solidFill>
                <a:latin typeface="Calibri"/>
                <a:ea typeface="Calibri"/>
                <a:cs typeface="Calibri"/>
                <a:sym typeface="Calibri"/>
              </a:rPr>
              <a:t>Wave 1</a:t>
            </a:r>
            <a:endParaRPr sz="1200">
              <a:solidFill>
                <a:schemeClr val="dk1"/>
              </a:solidFill>
              <a:latin typeface="Calibri"/>
              <a:ea typeface="Calibri"/>
              <a:cs typeface="Calibri"/>
              <a:sym typeface="Calibri"/>
            </a:endParaRPr>
          </a:p>
          <a:p>
            <a:pPr indent="0" lvl="0" marL="0" marR="0" rtl="0" algn="ctr">
              <a:spcBef>
                <a:spcPts val="0"/>
              </a:spcBef>
              <a:spcAft>
                <a:spcPts val="0"/>
              </a:spcAft>
              <a:buClr>
                <a:schemeClr val="lt1"/>
              </a:buClr>
              <a:buSzPts val="800"/>
              <a:buFont typeface="Calibri"/>
              <a:buNone/>
            </a:pPr>
            <a:r>
              <a:rPr lang="en-GB" sz="800">
                <a:solidFill>
                  <a:schemeClr val="lt1"/>
                </a:solidFill>
                <a:latin typeface="Calibri"/>
                <a:ea typeface="Calibri"/>
                <a:cs typeface="Calibri"/>
                <a:sym typeface="Calibri"/>
              </a:rPr>
              <a:t>2004</a:t>
            </a:r>
            <a:endParaRPr sz="1200">
              <a:solidFill>
                <a:schemeClr val="dk1"/>
              </a:solidFill>
              <a:latin typeface="Calibri"/>
              <a:ea typeface="Calibri"/>
              <a:cs typeface="Calibri"/>
              <a:sym typeface="Calibri"/>
            </a:endParaRPr>
          </a:p>
        </p:txBody>
      </p:sp>
      <p:sp>
        <p:nvSpPr>
          <p:cNvPr id="179" name="Google Shape;179;p23"/>
          <p:cNvSpPr/>
          <p:nvPr/>
        </p:nvSpPr>
        <p:spPr>
          <a:xfrm>
            <a:off x="1340739" y="1097280"/>
            <a:ext cx="857250" cy="582930"/>
          </a:xfrm>
          <a:prstGeom prst="roundRect">
            <a:avLst>
              <a:gd fmla="val 11765" name="adj"/>
            </a:avLst>
          </a:prstGeom>
          <a:solidFill>
            <a:schemeClr val="dk2"/>
          </a:solidFill>
          <a:ln cap="flat" cmpd="sng" w="9525">
            <a:solidFill>
              <a:schemeClr val="dk2"/>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80" name="Google Shape;180;p23"/>
          <p:cNvSpPr txBox="1"/>
          <p:nvPr/>
        </p:nvSpPr>
        <p:spPr>
          <a:xfrm>
            <a:off x="1340739" y="1097280"/>
            <a:ext cx="857250" cy="58293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100"/>
              <a:buFont typeface="Calibri"/>
              <a:buNone/>
            </a:pPr>
            <a:r>
              <a:rPr b="1" lang="en-GB" sz="1100">
                <a:solidFill>
                  <a:schemeClr val="lt1"/>
                </a:solidFill>
                <a:latin typeface="Calibri"/>
                <a:ea typeface="Calibri"/>
                <a:cs typeface="Calibri"/>
                <a:sym typeface="Calibri"/>
              </a:rPr>
              <a:t>Wave 2</a:t>
            </a:r>
            <a:endParaRPr sz="1200">
              <a:solidFill>
                <a:schemeClr val="dk1"/>
              </a:solidFill>
              <a:latin typeface="Calibri"/>
              <a:ea typeface="Calibri"/>
              <a:cs typeface="Calibri"/>
              <a:sym typeface="Calibri"/>
            </a:endParaRPr>
          </a:p>
          <a:p>
            <a:pPr indent="0" lvl="0" marL="0" marR="0" rtl="0" algn="ctr">
              <a:spcBef>
                <a:spcPts val="0"/>
              </a:spcBef>
              <a:spcAft>
                <a:spcPts val="0"/>
              </a:spcAft>
              <a:buClr>
                <a:schemeClr val="lt1"/>
              </a:buClr>
              <a:buSzPts val="800"/>
              <a:buFont typeface="Calibri"/>
              <a:buNone/>
            </a:pPr>
            <a:r>
              <a:rPr lang="en-GB" sz="800">
                <a:solidFill>
                  <a:schemeClr val="lt1"/>
                </a:solidFill>
                <a:latin typeface="Calibri"/>
                <a:ea typeface="Calibri"/>
                <a:cs typeface="Calibri"/>
                <a:sym typeface="Calibri"/>
              </a:rPr>
              <a:t>2006–07</a:t>
            </a:r>
            <a:endParaRPr sz="1200">
              <a:solidFill>
                <a:schemeClr val="dk1"/>
              </a:solidFill>
              <a:latin typeface="Calibri"/>
              <a:ea typeface="Calibri"/>
              <a:cs typeface="Calibri"/>
              <a:sym typeface="Calibri"/>
            </a:endParaRPr>
          </a:p>
        </p:txBody>
      </p:sp>
      <p:sp>
        <p:nvSpPr>
          <p:cNvPr id="181" name="Google Shape;181;p23"/>
          <p:cNvSpPr/>
          <p:nvPr/>
        </p:nvSpPr>
        <p:spPr>
          <a:xfrm>
            <a:off x="2269998" y="1097280"/>
            <a:ext cx="857250" cy="582930"/>
          </a:xfrm>
          <a:prstGeom prst="roundRect">
            <a:avLst>
              <a:gd fmla="val 11765" name="adj"/>
            </a:avLst>
          </a:prstGeom>
          <a:solidFill>
            <a:srgbClr val="E3E7E6"/>
          </a:solidFill>
          <a:ln cap="flat" cmpd="sng" w="9525">
            <a:solidFill>
              <a:srgbClr val="E3E7E6"/>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82" name="Google Shape;182;p23"/>
          <p:cNvSpPr txBox="1"/>
          <p:nvPr/>
        </p:nvSpPr>
        <p:spPr>
          <a:xfrm>
            <a:off x="2269998" y="1097280"/>
            <a:ext cx="857250" cy="58293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accent5"/>
              </a:buClr>
              <a:buSzPts val="1100"/>
              <a:buFont typeface="Calibri"/>
              <a:buNone/>
            </a:pPr>
            <a:r>
              <a:rPr b="1" lang="en-GB" sz="1100">
                <a:solidFill>
                  <a:schemeClr val="accent5"/>
                </a:solidFill>
                <a:latin typeface="Calibri"/>
                <a:ea typeface="Calibri"/>
                <a:cs typeface="Calibri"/>
                <a:sym typeface="Calibri"/>
              </a:rPr>
              <a:t>Wave 3</a:t>
            </a:r>
            <a:endParaRPr sz="1200">
              <a:solidFill>
                <a:schemeClr val="dk1"/>
              </a:solidFill>
              <a:latin typeface="Calibri"/>
              <a:ea typeface="Calibri"/>
              <a:cs typeface="Calibri"/>
              <a:sym typeface="Calibri"/>
            </a:endParaRPr>
          </a:p>
          <a:p>
            <a:pPr indent="0" lvl="0" marL="0" marR="0" rtl="0" algn="ctr">
              <a:spcBef>
                <a:spcPts val="0"/>
              </a:spcBef>
              <a:spcAft>
                <a:spcPts val="0"/>
              </a:spcAft>
              <a:buClr>
                <a:schemeClr val="accent5"/>
              </a:buClr>
              <a:buSzPts val="800"/>
              <a:buFont typeface="Calibri"/>
              <a:buNone/>
            </a:pPr>
            <a:r>
              <a:rPr lang="en-GB" sz="800">
                <a:solidFill>
                  <a:schemeClr val="accent5"/>
                </a:solidFill>
                <a:latin typeface="Calibri"/>
                <a:ea typeface="Calibri"/>
                <a:cs typeface="Calibri"/>
                <a:sym typeface="Calibri"/>
              </a:rPr>
              <a:t>SHARELIFE</a:t>
            </a:r>
            <a:endParaRPr sz="1200">
              <a:solidFill>
                <a:schemeClr val="dk1"/>
              </a:solidFill>
              <a:latin typeface="Calibri"/>
              <a:ea typeface="Calibri"/>
              <a:cs typeface="Calibri"/>
              <a:sym typeface="Calibri"/>
            </a:endParaRPr>
          </a:p>
        </p:txBody>
      </p:sp>
      <p:sp>
        <p:nvSpPr>
          <p:cNvPr id="183" name="Google Shape;183;p23"/>
          <p:cNvSpPr/>
          <p:nvPr/>
        </p:nvSpPr>
        <p:spPr>
          <a:xfrm>
            <a:off x="3199257" y="1097280"/>
            <a:ext cx="857250" cy="582930"/>
          </a:xfrm>
          <a:prstGeom prst="roundRect">
            <a:avLst>
              <a:gd fmla="val 11765" name="adj"/>
            </a:avLst>
          </a:prstGeom>
          <a:solidFill>
            <a:schemeClr val="dk2"/>
          </a:solidFill>
          <a:ln cap="flat" cmpd="sng" w="9525">
            <a:solidFill>
              <a:schemeClr val="dk2"/>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84" name="Google Shape;184;p23"/>
          <p:cNvSpPr txBox="1"/>
          <p:nvPr/>
        </p:nvSpPr>
        <p:spPr>
          <a:xfrm>
            <a:off x="3199257" y="1097280"/>
            <a:ext cx="857250" cy="58293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100"/>
              <a:buFont typeface="Calibri"/>
              <a:buNone/>
            </a:pPr>
            <a:r>
              <a:rPr b="1" lang="en-GB" sz="1100">
                <a:solidFill>
                  <a:schemeClr val="lt1"/>
                </a:solidFill>
                <a:latin typeface="Calibri"/>
                <a:ea typeface="Calibri"/>
                <a:cs typeface="Calibri"/>
                <a:sym typeface="Calibri"/>
              </a:rPr>
              <a:t>Wave 4</a:t>
            </a:r>
            <a:endParaRPr sz="1200">
              <a:solidFill>
                <a:schemeClr val="dk1"/>
              </a:solidFill>
              <a:latin typeface="Calibri"/>
              <a:ea typeface="Calibri"/>
              <a:cs typeface="Calibri"/>
              <a:sym typeface="Calibri"/>
            </a:endParaRPr>
          </a:p>
          <a:p>
            <a:pPr indent="0" lvl="0" marL="0" marR="0" rtl="0" algn="ctr">
              <a:spcBef>
                <a:spcPts val="0"/>
              </a:spcBef>
              <a:spcAft>
                <a:spcPts val="0"/>
              </a:spcAft>
              <a:buClr>
                <a:schemeClr val="lt1"/>
              </a:buClr>
              <a:buSzPts val="800"/>
              <a:buFont typeface="Calibri"/>
              <a:buNone/>
            </a:pPr>
            <a:r>
              <a:rPr lang="en-GB" sz="800">
                <a:solidFill>
                  <a:schemeClr val="lt1"/>
                </a:solidFill>
                <a:latin typeface="Calibri"/>
                <a:ea typeface="Calibri"/>
                <a:cs typeface="Calibri"/>
                <a:sym typeface="Calibri"/>
              </a:rPr>
              <a:t>2011</a:t>
            </a:r>
            <a:endParaRPr sz="1200">
              <a:solidFill>
                <a:schemeClr val="dk1"/>
              </a:solidFill>
              <a:latin typeface="Calibri"/>
              <a:ea typeface="Calibri"/>
              <a:cs typeface="Calibri"/>
              <a:sym typeface="Calibri"/>
            </a:endParaRPr>
          </a:p>
        </p:txBody>
      </p:sp>
      <p:sp>
        <p:nvSpPr>
          <p:cNvPr id="185" name="Google Shape;185;p23"/>
          <p:cNvSpPr/>
          <p:nvPr/>
        </p:nvSpPr>
        <p:spPr>
          <a:xfrm>
            <a:off x="4128516" y="1097280"/>
            <a:ext cx="857250" cy="582930"/>
          </a:xfrm>
          <a:prstGeom prst="roundRect">
            <a:avLst>
              <a:gd fmla="val 11765" name="adj"/>
            </a:avLst>
          </a:prstGeom>
          <a:solidFill>
            <a:schemeClr val="dk2"/>
          </a:solidFill>
          <a:ln cap="flat" cmpd="sng" w="9525">
            <a:solidFill>
              <a:schemeClr val="dk2"/>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86" name="Google Shape;186;p23"/>
          <p:cNvSpPr txBox="1"/>
          <p:nvPr/>
        </p:nvSpPr>
        <p:spPr>
          <a:xfrm>
            <a:off x="4128516" y="1097280"/>
            <a:ext cx="857250" cy="58293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100"/>
              <a:buFont typeface="Calibri"/>
              <a:buNone/>
            </a:pPr>
            <a:r>
              <a:rPr b="1" lang="en-GB" sz="1100">
                <a:solidFill>
                  <a:schemeClr val="lt1"/>
                </a:solidFill>
                <a:latin typeface="Calibri"/>
                <a:ea typeface="Calibri"/>
                <a:cs typeface="Calibri"/>
                <a:sym typeface="Calibri"/>
              </a:rPr>
              <a:t>Wave 5</a:t>
            </a:r>
            <a:endParaRPr sz="1200">
              <a:solidFill>
                <a:schemeClr val="dk1"/>
              </a:solidFill>
              <a:latin typeface="Calibri"/>
              <a:ea typeface="Calibri"/>
              <a:cs typeface="Calibri"/>
              <a:sym typeface="Calibri"/>
            </a:endParaRPr>
          </a:p>
          <a:p>
            <a:pPr indent="0" lvl="0" marL="0" marR="0" rtl="0" algn="ctr">
              <a:spcBef>
                <a:spcPts val="0"/>
              </a:spcBef>
              <a:spcAft>
                <a:spcPts val="0"/>
              </a:spcAft>
              <a:buClr>
                <a:schemeClr val="lt1"/>
              </a:buClr>
              <a:buSzPts val="800"/>
              <a:buFont typeface="Calibri"/>
              <a:buNone/>
            </a:pPr>
            <a:r>
              <a:rPr lang="en-GB" sz="800">
                <a:solidFill>
                  <a:schemeClr val="lt1"/>
                </a:solidFill>
                <a:latin typeface="Calibri"/>
                <a:ea typeface="Calibri"/>
                <a:cs typeface="Calibri"/>
                <a:sym typeface="Calibri"/>
              </a:rPr>
              <a:t>2013</a:t>
            </a:r>
            <a:endParaRPr sz="1200">
              <a:solidFill>
                <a:schemeClr val="dk1"/>
              </a:solidFill>
              <a:latin typeface="Calibri"/>
              <a:ea typeface="Calibri"/>
              <a:cs typeface="Calibri"/>
              <a:sym typeface="Calibri"/>
            </a:endParaRPr>
          </a:p>
        </p:txBody>
      </p:sp>
      <p:sp>
        <p:nvSpPr>
          <p:cNvPr id="187" name="Google Shape;187;p23"/>
          <p:cNvSpPr/>
          <p:nvPr/>
        </p:nvSpPr>
        <p:spPr>
          <a:xfrm>
            <a:off x="5057775" y="1097280"/>
            <a:ext cx="857250" cy="582930"/>
          </a:xfrm>
          <a:prstGeom prst="roundRect">
            <a:avLst>
              <a:gd fmla="val 11765" name="adj"/>
            </a:avLst>
          </a:prstGeom>
          <a:solidFill>
            <a:schemeClr val="dk2"/>
          </a:solidFill>
          <a:ln cap="flat" cmpd="sng" w="9525">
            <a:solidFill>
              <a:schemeClr val="dk2"/>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88" name="Google Shape;188;p23"/>
          <p:cNvSpPr txBox="1"/>
          <p:nvPr/>
        </p:nvSpPr>
        <p:spPr>
          <a:xfrm>
            <a:off x="5057775" y="1097280"/>
            <a:ext cx="857250" cy="58293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100"/>
              <a:buFont typeface="Calibri"/>
              <a:buNone/>
            </a:pPr>
            <a:r>
              <a:rPr b="1" lang="en-GB" sz="1100">
                <a:solidFill>
                  <a:schemeClr val="lt1"/>
                </a:solidFill>
                <a:latin typeface="Calibri"/>
                <a:ea typeface="Calibri"/>
                <a:cs typeface="Calibri"/>
                <a:sym typeface="Calibri"/>
              </a:rPr>
              <a:t>Wave 6</a:t>
            </a:r>
            <a:endParaRPr sz="1200">
              <a:solidFill>
                <a:schemeClr val="dk1"/>
              </a:solidFill>
              <a:latin typeface="Calibri"/>
              <a:ea typeface="Calibri"/>
              <a:cs typeface="Calibri"/>
              <a:sym typeface="Calibri"/>
            </a:endParaRPr>
          </a:p>
          <a:p>
            <a:pPr indent="0" lvl="0" marL="0" marR="0" rtl="0" algn="ctr">
              <a:spcBef>
                <a:spcPts val="0"/>
              </a:spcBef>
              <a:spcAft>
                <a:spcPts val="0"/>
              </a:spcAft>
              <a:buClr>
                <a:schemeClr val="lt1"/>
              </a:buClr>
              <a:buSzPts val="800"/>
              <a:buFont typeface="Calibri"/>
              <a:buNone/>
            </a:pPr>
            <a:r>
              <a:rPr lang="en-GB" sz="800">
                <a:solidFill>
                  <a:schemeClr val="lt1"/>
                </a:solidFill>
                <a:latin typeface="Calibri"/>
                <a:ea typeface="Calibri"/>
                <a:cs typeface="Calibri"/>
                <a:sym typeface="Calibri"/>
              </a:rPr>
              <a:t>2015</a:t>
            </a:r>
            <a:endParaRPr sz="1200">
              <a:solidFill>
                <a:schemeClr val="dk1"/>
              </a:solidFill>
              <a:latin typeface="Calibri"/>
              <a:ea typeface="Calibri"/>
              <a:cs typeface="Calibri"/>
              <a:sym typeface="Calibri"/>
            </a:endParaRPr>
          </a:p>
        </p:txBody>
      </p:sp>
      <p:sp>
        <p:nvSpPr>
          <p:cNvPr id="189" name="Google Shape;189;p23"/>
          <p:cNvSpPr/>
          <p:nvPr/>
        </p:nvSpPr>
        <p:spPr>
          <a:xfrm>
            <a:off x="5987034" y="1097280"/>
            <a:ext cx="857250" cy="582930"/>
          </a:xfrm>
          <a:prstGeom prst="roundRect">
            <a:avLst>
              <a:gd fmla="val 11765" name="adj"/>
            </a:avLst>
          </a:prstGeom>
          <a:solidFill>
            <a:schemeClr val="dk2"/>
          </a:solidFill>
          <a:ln cap="flat" cmpd="sng" w="9525">
            <a:solidFill>
              <a:schemeClr val="dk2"/>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90" name="Google Shape;190;p23"/>
          <p:cNvSpPr txBox="1"/>
          <p:nvPr/>
        </p:nvSpPr>
        <p:spPr>
          <a:xfrm>
            <a:off x="5987034" y="1097280"/>
            <a:ext cx="857250" cy="58293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100"/>
              <a:buFont typeface="Calibri"/>
              <a:buNone/>
            </a:pPr>
            <a:r>
              <a:rPr b="1" lang="en-GB" sz="1100">
                <a:solidFill>
                  <a:schemeClr val="lt1"/>
                </a:solidFill>
                <a:latin typeface="Calibri"/>
                <a:ea typeface="Calibri"/>
                <a:cs typeface="Calibri"/>
                <a:sym typeface="Calibri"/>
              </a:rPr>
              <a:t>Wave 7</a:t>
            </a:r>
            <a:endParaRPr sz="1200">
              <a:solidFill>
                <a:schemeClr val="dk1"/>
              </a:solidFill>
              <a:latin typeface="Calibri"/>
              <a:ea typeface="Calibri"/>
              <a:cs typeface="Calibri"/>
              <a:sym typeface="Calibri"/>
            </a:endParaRPr>
          </a:p>
          <a:p>
            <a:pPr indent="0" lvl="0" marL="0" marR="0" rtl="0" algn="ctr">
              <a:spcBef>
                <a:spcPts val="0"/>
              </a:spcBef>
              <a:spcAft>
                <a:spcPts val="0"/>
              </a:spcAft>
              <a:buClr>
                <a:schemeClr val="lt1"/>
              </a:buClr>
              <a:buSzPts val="800"/>
              <a:buFont typeface="Calibri"/>
              <a:buNone/>
            </a:pPr>
            <a:r>
              <a:rPr lang="en-GB" sz="800">
                <a:solidFill>
                  <a:schemeClr val="lt1"/>
                </a:solidFill>
                <a:latin typeface="Calibri"/>
                <a:ea typeface="Calibri"/>
                <a:cs typeface="Calibri"/>
                <a:sym typeface="Calibri"/>
              </a:rPr>
              <a:t>2017</a:t>
            </a:r>
            <a:endParaRPr sz="1200">
              <a:solidFill>
                <a:schemeClr val="dk1"/>
              </a:solidFill>
              <a:latin typeface="Calibri"/>
              <a:ea typeface="Calibri"/>
              <a:cs typeface="Calibri"/>
              <a:sym typeface="Calibri"/>
            </a:endParaRPr>
          </a:p>
        </p:txBody>
      </p:sp>
      <p:sp>
        <p:nvSpPr>
          <p:cNvPr id="191" name="Google Shape;191;p23"/>
          <p:cNvSpPr/>
          <p:nvPr/>
        </p:nvSpPr>
        <p:spPr>
          <a:xfrm>
            <a:off x="6916293" y="1097280"/>
            <a:ext cx="857250" cy="582930"/>
          </a:xfrm>
          <a:prstGeom prst="roundRect">
            <a:avLst>
              <a:gd fmla="val 11765" name="adj"/>
            </a:avLst>
          </a:prstGeom>
          <a:solidFill>
            <a:schemeClr val="dk2"/>
          </a:solidFill>
          <a:ln cap="flat" cmpd="sng" w="9525">
            <a:solidFill>
              <a:schemeClr val="dk2"/>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92" name="Google Shape;192;p23"/>
          <p:cNvSpPr txBox="1"/>
          <p:nvPr/>
        </p:nvSpPr>
        <p:spPr>
          <a:xfrm>
            <a:off x="6916293" y="1097280"/>
            <a:ext cx="857250" cy="58293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100"/>
              <a:buFont typeface="Calibri"/>
              <a:buNone/>
            </a:pPr>
            <a:r>
              <a:rPr b="1" lang="en-GB" sz="1100">
                <a:solidFill>
                  <a:schemeClr val="lt1"/>
                </a:solidFill>
                <a:latin typeface="Calibri"/>
                <a:ea typeface="Calibri"/>
                <a:cs typeface="Calibri"/>
                <a:sym typeface="Calibri"/>
              </a:rPr>
              <a:t>Wave 8</a:t>
            </a:r>
            <a:endParaRPr sz="1200">
              <a:solidFill>
                <a:schemeClr val="dk1"/>
              </a:solidFill>
              <a:latin typeface="Calibri"/>
              <a:ea typeface="Calibri"/>
              <a:cs typeface="Calibri"/>
              <a:sym typeface="Calibri"/>
            </a:endParaRPr>
          </a:p>
          <a:p>
            <a:pPr indent="0" lvl="0" marL="0" marR="0" rtl="0" algn="ctr">
              <a:spcBef>
                <a:spcPts val="0"/>
              </a:spcBef>
              <a:spcAft>
                <a:spcPts val="0"/>
              </a:spcAft>
              <a:buClr>
                <a:schemeClr val="lt1"/>
              </a:buClr>
              <a:buSzPts val="800"/>
              <a:buFont typeface="Calibri"/>
              <a:buNone/>
            </a:pPr>
            <a:r>
              <a:rPr lang="en-GB" sz="800">
                <a:solidFill>
                  <a:schemeClr val="lt1"/>
                </a:solidFill>
                <a:latin typeface="Calibri"/>
                <a:ea typeface="Calibri"/>
                <a:cs typeface="Calibri"/>
                <a:sym typeface="Calibri"/>
              </a:rPr>
              <a:t>2019–20</a:t>
            </a:r>
            <a:endParaRPr sz="1200">
              <a:solidFill>
                <a:schemeClr val="dk1"/>
              </a:solidFill>
              <a:latin typeface="Calibri"/>
              <a:ea typeface="Calibri"/>
              <a:cs typeface="Calibri"/>
              <a:sym typeface="Calibri"/>
            </a:endParaRPr>
          </a:p>
        </p:txBody>
      </p:sp>
      <p:sp>
        <p:nvSpPr>
          <p:cNvPr id="193" name="Google Shape;193;p23"/>
          <p:cNvSpPr/>
          <p:nvPr/>
        </p:nvSpPr>
        <p:spPr>
          <a:xfrm>
            <a:off x="7845552" y="1097280"/>
            <a:ext cx="857250" cy="582930"/>
          </a:xfrm>
          <a:prstGeom prst="roundRect">
            <a:avLst>
              <a:gd fmla="val 11765" name="adj"/>
            </a:avLst>
          </a:prstGeom>
          <a:solidFill>
            <a:schemeClr val="dk2"/>
          </a:solidFill>
          <a:ln cap="flat" cmpd="sng" w="9525">
            <a:solidFill>
              <a:schemeClr val="dk2"/>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94" name="Google Shape;194;p23"/>
          <p:cNvSpPr txBox="1"/>
          <p:nvPr/>
        </p:nvSpPr>
        <p:spPr>
          <a:xfrm>
            <a:off x="7845552" y="1097280"/>
            <a:ext cx="857250" cy="58293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100"/>
              <a:buFont typeface="Calibri"/>
              <a:buNone/>
            </a:pPr>
            <a:r>
              <a:rPr b="1" lang="en-GB" sz="1100">
                <a:solidFill>
                  <a:schemeClr val="lt1"/>
                </a:solidFill>
                <a:latin typeface="Calibri"/>
                <a:ea typeface="Calibri"/>
                <a:cs typeface="Calibri"/>
                <a:sym typeface="Calibri"/>
              </a:rPr>
              <a:t>Wave 9</a:t>
            </a:r>
            <a:endParaRPr sz="1200">
              <a:solidFill>
                <a:schemeClr val="dk1"/>
              </a:solidFill>
              <a:latin typeface="Calibri"/>
              <a:ea typeface="Calibri"/>
              <a:cs typeface="Calibri"/>
              <a:sym typeface="Calibri"/>
            </a:endParaRPr>
          </a:p>
          <a:p>
            <a:pPr indent="0" lvl="0" marL="0" marR="0" rtl="0" algn="ctr">
              <a:spcBef>
                <a:spcPts val="0"/>
              </a:spcBef>
              <a:spcAft>
                <a:spcPts val="0"/>
              </a:spcAft>
              <a:buClr>
                <a:schemeClr val="lt1"/>
              </a:buClr>
              <a:buSzPts val="800"/>
              <a:buFont typeface="Calibri"/>
              <a:buNone/>
            </a:pPr>
            <a:r>
              <a:rPr lang="en-GB" sz="800">
                <a:solidFill>
                  <a:schemeClr val="lt1"/>
                </a:solidFill>
                <a:latin typeface="Calibri"/>
                <a:ea typeface="Calibri"/>
                <a:cs typeface="Calibri"/>
                <a:sym typeface="Calibri"/>
              </a:rPr>
              <a:t>2021–22</a:t>
            </a:r>
            <a:endParaRPr sz="1200">
              <a:solidFill>
                <a:schemeClr val="dk1"/>
              </a:solidFill>
              <a:latin typeface="Calibri"/>
              <a:ea typeface="Calibri"/>
              <a:cs typeface="Calibri"/>
              <a:sym typeface="Calibri"/>
            </a:endParaRPr>
          </a:p>
        </p:txBody>
      </p:sp>
      <p:sp>
        <p:nvSpPr>
          <p:cNvPr id="195" name="Google Shape;195;p23"/>
          <p:cNvSpPr/>
          <p:nvPr/>
        </p:nvSpPr>
        <p:spPr>
          <a:xfrm>
            <a:off x="881253" y="1783080"/>
            <a:ext cx="846963" cy="308610"/>
          </a:xfrm>
          <a:prstGeom prst="roundRect">
            <a:avLst>
              <a:gd fmla="val 22222" name="adj"/>
            </a:avLst>
          </a:prstGeom>
          <a:solidFill>
            <a:schemeClr val="accent1"/>
          </a:solidFill>
          <a:ln cap="flat" cmpd="sng" w="9525">
            <a:solidFill>
              <a:schemeClr val="accent1"/>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96" name="Google Shape;196;p23"/>
          <p:cNvSpPr txBox="1"/>
          <p:nvPr/>
        </p:nvSpPr>
        <p:spPr>
          <a:xfrm>
            <a:off x="881253" y="1783080"/>
            <a:ext cx="846963" cy="3086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000"/>
              <a:buFont typeface="Calibri"/>
              <a:buNone/>
            </a:pPr>
            <a:r>
              <a:rPr b="1" lang="en-GB" sz="1000">
                <a:solidFill>
                  <a:schemeClr val="lt1"/>
                </a:solidFill>
                <a:latin typeface="Calibri"/>
                <a:ea typeface="Calibri"/>
                <a:cs typeface="Calibri"/>
                <a:sym typeface="Calibri"/>
              </a:rPr>
              <a:t>1 → 2</a:t>
            </a:r>
            <a:endParaRPr sz="1000">
              <a:solidFill>
                <a:schemeClr val="dk1"/>
              </a:solidFill>
              <a:latin typeface="Calibri"/>
              <a:ea typeface="Calibri"/>
              <a:cs typeface="Calibri"/>
              <a:sym typeface="Calibri"/>
            </a:endParaRPr>
          </a:p>
        </p:txBody>
      </p:sp>
      <p:sp>
        <p:nvSpPr>
          <p:cNvPr id="197" name="Google Shape;197;p23"/>
          <p:cNvSpPr/>
          <p:nvPr/>
        </p:nvSpPr>
        <p:spPr>
          <a:xfrm>
            <a:off x="3669030" y="1783080"/>
            <a:ext cx="846963" cy="308610"/>
          </a:xfrm>
          <a:prstGeom prst="roundRect">
            <a:avLst>
              <a:gd fmla="val 22222" name="adj"/>
            </a:avLst>
          </a:prstGeom>
          <a:solidFill>
            <a:schemeClr val="accent1"/>
          </a:solidFill>
          <a:ln cap="flat" cmpd="sng" w="9525">
            <a:solidFill>
              <a:schemeClr val="accent1"/>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98" name="Google Shape;198;p23"/>
          <p:cNvSpPr txBox="1"/>
          <p:nvPr/>
        </p:nvSpPr>
        <p:spPr>
          <a:xfrm>
            <a:off x="3669030" y="1783080"/>
            <a:ext cx="846963" cy="3086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000"/>
              <a:buFont typeface="Calibri"/>
              <a:buNone/>
            </a:pPr>
            <a:r>
              <a:rPr b="1" lang="en-GB" sz="1000">
                <a:solidFill>
                  <a:schemeClr val="lt1"/>
                </a:solidFill>
                <a:latin typeface="Calibri"/>
                <a:ea typeface="Calibri"/>
                <a:cs typeface="Calibri"/>
                <a:sym typeface="Calibri"/>
              </a:rPr>
              <a:t>4 → 5</a:t>
            </a:r>
            <a:endParaRPr sz="1000">
              <a:solidFill>
                <a:schemeClr val="dk1"/>
              </a:solidFill>
              <a:latin typeface="Calibri"/>
              <a:ea typeface="Calibri"/>
              <a:cs typeface="Calibri"/>
              <a:sym typeface="Calibri"/>
            </a:endParaRPr>
          </a:p>
        </p:txBody>
      </p:sp>
      <p:sp>
        <p:nvSpPr>
          <p:cNvPr id="199" name="Google Shape;199;p23"/>
          <p:cNvSpPr/>
          <p:nvPr/>
        </p:nvSpPr>
        <p:spPr>
          <a:xfrm>
            <a:off x="4598289" y="1783080"/>
            <a:ext cx="846963" cy="308610"/>
          </a:xfrm>
          <a:prstGeom prst="roundRect">
            <a:avLst>
              <a:gd fmla="val 22222" name="adj"/>
            </a:avLst>
          </a:prstGeom>
          <a:solidFill>
            <a:schemeClr val="accent1"/>
          </a:solidFill>
          <a:ln cap="flat" cmpd="sng" w="9525">
            <a:solidFill>
              <a:schemeClr val="accent1"/>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00" name="Google Shape;200;p23"/>
          <p:cNvSpPr txBox="1"/>
          <p:nvPr/>
        </p:nvSpPr>
        <p:spPr>
          <a:xfrm>
            <a:off x="4598289" y="1783080"/>
            <a:ext cx="846963" cy="3086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000"/>
              <a:buFont typeface="Calibri"/>
              <a:buNone/>
            </a:pPr>
            <a:r>
              <a:rPr b="1" lang="en-GB" sz="1000">
                <a:solidFill>
                  <a:schemeClr val="lt1"/>
                </a:solidFill>
                <a:latin typeface="Calibri"/>
                <a:ea typeface="Calibri"/>
                <a:cs typeface="Calibri"/>
                <a:sym typeface="Calibri"/>
              </a:rPr>
              <a:t>5 → 6</a:t>
            </a:r>
            <a:endParaRPr sz="1000">
              <a:solidFill>
                <a:schemeClr val="dk1"/>
              </a:solidFill>
              <a:latin typeface="Calibri"/>
              <a:ea typeface="Calibri"/>
              <a:cs typeface="Calibri"/>
              <a:sym typeface="Calibri"/>
            </a:endParaRPr>
          </a:p>
        </p:txBody>
      </p:sp>
      <p:sp>
        <p:nvSpPr>
          <p:cNvPr id="201" name="Google Shape;201;p23"/>
          <p:cNvSpPr/>
          <p:nvPr/>
        </p:nvSpPr>
        <p:spPr>
          <a:xfrm>
            <a:off x="5527548" y="1783080"/>
            <a:ext cx="846963" cy="308610"/>
          </a:xfrm>
          <a:prstGeom prst="roundRect">
            <a:avLst>
              <a:gd fmla="val 22222" name="adj"/>
            </a:avLst>
          </a:prstGeom>
          <a:solidFill>
            <a:schemeClr val="accent3"/>
          </a:solidFill>
          <a:ln cap="flat" cmpd="sng" w="9525">
            <a:solidFill>
              <a:schemeClr val="accent3"/>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02" name="Google Shape;202;p23"/>
          <p:cNvSpPr txBox="1"/>
          <p:nvPr/>
        </p:nvSpPr>
        <p:spPr>
          <a:xfrm>
            <a:off x="5527548" y="1783080"/>
            <a:ext cx="846963" cy="3086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000"/>
              <a:buFont typeface="Calibri"/>
              <a:buNone/>
            </a:pPr>
            <a:r>
              <a:rPr b="1" lang="en-GB" sz="1000">
                <a:solidFill>
                  <a:schemeClr val="lt1"/>
                </a:solidFill>
                <a:latin typeface="Calibri"/>
                <a:ea typeface="Calibri"/>
                <a:cs typeface="Calibri"/>
                <a:sym typeface="Calibri"/>
              </a:rPr>
              <a:t>6 → 7</a:t>
            </a:r>
            <a:endParaRPr sz="1000">
              <a:solidFill>
                <a:schemeClr val="dk1"/>
              </a:solidFill>
              <a:latin typeface="Calibri"/>
              <a:ea typeface="Calibri"/>
              <a:cs typeface="Calibri"/>
              <a:sym typeface="Calibri"/>
            </a:endParaRPr>
          </a:p>
        </p:txBody>
      </p:sp>
      <p:sp>
        <p:nvSpPr>
          <p:cNvPr id="203" name="Google Shape;203;p23"/>
          <p:cNvSpPr/>
          <p:nvPr/>
        </p:nvSpPr>
        <p:spPr>
          <a:xfrm>
            <a:off x="6456807" y="1783080"/>
            <a:ext cx="846963" cy="308610"/>
          </a:xfrm>
          <a:prstGeom prst="roundRect">
            <a:avLst>
              <a:gd fmla="val 22222" name="adj"/>
            </a:avLst>
          </a:prstGeom>
          <a:solidFill>
            <a:schemeClr val="accent2"/>
          </a:solidFill>
          <a:ln cap="flat" cmpd="sng" w="9525">
            <a:solidFill>
              <a:schemeClr val="accent2"/>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04" name="Google Shape;204;p23"/>
          <p:cNvSpPr txBox="1"/>
          <p:nvPr/>
        </p:nvSpPr>
        <p:spPr>
          <a:xfrm>
            <a:off x="6456807" y="1783080"/>
            <a:ext cx="846963" cy="3086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000"/>
              <a:buFont typeface="Calibri"/>
              <a:buNone/>
            </a:pPr>
            <a:r>
              <a:rPr b="1" lang="en-GB" sz="1000">
                <a:solidFill>
                  <a:schemeClr val="lt1"/>
                </a:solidFill>
                <a:latin typeface="Calibri"/>
                <a:ea typeface="Calibri"/>
                <a:cs typeface="Calibri"/>
                <a:sym typeface="Calibri"/>
              </a:rPr>
              <a:t>7 → 8</a:t>
            </a:r>
            <a:endParaRPr sz="1000">
              <a:solidFill>
                <a:schemeClr val="dk1"/>
              </a:solidFill>
              <a:latin typeface="Calibri"/>
              <a:ea typeface="Calibri"/>
              <a:cs typeface="Calibri"/>
              <a:sym typeface="Calibri"/>
            </a:endParaRPr>
          </a:p>
        </p:txBody>
      </p:sp>
      <p:sp>
        <p:nvSpPr>
          <p:cNvPr id="205" name="Google Shape;205;p23"/>
          <p:cNvSpPr/>
          <p:nvPr/>
        </p:nvSpPr>
        <p:spPr>
          <a:xfrm>
            <a:off x="7386066" y="1783080"/>
            <a:ext cx="846963" cy="308610"/>
          </a:xfrm>
          <a:prstGeom prst="roundRect">
            <a:avLst>
              <a:gd fmla="val 22222" name="adj"/>
            </a:avLst>
          </a:prstGeom>
          <a:solidFill>
            <a:schemeClr val="accent2"/>
          </a:solidFill>
          <a:ln cap="flat" cmpd="sng" w="9525">
            <a:solidFill>
              <a:schemeClr val="accent2"/>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06" name="Google Shape;206;p23"/>
          <p:cNvSpPr txBox="1"/>
          <p:nvPr/>
        </p:nvSpPr>
        <p:spPr>
          <a:xfrm>
            <a:off x="7386066" y="1783080"/>
            <a:ext cx="846963" cy="3086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000"/>
              <a:buFont typeface="Calibri"/>
              <a:buNone/>
            </a:pPr>
            <a:r>
              <a:rPr b="1" lang="en-GB" sz="1000">
                <a:solidFill>
                  <a:schemeClr val="lt1"/>
                </a:solidFill>
                <a:latin typeface="Calibri"/>
                <a:ea typeface="Calibri"/>
                <a:cs typeface="Calibri"/>
                <a:sym typeface="Calibri"/>
              </a:rPr>
              <a:t>8 → 9</a:t>
            </a:r>
            <a:endParaRPr sz="1000">
              <a:solidFill>
                <a:schemeClr val="dk1"/>
              </a:solidFill>
              <a:latin typeface="Calibri"/>
              <a:ea typeface="Calibri"/>
              <a:cs typeface="Calibri"/>
              <a:sym typeface="Calibri"/>
            </a:endParaRPr>
          </a:p>
        </p:txBody>
      </p:sp>
      <p:sp>
        <p:nvSpPr>
          <p:cNvPr id="207" name="Google Shape;207;p23"/>
          <p:cNvSpPr txBox="1"/>
          <p:nvPr/>
        </p:nvSpPr>
        <p:spPr>
          <a:xfrm>
            <a:off x="2269998" y="1783080"/>
            <a:ext cx="857250" cy="3086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lang="en-GB" sz="900">
                <a:solidFill>
                  <a:srgbClr val="7F7F7F"/>
                </a:solidFill>
                <a:latin typeface="Calibri"/>
                <a:ea typeface="Calibri"/>
                <a:cs typeface="Calibri"/>
                <a:sym typeface="Calibri"/>
              </a:rPr>
              <a:t>life-history survey without ADL questions</a:t>
            </a:r>
            <a:endParaRPr sz="900">
              <a:solidFill>
                <a:srgbClr val="7F7F7F"/>
              </a:solidFill>
              <a:latin typeface="Calibri"/>
              <a:ea typeface="Calibri"/>
              <a:cs typeface="Calibri"/>
              <a:sym typeface="Calibri"/>
            </a:endParaRPr>
          </a:p>
        </p:txBody>
      </p:sp>
      <p:sp>
        <p:nvSpPr>
          <p:cNvPr id="208" name="Google Shape;208;p23"/>
          <p:cNvSpPr/>
          <p:nvPr/>
        </p:nvSpPr>
        <p:spPr>
          <a:xfrm>
            <a:off x="411480" y="2276856"/>
            <a:ext cx="192024" cy="192024"/>
          </a:xfrm>
          <a:prstGeom prst="roundRect">
            <a:avLst>
              <a:gd fmla="val 21429" name="adj"/>
            </a:avLst>
          </a:prstGeom>
          <a:solidFill>
            <a:schemeClr val="accent1"/>
          </a:solidFill>
          <a:ln cap="flat" cmpd="sng" w="9525">
            <a:solidFill>
              <a:schemeClr val="accent1"/>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09" name="Google Shape;209;p23"/>
          <p:cNvSpPr txBox="1"/>
          <p:nvPr/>
        </p:nvSpPr>
        <p:spPr>
          <a:xfrm>
            <a:off x="672084" y="2242566"/>
            <a:ext cx="2811780" cy="26060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Development: baselines 1, 4, 5 (45,574 pairs)</a:t>
            </a:r>
            <a:endParaRPr sz="1100">
              <a:solidFill>
                <a:schemeClr val="dk1"/>
              </a:solidFill>
              <a:latin typeface="Calibri"/>
              <a:ea typeface="Calibri"/>
              <a:cs typeface="Calibri"/>
              <a:sym typeface="Calibri"/>
            </a:endParaRPr>
          </a:p>
        </p:txBody>
      </p:sp>
      <p:sp>
        <p:nvSpPr>
          <p:cNvPr id="210" name="Google Shape;210;p23"/>
          <p:cNvSpPr/>
          <p:nvPr/>
        </p:nvSpPr>
        <p:spPr>
          <a:xfrm>
            <a:off x="3429000" y="2276856"/>
            <a:ext cx="192024" cy="192024"/>
          </a:xfrm>
          <a:prstGeom prst="roundRect">
            <a:avLst>
              <a:gd fmla="val 21429" name="adj"/>
            </a:avLst>
          </a:prstGeom>
          <a:solidFill>
            <a:schemeClr val="accent3"/>
          </a:solidFill>
          <a:ln cap="flat" cmpd="sng" w="9525">
            <a:solidFill>
              <a:schemeClr val="accent3"/>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11" name="Google Shape;211;p23"/>
          <p:cNvSpPr txBox="1"/>
          <p:nvPr/>
        </p:nvSpPr>
        <p:spPr>
          <a:xfrm>
            <a:off x="3689604" y="2242566"/>
            <a:ext cx="2811780" cy="26060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Validation: baseline 6 (25,238)</a:t>
            </a:r>
            <a:endParaRPr sz="1100">
              <a:solidFill>
                <a:schemeClr val="dk1"/>
              </a:solidFill>
              <a:latin typeface="Calibri"/>
              <a:ea typeface="Calibri"/>
              <a:cs typeface="Calibri"/>
              <a:sym typeface="Calibri"/>
            </a:endParaRPr>
          </a:p>
        </p:txBody>
      </p:sp>
      <p:sp>
        <p:nvSpPr>
          <p:cNvPr id="212" name="Google Shape;212;p23"/>
          <p:cNvSpPr/>
          <p:nvPr/>
        </p:nvSpPr>
        <p:spPr>
          <a:xfrm>
            <a:off x="5897880" y="2276856"/>
            <a:ext cx="192024" cy="192024"/>
          </a:xfrm>
          <a:prstGeom prst="roundRect">
            <a:avLst>
              <a:gd fmla="val 21429" name="adj"/>
            </a:avLst>
          </a:prstGeom>
          <a:solidFill>
            <a:schemeClr val="accent2"/>
          </a:solidFill>
          <a:ln cap="flat" cmpd="sng" w="9525">
            <a:solidFill>
              <a:schemeClr val="accent2"/>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13" name="Google Shape;213;p23"/>
          <p:cNvSpPr txBox="1"/>
          <p:nvPr/>
        </p:nvSpPr>
        <p:spPr>
          <a:xfrm>
            <a:off x="6158484" y="2242566"/>
            <a:ext cx="2811780" cy="26060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Test: baselines 7, 8 (44,343)</a:t>
            </a:r>
            <a:endParaRPr sz="1100">
              <a:solidFill>
                <a:schemeClr val="dk1"/>
              </a:solidFill>
              <a:latin typeface="Calibri"/>
              <a:ea typeface="Calibri"/>
              <a:cs typeface="Calibri"/>
              <a:sym typeface="Calibri"/>
            </a:endParaRPr>
          </a:p>
        </p:txBody>
      </p:sp>
      <p:sp>
        <p:nvSpPr>
          <p:cNvPr id="214" name="Google Shape;214;p23"/>
          <p:cNvSpPr/>
          <p:nvPr/>
        </p:nvSpPr>
        <p:spPr>
          <a:xfrm>
            <a:off x="416052" y="2966940"/>
            <a:ext cx="2674620" cy="1405890"/>
          </a:xfrm>
          <a:prstGeom prst="roundRect">
            <a:avLst>
              <a:gd fmla="val 5854" name="adj"/>
            </a:avLst>
          </a:prstGeom>
          <a:solidFill>
            <a:schemeClr val="lt2"/>
          </a:solidFill>
          <a:ln cap="flat" cmpd="sng" w="9525">
            <a:solidFill>
              <a:schemeClr val="lt2"/>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15" name="Google Shape;215;p23"/>
          <p:cNvSpPr txBox="1"/>
          <p:nvPr/>
        </p:nvSpPr>
        <p:spPr>
          <a:xfrm>
            <a:off x="554671" y="3086955"/>
            <a:ext cx="2397382" cy="51435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2400"/>
              <a:buFont typeface="Calibri"/>
              <a:buNone/>
            </a:pPr>
            <a:r>
              <a:rPr b="1" lang="en-GB" sz="2400">
                <a:solidFill>
                  <a:schemeClr val="accent1"/>
                </a:solidFill>
                <a:latin typeface="Calibri"/>
                <a:ea typeface="Calibri"/>
                <a:cs typeface="Calibri"/>
                <a:sym typeface="Calibri"/>
              </a:rPr>
              <a:t>115,155 Valid Pairs</a:t>
            </a:r>
            <a:endParaRPr sz="2400">
              <a:solidFill>
                <a:schemeClr val="dk1"/>
              </a:solidFill>
              <a:latin typeface="Calibri"/>
              <a:ea typeface="Calibri"/>
              <a:cs typeface="Calibri"/>
              <a:sym typeface="Calibri"/>
            </a:endParaRPr>
          </a:p>
        </p:txBody>
      </p:sp>
      <p:sp>
        <p:nvSpPr>
          <p:cNvPr id="216" name="Google Shape;216;p23"/>
          <p:cNvSpPr txBox="1"/>
          <p:nvPr/>
        </p:nvSpPr>
        <p:spPr>
          <a:xfrm>
            <a:off x="587502" y="3618450"/>
            <a:ext cx="2331720"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pairs: aged 65+ with ADL = 0 at baseline and a valid ADL at the next interview</a:t>
            </a:r>
            <a:endParaRPr sz="1100">
              <a:solidFill>
                <a:schemeClr val="dk1"/>
              </a:solidFill>
              <a:latin typeface="Calibri"/>
              <a:ea typeface="Calibri"/>
              <a:cs typeface="Calibri"/>
              <a:sym typeface="Calibri"/>
            </a:endParaRPr>
          </a:p>
        </p:txBody>
      </p:sp>
      <p:sp>
        <p:nvSpPr>
          <p:cNvPr id="217" name="Google Shape;217;p23"/>
          <p:cNvSpPr/>
          <p:nvPr/>
        </p:nvSpPr>
        <p:spPr>
          <a:xfrm>
            <a:off x="3234690" y="2966940"/>
            <a:ext cx="2674620" cy="1405890"/>
          </a:xfrm>
          <a:prstGeom prst="roundRect">
            <a:avLst>
              <a:gd fmla="val 5854" name="adj"/>
            </a:avLst>
          </a:prstGeom>
          <a:solidFill>
            <a:schemeClr val="lt2"/>
          </a:solidFill>
          <a:ln cap="flat" cmpd="sng" w="9525">
            <a:solidFill>
              <a:schemeClr val="lt2"/>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18" name="Google Shape;218;p23"/>
          <p:cNvSpPr txBox="1"/>
          <p:nvPr/>
        </p:nvSpPr>
        <p:spPr>
          <a:xfrm>
            <a:off x="3406140" y="3090384"/>
            <a:ext cx="2331720" cy="51435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1" lang="en-GB" sz="1800">
                <a:solidFill>
                  <a:schemeClr val="accent2"/>
                </a:solidFill>
                <a:latin typeface="Calibri"/>
                <a:ea typeface="Calibri"/>
                <a:cs typeface="Calibri"/>
                <a:sym typeface="Calibri"/>
              </a:rPr>
              <a:t>9.6% (Positive example)</a:t>
            </a:r>
            <a:endParaRPr sz="1800">
              <a:solidFill>
                <a:schemeClr val="dk1"/>
              </a:solidFill>
              <a:latin typeface="Calibri"/>
              <a:ea typeface="Calibri"/>
              <a:cs typeface="Calibri"/>
              <a:sym typeface="Calibri"/>
            </a:endParaRPr>
          </a:p>
        </p:txBody>
      </p:sp>
      <p:sp>
        <p:nvSpPr>
          <p:cNvPr id="219" name="Google Shape;219;p23"/>
          <p:cNvSpPr txBox="1"/>
          <p:nvPr/>
        </p:nvSpPr>
        <p:spPr>
          <a:xfrm>
            <a:off x="3406140" y="3618450"/>
            <a:ext cx="2331720"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develop a new ADL limitation (ADL ≥ 1) by the next interview</a:t>
            </a:r>
            <a:endParaRPr sz="1100">
              <a:solidFill>
                <a:schemeClr val="dk1"/>
              </a:solidFill>
              <a:latin typeface="Calibri"/>
              <a:ea typeface="Calibri"/>
              <a:cs typeface="Calibri"/>
              <a:sym typeface="Calibri"/>
            </a:endParaRPr>
          </a:p>
        </p:txBody>
      </p:sp>
      <p:sp>
        <p:nvSpPr>
          <p:cNvPr id="220" name="Google Shape;220;p23"/>
          <p:cNvSpPr/>
          <p:nvPr/>
        </p:nvSpPr>
        <p:spPr>
          <a:xfrm>
            <a:off x="6060186" y="2966940"/>
            <a:ext cx="2674620" cy="1405890"/>
          </a:xfrm>
          <a:prstGeom prst="roundRect">
            <a:avLst>
              <a:gd fmla="val 5854" name="adj"/>
            </a:avLst>
          </a:prstGeom>
          <a:solidFill>
            <a:schemeClr val="lt2"/>
          </a:solidFill>
          <a:ln cap="flat" cmpd="sng" w="9525">
            <a:solidFill>
              <a:schemeClr val="lt2"/>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21" name="Google Shape;221;p23"/>
          <p:cNvSpPr txBox="1"/>
          <p:nvPr/>
        </p:nvSpPr>
        <p:spPr>
          <a:xfrm>
            <a:off x="6231636" y="3090384"/>
            <a:ext cx="2331720" cy="51435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2400"/>
              <a:buFont typeface="Calibri"/>
              <a:buNone/>
            </a:pPr>
            <a:r>
              <a:rPr b="1" lang="en-GB" sz="2400">
                <a:solidFill>
                  <a:schemeClr val="accent1"/>
                </a:solidFill>
                <a:latin typeface="Calibri"/>
                <a:ea typeface="Calibri"/>
                <a:cs typeface="Calibri"/>
                <a:sym typeface="Calibri"/>
              </a:rPr>
              <a:t>56–79%</a:t>
            </a:r>
            <a:endParaRPr sz="2400">
              <a:solidFill>
                <a:schemeClr val="dk1"/>
              </a:solidFill>
              <a:latin typeface="Calibri"/>
              <a:ea typeface="Calibri"/>
              <a:cs typeface="Calibri"/>
              <a:sym typeface="Calibri"/>
            </a:endParaRPr>
          </a:p>
        </p:txBody>
      </p:sp>
      <p:sp>
        <p:nvSpPr>
          <p:cNvPr id="222" name="Google Shape;222;p23"/>
          <p:cNvSpPr txBox="1"/>
          <p:nvPr/>
        </p:nvSpPr>
        <p:spPr>
          <a:xfrm>
            <a:off x="6231636" y="3618450"/>
            <a:ext cx="2331720"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of eligible people are re-interviewed, depending on the wave</a:t>
            </a:r>
            <a:endParaRPr sz="1100">
              <a:solidFill>
                <a:schemeClr val="dk1"/>
              </a:solidFill>
              <a:latin typeface="Calibri"/>
              <a:ea typeface="Calibri"/>
              <a:cs typeface="Calibri"/>
              <a:sym typeface="Calibri"/>
            </a:endParaRPr>
          </a:p>
        </p:txBody>
      </p:sp>
      <p:sp>
        <p:nvSpPr>
          <p:cNvPr id="223" name="Google Shape;223;p23"/>
          <p:cNvSpPr txBox="1"/>
          <p:nvPr/>
        </p:nvSpPr>
        <p:spPr>
          <a:xfrm>
            <a:off x="416052" y="4612860"/>
            <a:ext cx="8318754" cy="342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5"/>
              </a:buClr>
              <a:buSzPts val="900"/>
              <a:buFont typeface="Calibri"/>
              <a:buNone/>
            </a:pPr>
            <a:r>
              <a:rPr i="1" lang="en-GB" sz="900">
                <a:solidFill>
                  <a:schemeClr val="accent5"/>
                </a:solidFill>
                <a:latin typeface="Calibri"/>
                <a:ea typeface="Calibri"/>
                <a:cs typeface="Calibri"/>
                <a:sym typeface="Calibri"/>
              </a:rPr>
              <a:t>Interval to the next interview: 2 years for 77% of pairs, 3 years for 19%. Split by time, never at random: learn from the past, test on the future.</a:t>
            </a:r>
            <a:endParaRPr sz="900">
              <a:solidFill>
                <a:schemeClr val="dk1"/>
              </a:solidFill>
              <a:latin typeface="Calibri"/>
              <a:ea typeface="Calibri"/>
              <a:cs typeface="Calibri"/>
              <a:sym typeface="Calibri"/>
            </a:endParaRPr>
          </a:p>
        </p:txBody>
      </p:sp>
      <p:sp>
        <p:nvSpPr>
          <p:cNvPr id="224" name="Google Shape;224;p23"/>
          <p:cNvSpPr txBox="1"/>
          <p:nvPr>
            <p:ph idx="4294967295" type="sldNum"/>
          </p:nvPr>
        </p:nvSpPr>
        <p:spPr>
          <a:xfrm>
            <a:off x="8229600" y="4828032"/>
            <a:ext cx="500634" cy="205740"/>
          </a:xfrm>
          <a:prstGeom prst="rect">
            <a:avLst/>
          </a:prstGeom>
          <a:noFill/>
          <a:ln>
            <a:noFill/>
          </a:ln>
        </p:spPr>
        <p:txBody>
          <a:bodyPr anchorCtr="0" anchor="t" bIns="34275" lIns="68575" spcFirstLastPara="1" rIns="68575" wrap="square" tIns="34275">
            <a:noAutofit/>
          </a:bodyPr>
          <a:lstStyle/>
          <a:p>
            <a:pPr indent="0" lvl="0" marL="0" marR="0" rtl="0" algn="r">
              <a:spcBef>
                <a:spcPts val="0"/>
              </a:spcBef>
              <a:spcAft>
                <a:spcPts val="0"/>
              </a:spcAft>
              <a:buNone/>
            </a:pPr>
            <a:fld id="{00000000-1234-1234-1234-123412341234}" type="slidenum">
              <a:rPr b="0" i="0" lang="en-GB" sz="800" u="none" cap="none" strike="noStrike">
                <a:solidFill>
                  <a:schemeClr val="accent5"/>
                </a:solidFill>
                <a:latin typeface="Calibri"/>
                <a:ea typeface="Calibri"/>
                <a:cs typeface="Calibri"/>
                <a:sym typeface="Calibri"/>
              </a:rPr>
              <a:t>‹#›</a:t>
            </a:fld>
            <a:endParaRPr b="0" i="0" sz="800" u="none" cap="none" strike="noStrike">
              <a:solidFill>
                <a:schemeClr val="accent5"/>
              </a:solidFill>
              <a:latin typeface="Calibri"/>
              <a:ea typeface="Calibri"/>
              <a:cs typeface="Calibri"/>
              <a:sym typeface="Calibri"/>
            </a:endParaRPr>
          </a:p>
        </p:txBody>
      </p:sp>
      <p:sp>
        <p:nvSpPr>
          <p:cNvPr id="225" name="Google Shape;225;p23"/>
          <p:cNvSpPr txBox="1"/>
          <p:nvPr/>
        </p:nvSpPr>
        <p:spPr>
          <a:xfrm>
            <a:off x="169261" y="630831"/>
            <a:ext cx="8268268" cy="276999"/>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lang="en-GB" sz="1400">
                <a:solidFill>
                  <a:srgbClr val="0F5B61"/>
                </a:solidFill>
                <a:latin typeface="Cambria"/>
                <a:ea typeface="Cambria"/>
                <a:cs typeface="Cambria"/>
                <a:sym typeface="Cambria"/>
              </a:rPr>
              <a:t>488,400 original rows in the dataset, e.g..  from first survey (wave1) to the next consecutive survey  (wave2) </a:t>
            </a:r>
            <a:endParaRPr sz="1400">
              <a:solidFill>
                <a:srgbClr val="0F5B61"/>
              </a:solidFill>
              <a:latin typeface="Cambria"/>
              <a:ea typeface="Cambria"/>
              <a:cs typeface="Cambria"/>
              <a:sym typeface="Cambria"/>
            </a:endParaRPr>
          </a:p>
        </p:txBody>
      </p:sp>
      <p:sp>
        <p:nvSpPr>
          <p:cNvPr id="226" name="Google Shape;226;p23"/>
          <p:cNvSpPr txBox="1"/>
          <p:nvPr/>
        </p:nvSpPr>
        <p:spPr>
          <a:xfrm>
            <a:off x="2160506" y="2662884"/>
            <a:ext cx="5087788" cy="276999"/>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lang="en-GB" sz="1400">
                <a:solidFill>
                  <a:srgbClr val="0F5B61"/>
                </a:solidFill>
                <a:latin typeface="Cambria"/>
                <a:ea typeface="Cambria"/>
                <a:cs typeface="Cambria"/>
                <a:sym typeface="Cambria"/>
              </a:rPr>
              <a:t>This mimics real use: we learn from the past and predict the future.</a:t>
            </a:r>
            <a:endParaRPr sz="1400">
              <a:solidFill>
                <a:srgbClr val="0F5B61"/>
              </a:solidFill>
              <a:latin typeface="Cambria"/>
              <a:ea typeface="Cambria"/>
              <a:cs typeface="Cambria"/>
              <a:sym typeface="Cambria"/>
            </a:endParaRPr>
          </a:p>
        </p:txBody>
      </p:sp>
      <p:sp>
        <p:nvSpPr>
          <p:cNvPr id="227" name="Google Shape;227;p23"/>
          <p:cNvSpPr/>
          <p:nvPr/>
        </p:nvSpPr>
        <p:spPr>
          <a:xfrm>
            <a:off x="4430473" y="2503170"/>
            <a:ext cx="310069" cy="159714"/>
          </a:xfrm>
          <a:prstGeom prst="downArrow">
            <a:avLst>
              <a:gd fmla="val 50000" name="adj1"/>
              <a:gd fmla="val 50000" name="adj2"/>
            </a:avLst>
          </a:prstGeom>
          <a:solidFill>
            <a:srgbClr val="BFBFBF"/>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sp>
        <p:nvSpPr>
          <p:cNvPr id="232" name="Google Shape;232;p24"/>
          <p:cNvSpPr/>
          <p:nvPr/>
        </p:nvSpPr>
        <p:spPr>
          <a:xfrm>
            <a:off x="412623" y="174879"/>
            <a:ext cx="7063740" cy="65151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2100"/>
              <a:buFont typeface="Cambria"/>
              <a:buNone/>
            </a:pPr>
            <a:r>
              <a:rPr b="1" lang="en-GB" sz="2100">
                <a:solidFill>
                  <a:schemeClr val="dk2"/>
                </a:solidFill>
                <a:latin typeface="Cambria"/>
                <a:ea typeface="Cambria"/>
                <a:cs typeface="Cambria"/>
                <a:sym typeface="Cambria"/>
              </a:rPr>
              <a:t>Risk climbs steeply with age, poor health and inactivity</a:t>
            </a:r>
            <a:endParaRPr b="1" sz="2100">
              <a:solidFill>
                <a:schemeClr val="dk2"/>
              </a:solidFill>
              <a:latin typeface="Cambria"/>
              <a:ea typeface="Cambria"/>
              <a:cs typeface="Cambria"/>
              <a:sym typeface="Cambria"/>
            </a:endParaRPr>
          </a:p>
        </p:txBody>
      </p:sp>
      <p:pic>
        <p:nvPicPr>
          <p:cNvPr id="233" name="Google Shape;233;p24"/>
          <p:cNvPicPr preferRelativeResize="0"/>
          <p:nvPr/>
        </p:nvPicPr>
        <p:blipFill rotWithShape="1">
          <a:blip r:embed="rId3">
            <a:alphaModFix/>
          </a:blip>
          <a:srcRect b="0" l="0" r="0" t="0"/>
          <a:stretch/>
        </p:blipFill>
        <p:spPr>
          <a:xfrm>
            <a:off x="412623" y="894969"/>
            <a:ext cx="2571750" cy="1645920"/>
          </a:xfrm>
          <a:prstGeom prst="rect">
            <a:avLst/>
          </a:prstGeom>
          <a:noFill/>
          <a:ln>
            <a:noFill/>
          </a:ln>
        </p:spPr>
      </p:pic>
      <p:pic>
        <p:nvPicPr>
          <p:cNvPr id="234" name="Google Shape;234;p24"/>
          <p:cNvPicPr preferRelativeResize="0"/>
          <p:nvPr/>
        </p:nvPicPr>
        <p:blipFill rotWithShape="1">
          <a:blip r:embed="rId4">
            <a:alphaModFix/>
          </a:blip>
          <a:srcRect b="0" l="0" r="0" t="0"/>
          <a:stretch/>
        </p:blipFill>
        <p:spPr>
          <a:xfrm>
            <a:off x="3087243" y="894969"/>
            <a:ext cx="2571750" cy="1645920"/>
          </a:xfrm>
          <a:prstGeom prst="rect">
            <a:avLst/>
          </a:prstGeom>
          <a:noFill/>
          <a:ln>
            <a:noFill/>
          </a:ln>
        </p:spPr>
      </p:pic>
      <p:pic>
        <p:nvPicPr>
          <p:cNvPr id="235" name="Google Shape;235;p24"/>
          <p:cNvPicPr preferRelativeResize="0"/>
          <p:nvPr/>
        </p:nvPicPr>
        <p:blipFill rotWithShape="1">
          <a:blip r:embed="rId5">
            <a:alphaModFix/>
          </a:blip>
          <a:srcRect b="0" l="0" r="0" t="0"/>
          <a:stretch/>
        </p:blipFill>
        <p:spPr>
          <a:xfrm>
            <a:off x="412623" y="2609469"/>
            <a:ext cx="2571750" cy="1645920"/>
          </a:xfrm>
          <a:prstGeom prst="rect">
            <a:avLst/>
          </a:prstGeom>
          <a:noFill/>
          <a:ln>
            <a:noFill/>
          </a:ln>
        </p:spPr>
      </p:pic>
      <p:pic>
        <p:nvPicPr>
          <p:cNvPr id="236" name="Google Shape;236;p24"/>
          <p:cNvPicPr preferRelativeResize="0"/>
          <p:nvPr/>
        </p:nvPicPr>
        <p:blipFill rotWithShape="1">
          <a:blip r:embed="rId6">
            <a:alphaModFix/>
          </a:blip>
          <a:srcRect b="0" l="0" r="0" t="0"/>
          <a:stretch/>
        </p:blipFill>
        <p:spPr>
          <a:xfrm>
            <a:off x="3087243" y="2609469"/>
            <a:ext cx="2571750" cy="1645920"/>
          </a:xfrm>
          <a:prstGeom prst="rect">
            <a:avLst/>
          </a:prstGeom>
          <a:noFill/>
          <a:ln>
            <a:noFill/>
          </a:ln>
        </p:spPr>
      </p:pic>
      <p:sp>
        <p:nvSpPr>
          <p:cNvPr id="237" name="Google Shape;237;p24"/>
          <p:cNvSpPr/>
          <p:nvPr/>
        </p:nvSpPr>
        <p:spPr>
          <a:xfrm>
            <a:off x="5899023" y="929259"/>
            <a:ext cx="2832354" cy="1062990"/>
          </a:xfrm>
          <a:prstGeom prst="roundRect">
            <a:avLst>
              <a:gd fmla="val 7742" name="adj"/>
            </a:avLst>
          </a:prstGeom>
          <a:solidFill>
            <a:schemeClr val="lt2"/>
          </a:solidFill>
          <a:ln cap="flat" cmpd="sng" w="9525">
            <a:solidFill>
              <a:schemeClr val="lt2"/>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38" name="Google Shape;238;p24"/>
          <p:cNvSpPr txBox="1"/>
          <p:nvPr/>
        </p:nvSpPr>
        <p:spPr>
          <a:xfrm>
            <a:off x="6070473" y="1052703"/>
            <a:ext cx="2489454" cy="51435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2"/>
              </a:buClr>
              <a:buSzPts val="2100"/>
              <a:buFont typeface="Calibri"/>
              <a:buNone/>
            </a:pPr>
            <a:r>
              <a:rPr b="1" lang="en-GB" sz="2100">
                <a:solidFill>
                  <a:schemeClr val="accent2"/>
                </a:solidFill>
                <a:latin typeface="Calibri"/>
                <a:ea typeface="Calibri"/>
                <a:cs typeface="Calibri"/>
                <a:sym typeface="Calibri"/>
              </a:rPr>
              <a:t>≈ 10×</a:t>
            </a:r>
            <a:endParaRPr sz="2100">
              <a:solidFill>
                <a:schemeClr val="dk1"/>
              </a:solidFill>
              <a:latin typeface="Calibri"/>
              <a:ea typeface="Calibri"/>
              <a:cs typeface="Calibri"/>
              <a:sym typeface="Calibri"/>
            </a:endParaRPr>
          </a:p>
        </p:txBody>
      </p:sp>
      <p:sp>
        <p:nvSpPr>
          <p:cNvPr id="239" name="Google Shape;239;p24"/>
          <p:cNvSpPr txBox="1"/>
          <p:nvPr/>
        </p:nvSpPr>
        <p:spPr>
          <a:xfrm>
            <a:off x="6070473" y="1580769"/>
            <a:ext cx="2489454" cy="342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poor vs excellent self-rated health (28% vs 3%): the steepest gradient</a:t>
            </a:r>
            <a:endParaRPr sz="1100">
              <a:solidFill>
                <a:schemeClr val="dk1"/>
              </a:solidFill>
              <a:latin typeface="Calibri"/>
              <a:ea typeface="Calibri"/>
              <a:cs typeface="Calibri"/>
              <a:sym typeface="Calibri"/>
            </a:endParaRPr>
          </a:p>
        </p:txBody>
      </p:sp>
      <p:sp>
        <p:nvSpPr>
          <p:cNvPr id="240" name="Google Shape;240;p24"/>
          <p:cNvSpPr/>
          <p:nvPr/>
        </p:nvSpPr>
        <p:spPr>
          <a:xfrm>
            <a:off x="5899023" y="2060829"/>
            <a:ext cx="2832354" cy="1062990"/>
          </a:xfrm>
          <a:prstGeom prst="roundRect">
            <a:avLst>
              <a:gd fmla="val 7742" name="adj"/>
            </a:avLst>
          </a:prstGeom>
          <a:solidFill>
            <a:schemeClr val="lt2"/>
          </a:solidFill>
          <a:ln cap="flat" cmpd="sng" w="9525">
            <a:solidFill>
              <a:schemeClr val="lt2"/>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41" name="Google Shape;241;p24"/>
          <p:cNvSpPr txBox="1"/>
          <p:nvPr/>
        </p:nvSpPr>
        <p:spPr>
          <a:xfrm>
            <a:off x="6070473" y="2184273"/>
            <a:ext cx="2489454" cy="51435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2"/>
              </a:buClr>
              <a:buSzPts val="2100"/>
              <a:buFont typeface="Calibri"/>
              <a:buNone/>
            </a:pPr>
            <a:r>
              <a:rPr b="1" lang="en-GB" sz="2100">
                <a:solidFill>
                  <a:schemeClr val="accent2"/>
                </a:solidFill>
                <a:latin typeface="Calibri"/>
                <a:ea typeface="Calibri"/>
                <a:cs typeface="Calibri"/>
                <a:sym typeface="Calibri"/>
              </a:rPr>
              <a:t>5×</a:t>
            </a:r>
            <a:endParaRPr sz="2100">
              <a:solidFill>
                <a:schemeClr val="dk1"/>
              </a:solidFill>
              <a:latin typeface="Calibri"/>
              <a:ea typeface="Calibri"/>
              <a:cs typeface="Calibri"/>
              <a:sym typeface="Calibri"/>
            </a:endParaRPr>
          </a:p>
        </p:txBody>
      </p:sp>
      <p:sp>
        <p:nvSpPr>
          <p:cNvPr id="242" name="Google Shape;242;p24"/>
          <p:cNvSpPr txBox="1"/>
          <p:nvPr/>
        </p:nvSpPr>
        <p:spPr>
          <a:xfrm>
            <a:off x="6070473" y="2712339"/>
            <a:ext cx="2489454" cy="342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aged 85+ vs 65–69 (25.6% vs 5.1%)</a:t>
            </a:r>
            <a:endParaRPr sz="1100">
              <a:solidFill>
                <a:schemeClr val="dk1"/>
              </a:solidFill>
              <a:latin typeface="Calibri"/>
              <a:ea typeface="Calibri"/>
              <a:cs typeface="Calibri"/>
              <a:sym typeface="Calibri"/>
            </a:endParaRPr>
          </a:p>
        </p:txBody>
      </p:sp>
      <p:sp>
        <p:nvSpPr>
          <p:cNvPr id="243" name="Google Shape;243;p24"/>
          <p:cNvSpPr/>
          <p:nvPr/>
        </p:nvSpPr>
        <p:spPr>
          <a:xfrm>
            <a:off x="5899023" y="3192399"/>
            <a:ext cx="2832354" cy="1062990"/>
          </a:xfrm>
          <a:prstGeom prst="roundRect">
            <a:avLst>
              <a:gd fmla="val 7742" name="adj"/>
            </a:avLst>
          </a:prstGeom>
          <a:solidFill>
            <a:schemeClr val="lt2"/>
          </a:solidFill>
          <a:ln cap="flat" cmpd="sng" w="9525">
            <a:solidFill>
              <a:schemeClr val="lt2"/>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44" name="Google Shape;244;p24"/>
          <p:cNvSpPr txBox="1"/>
          <p:nvPr/>
        </p:nvSpPr>
        <p:spPr>
          <a:xfrm>
            <a:off x="6070473" y="3315843"/>
            <a:ext cx="2489454" cy="51435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2100"/>
              <a:buFont typeface="Calibri"/>
              <a:buNone/>
            </a:pPr>
            <a:r>
              <a:rPr b="1" lang="en-GB" sz="2100">
                <a:solidFill>
                  <a:schemeClr val="accent1"/>
                </a:solidFill>
                <a:latin typeface="Calibri"/>
                <a:ea typeface="Calibri"/>
                <a:cs typeface="Calibri"/>
                <a:sym typeface="Calibri"/>
              </a:rPr>
              <a:t>AUC 0.685</a:t>
            </a:r>
            <a:endParaRPr sz="2100">
              <a:solidFill>
                <a:schemeClr val="dk1"/>
              </a:solidFill>
              <a:latin typeface="Calibri"/>
              <a:ea typeface="Calibri"/>
              <a:cs typeface="Calibri"/>
              <a:sym typeface="Calibri"/>
            </a:endParaRPr>
          </a:p>
        </p:txBody>
      </p:sp>
      <p:sp>
        <p:nvSpPr>
          <p:cNvPr id="245" name="Google Shape;245;p24"/>
          <p:cNvSpPr txBox="1"/>
          <p:nvPr/>
        </p:nvSpPr>
        <p:spPr>
          <a:xfrm>
            <a:off x="6070473" y="3843909"/>
            <a:ext cx="2489454" cy="342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best single variable (self-rated health); age 0.662: one variable is not enough</a:t>
            </a:r>
            <a:endParaRPr sz="1100">
              <a:solidFill>
                <a:schemeClr val="dk1"/>
              </a:solidFill>
              <a:latin typeface="Calibri"/>
              <a:ea typeface="Calibri"/>
              <a:cs typeface="Calibri"/>
              <a:sym typeface="Calibri"/>
            </a:endParaRPr>
          </a:p>
        </p:txBody>
      </p:sp>
      <p:sp>
        <p:nvSpPr>
          <p:cNvPr id="246" name="Google Shape;246;p24"/>
          <p:cNvSpPr txBox="1"/>
          <p:nvPr/>
        </p:nvSpPr>
        <p:spPr>
          <a:xfrm>
            <a:off x="412623" y="4358259"/>
            <a:ext cx="8318754" cy="342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5"/>
              </a:buClr>
              <a:buSzPts val="900"/>
              <a:buFont typeface="Calibri"/>
              <a:buNone/>
            </a:pPr>
            <a:r>
              <a:rPr i="1" lang="en-GB" sz="900">
                <a:solidFill>
                  <a:schemeClr val="accent5"/>
                </a:solidFill>
                <a:latin typeface="Calibri"/>
                <a:ea typeface="Calibri"/>
                <a:cs typeface="Calibri"/>
                <a:sym typeface="Calibri"/>
              </a:rPr>
              <a:t>% with a new ADL limitation at the next interview, all 115,155 pairs; same scale (0–30%) in all four charts. Single-variable AUCs: training period. Descriptive, not causal.</a:t>
            </a:r>
            <a:endParaRPr sz="900">
              <a:solidFill>
                <a:schemeClr val="dk1"/>
              </a:solidFill>
              <a:latin typeface="Calibri"/>
              <a:ea typeface="Calibri"/>
              <a:cs typeface="Calibri"/>
              <a:sym typeface="Calibri"/>
            </a:endParaRPr>
          </a:p>
        </p:txBody>
      </p:sp>
      <p:sp>
        <p:nvSpPr>
          <p:cNvPr id="247" name="Google Shape;247;p24"/>
          <p:cNvSpPr/>
          <p:nvPr/>
        </p:nvSpPr>
        <p:spPr>
          <a:xfrm>
            <a:off x="8230743" y="4762881"/>
            <a:ext cx="500634" cy="205740"/>
          </a:xfrm>
          <a:prstGeom prst="rect">
            <a:avLst/>
          </a:prstGeom>
          <a:noFill/>
          <a:ln>
            <a:noFill/>
          </a:ln>
        </p:spPr>
        <p:txBody>
          <a:bodyPr anchorCtr="0" anchor="t" bIns="34275" lIns="68575" spcFirstLastPara="1" rIns="68575" wrap="square" tIns="34275">
            <a:noAutofit/>
          </a:bodyPr>
          <a:lstStyle/>
          <a:p>
            <a:pPr indent="0" lvl="0" marL="0" marR="0" rtl="0" algn="r">
              <a:spcBef>
                <a:spcPts val="0"/>
              </a:spcBef>
              <a:spcAft>
                <a:spcPts val="0"/>
              </a:spcAft>
              <a:buNone/>
            </a:pPr>
            <a:fld id="{00000000-1234-1234-1234-123412341234}" type="slidenum">
              <a:rPr b="0" lang="en-GB" sz="800">
                <a:solidFill>
                  <a:schemeClr val="accent5"/>
                </a:solidFill>
                <a:latin typeface="Calibri"/>
                <a:ea typeface="Calibri"/>
                <a:cs typeface="Calibri"/>
                <a:sym typeface="Calibri"/>
              </a:rPr>
              <a:t>‹#›</a:t>
            </a:fld>
            <a:endParaRPr sz="800">
              <a:solidFill>
                <a:schemeClr val="accent5"/>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2" name="Shape 252"/>
        <p:cNvGrpSpPr/>
        <p:nvPr/>
      </p:nvGrpSpPr>
      <p:grpSpPr>
        <a:xfrm>
          <a:off x="0" y="0"/>
          <a:ext cx="0" cy="0"/>
          <a:chOff x="0" y="0"/>
          <a:chExt cx="0" cy="0"/>
        </a:xfrm>
      </p:grpSpPr>
      <p:sp>
        <p:nvSpPr>
          <p:cNvPr id="253" name="Google Shape;253;p25"/>
          <p:cNvSpPr txBox="1"/>
          <p:nvPr>
            <p:ph type="title"/>
          </p:nvPr>
        </p:nvSpPr>
        <p:spPr>
          <a:xfrm>
            <a:off x="411480" y="240030"/>
            <a:ext cx="7063740" cy="65151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2100"/>
              <a:buFont typeface="Cambria"/>
              <a:buNone/>
            </a:pPr>
            <a:r>
              <a:rPr b="1" lang="en-GB" sz="2100">
                <a:solidFill>
                  <a:schemeClr val="dk2"/>
                </a:solidFill>
              </a:rPr>
              <a:t>Feature Selection: Five nested feature sets show what each block adds</a:t>
            </a:r>
            <a:endParaRPr sz="2100"/>
          </a:p>
        </p:txBody>
      </p:sp>
      <p:sp>
        <p:nvSpPr>
          <p:cNvPr id="254" name="Google Shape;254;p25"/>
          <p:cNvSpPr/>
          <p:nvPr/>
        </p:nvSpPr>
        <p:spPr>
          <a:xfrm>
            <a:off x="411480" y="994410"/>
            <a:ext cx="582930" cy="582930"/>
          </a:xfrm>
          <a:prstGeom prst="ellipse">
            <a:avLst/>
          </a:prstGeom>
          <a:solidFill>
            <a:schemeClr val="accent1"/>
          </a:solidFill>
          <a:ln cap="flat" cmpd="sng" w="9525">
            <a:solidFill>
              <a:schemeClr val="accent1"/>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55" name="Google Shape;255;p25"/>
          <p:cNvSpPr txBox="1"/>
          <p:nvPr/>
        </p:nvSpPr>
        <p:spPr>
          <a:xfrm>
            <a:off x="411480" y="994410"/>
            <a:ext cx="582930" cy="58293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800"/>
              <a:buFont typeface="Calibri"/>
              <a:buNone/>
            </a:pPr>
            <a:r>
              <a:rPr b="1" lang="en-GB" sz="1800">
                <a:solidFill>
                  <a:schemeClr val="lt1"/>
                </a:solidFill>
                <a:latin typeface="Calibri"/>
                <a:ea typeface="Calibri"/>
                <a:cs typeface="Calibri"/>
                <a:sym typeface="Calibri"/>
              </a:rPr>
              <a:t>A</a:t>
            </a:r>
            <a:endParaRPr sz="1800">
              <a:solidFill>
                <a:schemeClr val="dk1"/>
              </a:solidFill>
              <a:latin typeface="Calibri"/>
              <a:ea typeface="Calibri"/>
              <a:cs typeface="Calibri"/>
              <a:sym typeface="Calibri"/>
            </a:endParaRPr>
          </a:p>
        </p:txBody>
      </p:sp>
      <p:sp>
        <p:nvSpPr>
          <p:cNvPr id="256" name="Google Shape;256;p25"/>
          <p:cNvSpPr txBox="1"/>
          <p:nvPr/>
        </p:nvSpPr>
        <p:spPr>
          <a:xfrm>
            <a:off x="1131570" y="960120"/>
            <a:ext cx="3703320" cy="65151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100"/>
              <a:buFont typeface="Calibri"/>
              <a:buNone/>
            </a:pPr>
            <a:r>
              <a:rPr b="1" lang="en-GB" sz="1100">
                <a:solidFill>
                  <a:schemeClr val="dk2"/>
                </a:solidFill>
                <a:latin typeface="Calibri"/>
                <a:ea typeface="Calibri"/>
                <a:cs typeface="Calibri"/>
                <a:sym typeface="Calibri"/>
              </a:rPr>
              <a:t>Health core · 5 variables</a:t>
            </a:r>
            <a:endParaRPr sz="1200">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000"/>
              <a:buFont typeface="Calibri"/>
              <a:buNone/>
            </a:pPr>
            <a:r>
              <a:rPr lang="en-GB" sz="1000">
                <a:solidFill>
                  <a:schemeClr val="dk1"/>
                </a:solidFill>
                <a:latin typeface="Calibri"/>
                <a:ea typeface="Calibri"/>
                <a:cs typeface="Calibri"/>
                <a:sym typeface="Calibri"/>
              </a:rPr>
              <a:t>age, sex, self-rated health, chronic diseases, grip strength</a:t>
            </a:r>
            <a:endParaRPr sz="1200">
              <a:solidFill>
                <a:schemeClr val="dk1"/>
              </a:solidFill>
              <a:latin typeface="Calibri"/>
              <a:ea typeface="Calibri"/>
              <a:cs typeface="Calibri"/>
              <a:sym typeface="Calibri"/>
            </a:endParaRPr>
          </a:p>
        </p:txBody>
      </p:sp>
      <p:sp>
        <p:nvSpPr>
          <p:cNvPr id="257" name="Google Shape;257;p25"/>
          <p:cNvSpPr/>
          <p:nvPr/>
        </p:nvSpPr>
        <p:spPr>
          <a:xfrm>
            <a:off x="411480" y="1714500"/>
            <a:ext cx="582930" cy="582930"/>
          </a:xfrm>
          <a:prstGeom prst="ellipse">
            <a:avLst/>
          </a:prstGeom>
          <a:solidFill>
            <a:schemeClr val="accent1"/>
          </a:solidFill>
          <a:ln cap="flat" cmpd="sng" w="9525">
            <a:solidFill>
              <a:schemeClr val="accent1"/>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58" name="Google Shape;258;p25"/>
          <p:cNvSpPr txBox="1"/>
          <p:nvPr/>
        </p:nvSpPr>
        <p:spPr>
          <a:xfrm>
            <a:off x="411480" y="1714500"/>
            <a:ext cx="582930" cy="58293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800"/>
              <a:buFont typeface="Calibri"/>
              <a:buNone/>
            </a:pPr>
            <a:r>
              <a:rPr b="1" lang="en-GB" sz="1800">
                <a:solidFill>
                  <a:schemeClr val="lt1"/>
                </a:solidFill>
                <a:latin typeface="Calibri"/>
                <a:ea typeface="Calibri"/>
                <a:cs typeface="Calibri"/>
                <a:sym typeface="Calibri"/>
              </a:rPr>
              <a:t>B</a:t>
            </a:r>
            <a:endParaRPr sz="1800">
              <a:solidFill>
                <a:schemeClr val="dk1"/>
              </a:solidFill>
              <a:latin typeface="Calibri"/>
              <a:ea typeface="Calibri"/>
              <a:cs typeface="Calibri"/>
              <a:sym typeface="Calibri"/>
            </a:endParaRPr>
          </a:p>
        </p:txBody>
      </p:sp>
      <p:sp>
        <p:nvSpPr>
          <p:cNvPr id="259" name="Google Shape;259;p25"/>
          <p:cNvSpPr txBox="1"/>
          <p:nvPr/>
        </p:nvSpPr>
        <p:spPr>
          <a:xfrm>
            <a:off x="1131570" y="1680210"/>
            <a:ext cx="3703320" cy="65151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100"/>
              <a:buFont typeface="Calibri"/>
              <a:buNone/>
            </a:pPr>
            <a:r>
              <a:rPr b="1" lang="en-GB" sz="1100">
                <a:solidFill>
                  <a:schemeClr val="dk2"/>
                </a:solidFill>
                <a:latin typeface="Calibri"/>
                <a:ea typeface="Calibri"/>
                <a:cs typeface="Calibri"/>
                <a:sym typeface="Calibri"/>
              </a:rPr>
              <a:t>Original project · 9 variables (reference)</a:t>
            </a:r>
            <a:endParaRPr sz="1200">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000"/>
              <a:buFont typeface="Calibri"/>
              <a:buNone/>
            </a:pPr>
            <a:r>
              <a:rPr lang="en-GB" sz="1000">
                <a:solidFill>
                  <a:schemeClr val="dk1"/>
                </a:solidFill>
                <a:latin typeface="Calibri"/>
                <a:ea typeface="Calibri"/>
                <a:cs typeface="Calibri"/>
                <a:sym typeface="Calibri"/>
              </a:rPr>
              <a:t>+ depression (EURO-D), BMI, income, immediate recall</a:t>
            </a:r>
            <a:endParaRPr sz="1200">
              <a:solidFill>
                <a:schemeClr val="dk1"/>
              </a:solidFill>
              <a:latin typeface="Calibri"/>
              <a:ea typeface="Calibri"/>
              <a:cs typeface="Calibri"/>
              <a:sym typeface="Calibri"/>
            </a:endParaRPr>
          </a:p>
        </p:txBody>
      </p:sp>
      <p:sp>
        <p:nvSpPr>
          <p:cNvPr id="260" name="Google Shape;260;p25"/>
          <p:cNvSpPr/>
          <p:nvPr/>
        </p:nvSpPr>
        <p:spPr>
          <a:xfrm>
            <a:off x="411480" y="2434590"/>
            <a:ext cx="582930" cy="582930"/>
          </a:xfrm>
          <a:prstGeom prst="ellipse">
            <a:avLst/>
          </a:prstGeom>
          <a:solidFill>
            <a:schemeClr val="accent1"/>
          </a:solidFill>
          <a:ln cap="flat" cmpd="sng" w="9525">
            <a:solidFill>
              <a:schemeClr val="accent1"/>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61" name="Google Shape;261;p25"/>
          <p:cNvSpPr txBox="1"/>
          <p:nvPr/>
        </p:nvSpPr>
        <p:spPr>
          <a:xfrm>
            <a:off x="411480" y="2434590"/>
            <a:ext cx="582930" cy="58293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800"/>
              <a:buFont typeface="Calibri"/>
              <a:buNone/>
            </a:pPr>
            <a:r>
              <a:rPr b="1" lang="en-GB" sz="1800">
                <a:solidFill>
                  <a:schemeClr val="lt1"/>
                </a:solidFill>
                <a:latin typeface="Calibri"/>
                <a:ea typeface="Calibri"/>
                <a:cs typeface="Calibri"/>
                <a:sym typeface="Calibri"/>
              </a:rPr>
              <a:t>C</a:t>
            </a:r>
            <a:endParaRPr sz="1800">
              <a:solidFill>
                <a:schemeClr val="dk1"/>
              </a:solidFill>
              <a:latin typeface="Calibri"/>
              <a:ea typeface="Calibri"/>
              <a:cs typeface="Calibri"/>
              <a:sym typeface="Calibri"/>
            </a:endParaRPr>
          </a:p>
        </p:txBody>
      </p:sp>
      <p:sp>
        <p:nvSpPr>
          <p:cNvPr id="262" name="Google Shape;262;p25"/>
          <p:cNvSpPr txBox="1"/>
          <p:nvPr/>
        </p:nvSpPr>
        <p:spPr>
          <a:xfrm>
            <a:off x="1131570" y="2400300"/>
            <a:ext cx="3703320" cy="65151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100"/>
              <a:buFont typeface="Calibri"/>
              <a:buNone/>
            </a:pPr>
            <a:r>
              <a:rPr b="1" lang="en-GB" sz="1100">
                <a:solidFill>
                  <a:schemeClr val="dk2"/>
                </a:solidFill>
                <a:latin typeface="Calibri"/>
                <a:ea typeface="Calibri"/>
                <a:cs typeface="Calibri"/>
                <a:sym typeface="Calibri"/>
              </a:rPr>
              <a:t>+ Social and lifestyle context · 20 variables</a:t>
            </a:r>
            <a:endParaRPr sz="1200">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000"/>
              <a:buFont typeface="Calibri"/>
              <a:buNone/>
            </a:pPr>
            <a:r>
              <a:rPr lang="en-GB" sz="1000">
                <a:solidFill>
                  <a:schemeClr val="dk1"/>
                </a:solidFill>
                <a:latin typeface="Calibri"/>
                <a:ea typeface="Calibri"/>
                <a:cs typeface="Calibri"/>
                <a:sym typeface="Calibri"/>
              </a:rPr>
              <a:t>+ quality of life, delayed recall, activity, help, household, education, doctor visits, hospital stay, country</a:t>
            </a:r>
            <a:endParaRPr sz="1200">
              <a:solidFill>
                <a:schemeClr val="dk1"/>
              </a:solidFill>
              <a:latin typeface="Calibri"/>
              <a:ea typeface="Calibri"/>
              <a:cs typeface="Calibri"/>
              <a:sym typeface="Calibri"/>
            </a:endParaRPr>
          </a:p>
        </p:txBody>
      </p:sp>
      <p:sp>
        <p:nvSpPr>
          <p:cNvPr id="263" name="Google Shape;263;p25"/>
          <p:cNvSpPr/>
          <p:nvPr/>
        </p:nvSpPr>
        <p:spPr>
          <a:xfrm>
            <a:off x="411480" y="3154680"/>
            <a:ext cx="582930" cy="582930"/>
          </a:xfrm>
          <a:prstGeom prst="ellipse">
            <a:avLst/>
          </a:prstGeom>
          <a:solidFill>
            <a:schemeClr val="accent2"/>
          </a:solidFill>
          <a:ln cap="flat" cmpd="sng" w="9525">
            <a:solidFill>
              <a:schemeClr val="accent2"/>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64" name="Google Shape;264;p25"/>
          <p:cNvSpPr txBox="1"/>
          <p:nvPr/>
        </p:nvSpPr>
        <p:spPr>
          <a:xfrm>
            <a:off x="411480" y="3154680"/>
            <a:ext cx="582930" cy="58293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800"/>
              <a:buFont typeface="Calibri"/>
              <a:buNone/>
            </a:pPr>
            <a:r>
              <a:rPr b="1" lang="en-GB" sz="1800">
                <a:solidFill>
                  <a:schemeClr val="lt1"/>
                </a:solidFill>
                <a:latin typeface="Calibri"/>
                <a:ea typeface="Calibri"/>
                <a:cs typeface="Calibri"/>
                <a:sym typeface="Calibri"/>
              </a:rPr>
              <a:t>D</a:t>
            </a:r>
            <a:endParaRPr sz="1800">
              <a:solidFill>
                <a:schemeClr val="dk1"/>
              </a:solidFill>
              <a:latin typeface="Calibri"/>
              <a:ea typeface="Calibri"/>
              <a:cs typeface="Calibri"/>
              <a:sym typeface="Calibri"/>
            </a:endParaRPr>
          </a:p>
        </p:txBody>
      </p:sp>
      <p:sp>
        <p:nvSpPr>
          <p:cNvPr id="265" name="Google Shape;265;p25"/>
          <p:cNvSpPr txBox="1"/>
          <p:nvPr/>
        </p:nvSpPr>
        <p:spPr>
          <a:xfrm>
            <a:off x="1131570" y="3120390"/>
            <a:ext cx="3703320" cy="65151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100"/>
              <a:buFont typeface="Calibri"/>
              <a:buNone/>
            </a:pPr>
            <a:r>
              <a:rPr b="1" lang="en-GB" sz="1100">
                <a:solidFill>
                  <a:schemeClr val="dk2"/>
                </a:solidFill>
                <a:latin typeface="Calibri"/>
                <a:ea typeface="Calibri"/>
                <a:cs typeface="Calibri"/>
                <a:sym typeface="Calibri"/>
              </a:rPr>
              <a:t>+ Early functional difficulties · 23 variables (final)</a:t>
            </a:r>
            <a:endParaRPr sz="1200">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000"/>
              <a:buFont typeface="Calibri"/>
              <a:buNone/>
            </a:pPr>
            <a:r>
              <a:rPr lang="en-GB" sz="1000">
                <a:solidFill>
                  <a:schemeClr val="dk1"/>
                </a:solidFill>
                <a:latin typeface="Calibri"/>
                <a:ea typeface="Calibri"/>
                <a:cs typeface="Calibri"/>
                <a:sym typeface="Calibri"/>
              </a:rPr>
              <a:t>+ mobility, large-muscle and IADL difficulty indices</a:t>
            </a:r>
            <a:endParaRPr sz="1200">
              <a:solidFill>
                <a:schemeClr val="dk1"/>
              </a:solidFill>
              <a:latin typeface="Calibri"/>
              <a:ea typeface="Calibri"/>
              <a:cs typeface="Calibri"/>
              <a:sym typeface="Calibri"/>
            </a:endParaRPr>
          </a:p>
        </p:txBody>
      </p:sp>
      <p:sp>
        <p:nvSpPr>
          <p:cNvPr id="266" name="Google Shape;266;p25"/>
          <p:cNvSpPr/>
          <p:nvPr/>
        </p:nvSpPr>
        <p:spPr>
          <a:xfrm>
            <a:off x="411480" y="3874770"/>
            <a:ext cx="582930" cy="582930"/>
          </a:xfrm>
          <a:prstGeom prst="ellipse">
            <a:avLst/>
          </a:prstGeom>
          <a:solidFill>
            <a:schemeClr val="accent1"/>
          </a:solidFill>
          <a:ln cap="flat" cmpd="sng" w="9525">
            <a:solidFill>
              <a:schemeClr val="accent1"/>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67" name="Google Shape;267;p25"/>
          <p:cNvSpPr txBox="1"/>
          <p:nvPr/>
        </p:nvSpPr>
        <p:spPr>
          <a:xfrm>
            <a:off x="411480" y="3874770"/>
            <a:ext cx="582930" cy="58293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lang="en-GB" sz="1200">
                <a:solidFill>
                  <a:schemeClr val="lt1"/>
                </a:solidFill>
                <a:latin typeface="Calibri"/>
                <a:ea typeface="Calibri"/>
                <a:cs typeface="Calibri"/>
                <a:sym typeface="Calibri"/>
              </a:rPr>
              <a:t>D+T</a:t>
            </a:r>
            <a:endParaRPr sz="1200">
              <a:solidFill>
                <a:schemeClr val="dk1"/>
              </a:solidFill>
              <a:latin typeface="Calibri"/>
              <a:ea typeface="Calibri"/>
              <a:cs typeface="Calibri"/>
              <a:sym typeface="Calibri"/>
            </a:endParaRPr>
          </a:p>
        </p:txBody>
      </p:sp>
      <p:sp>
        <p:nvSpPr>
          <p:cNvPr id="268" name="Google Shape;268;p25"/>
          <p:cNvSpPr txBox="1"/>
          <p:nvPr/>
        </p:nvSpPr>
        <p:spPr>
          <a:xfrm>
            <a:off x="1131570" y="3840480"/>
            <a:ext cx="3703320" cy="65151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100"/>
              <a:buFont typeface="Calibri"/>
              <a:buNone/>
            </a:pPr>
            <a:r>
              <a:rPr b="1" lang="en-GB" sz="1100">
                <a:solidFill>
                  <a:schemeClr val="dk2"/>
                </a:solidFill>
                <a:latin typeface="Calibri"/>
                <a:ea typeface="Calibri"/>
                <a:cs typeface="Calibri"/>
                <a:sym typeface="Calibri"/>
              </a:rPr>
              <a:t>+ Trend · 31 variables</a:t>
            </a:r>
            <a:endParaRPr sz="1200">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000"/>
              <a:buFont typeface="Calibri"/>
              <a:buNone/>
            </a:pPr>
            <a:r>
              <a:rPr lang="en-GB" sz="1000">
                <a:solidFill>
                  <a:schemeClr val="dk1"/>
                </a:solidFill>
                <a:latin typeface="Calibri"/>
                <a:ea typeface="Calibri"/>
                <a:cs typeface="Calibri"/>
                <a:sym typeface="Calibri"/>
              </a:rPr>
              <a:t>+ change in 8 variables since the previous wave</a:t>
            </a:r>
            <a:endParaRPr sz="1200">
              <a:solidFill>
                <a:schemeClr val="dk1"/>
              </a:solidFill>
              <a:latin typeface="Calibri"/>
              <a:ea typeface="Calibri"/>
              <a:cs typeface="Calibri"/>
              <a:sym typeface="Calibri"/>
            </a:endParaRPr>
          </a:p>
        </p:txBody>
      </p:sp>
      <p:pic>
        <p:nvPicPr>
          <p:cNvPr id="269" name="Google Shape;269;p25"/>
          <p:cNvPicPr preferRelativeResize="0"/>
          <p:nvPr/>
        </p:nvPicPr>
        <p:blipFill rotWithShape="1">
          <a:blip r:embed="rId3">
            <a:alphaModFix/>
          </a:blip>
          <a:srcRect b="0" l="0" r="0" t="0"/>
          <a:stretch/>
        </p:blipFill>
        <p:spPr>
          <a:xfrm>
            <a:off x="5006340" y="994410"/>
            <a:ext cx="3723894" cy="3257550"/>
          </a:xfrm>
          <a:prstGeom prst="rect">
            <a:avLst/>
          </a:prstGeom>
          <a:noFill/>
          <a:ln>
            <a:noFill/>
          </a:ln>
        </p:spPr>
      </p:pic>
      <p:sp>
        <p:nvSpPr>
          <p:cNvPr id="270" name="Google Shape;270;p25"/>
          <p:cNvSpPr txBox="1"/>
          <p:nvPr/>
        </p:nvSpPr>
        <p:spPr>
          <a:xfrm>
            <a:off x="5006340" y="4286250"/>
            <a:ext cx="3723894" cy="4800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5"/>
              </a:buClr>
              <a:buSzPts val="900"/>
              <a:buFont typeface="Calibri"/>
              <a:buNone/>
            </a:pPr>
            <a:r>
              <a:rPr i="1" lang="en-GB" sz="900">
                <a:solidFill>
                  <a:schemeClr val="accent5"/>
                </a:solidFill>
                <a:latin typeface="Calibri"/>
                <a:ea typeface="Calibri"/>
                <a:cs typeface="Calibri"/>
                <a:sym typeface="Calibri"/>
              </a:rPr>
              <a:t>Axis starts at 0.70; same model and test period in every bar. Set E (12 variables chosen only by single-variable AUC): 0.750, no better than B.</a:t>
            </a:r>
            <a:endParaRPr sz="900">
              <a:solidFill>
                <a:schemeClr val="dk1"/>
              </a:solidFill>
              <a:latin typeface="Calibri"/>
              <a:ea typeface="Calibri"/>
              <a:cs typeface="Calibri"/>
              <a:sym typeface="Calibri"/>
            </a:endParaRPr>
          </a:p>
        </p:txBody>
      </p:sp>
      <p:sp>
        <p:nvSpPr>
          <p:cNvPr id="271" name="Google Shape;271;p25"/>
          <p:cNvSpPr txBox="1"/>
          <p:nvPr>
            <p:ph idx="4294967295" type="sldNum"/>
          </p:nvPr>
        </p:nvSpPr>
        <p:spPr>
          <a:xfrm>
            <a:off x="8229600" y="4828032"/>
            <a:ext cx="500634" cy="205740"/>
          </a:xfrm>
          <a:prstGeom prst="rect">
            <a:avLst/>
          </a:prstGeom>
          <a:noFill/>
          <a:ln>
            <a:noFill/>
          </a:ln>
        </p:spPr>
        <p:txBody>
          <a:bodyPr anchorCtr="0" anchor="t" bIns="34275" lIns="68575" spcFirstLastPara="1" rIns="68575" wrap="square" tIns="34275">
            <a:noAutofit/>
          </a:bodyPr>
          <a:lstStyle/>
          <a:p>
            <a:pPr indent="0" lvl="0" marL="0" marR="0" rtl="0" algn="r">
              <a:spcBef>
                <a:spcPts val="0"/>
              </a:spcBef>
              <a:spcAft>
                <a:spcPts val="0"/>
              </a:spcAft>
              <a:buNone/>
            </a:pPr>
            <a:fld id="{00000000-1234-1234-1234-123412341234}" type="slidenum">
              <a:rPr b="0" lang="en-GB" sz="800">
                <a:solidFill>
                  <a:schemeClr val="accent5"/>
                </a:solidFill>
                <a:latin typeface="Calibri"/>
                <a:ea typeface="Calibri"/>
                <a:cs typeface="Calibri"/>
                <a:sym typeface="Calibri"/>
              </a:rPr>
              <a:t>‹#›</a:t>
            </a:fld>
            <a:endParaRPr sz="800">
              <a:solidFill>
                <a:schemeClr val="accent5"/>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26"/>
          <p:cNvSpPr txBox="1"/>
          <p:nvPr>
            <p:ph type="title"/>
          </p:nvPr>
        </p:nvSpPr>
        <p:spPr>
          <a:xfrm>
            <a:off x="411480" y="240030"/>
            <a:ext cx="7063740" cy="65151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2100"/>
              <a:buFont typeface="Cambria"/>
              <a:buNone/>
            </a:pPr>
            <a:r>
              <a:rPr b="1" lang="en-GB" sz="2100">
                <a:solidFill>
                  <a:schemeClr val="dk2"/>
                </a:solidFill>
              </a:rPr>
              <a:t>Fe</a:t>
            </a:r>
            <a:r>
              <a:rPr lang="en-GB"/>
              <a:t>a</a:t>
            </a:r>
            <a:r>
              <a:rPr b="1" lang="en-GB" sz="2100">
                <a:solidFill>
                  <a:schemeClr val="dk2"/>
                </a:solidFill>
              </a:rPr>
              <a:t>ture Selection: Mild functional difficulties are the strongest early warning</a:t>
            </a:r>
            <a:endParaRPr sz="2100"/>
          </a:p>
        </p:txBody>
      </p:sp>
      <p:pic>
        <p:nvPicPr>
          <p:cNvPr id="278" name="Google Shape;278;p26"/>
          <p:cNvPicPr preferRelativeResize="0"/>
          <p:nvPr/>
        </p:nvPicPr>
        <p:blipFill rotWithShape="1">
          <a:blip r:embed="rId3">
            <a:alphaModFix/>
          </a:blip>
          <a:srcRect b="0" l="0" r="0" t="0"/>
          <a:stretch/>
        </p:blipFill>
        <p:spPr>
          <a:xfrm>
            <a:off x="411480" y="994410"/>
            <a:ext cx="5212080" cy="3326130"/>
          </a:xfrm>
          <a:prstGeom prst="rect">
            <a:avLst/>
          </a:prstGeom>
          <a:noFill/>
          <a:ln>
            <a:noFill/>
          </a:ln>
        </p:spPr>
      </p:pic>
      <p:sp>
        <p:nvSpPr>
          <p:cNvPr id="279" name="Google Shape;279;p26"/>
          <p:cNvSpPr/>
          <p:nvPr/>
        </p:nvSpPr>
        <p:spPr>
          <a:xfrm>
            <a:off x="5897880" y="994410"/>
            <a:ext cx="2832354" cy="1062990"/>
          </a:xfrm>
          <a:prstGeom prst="roundRect">
            <a:avLst>
              <a:gd fmla="val 7742" name="adj"/>
            </a:avLst>
          </a:prstGeom>
          <a:solidFill>
            <a:schemeClr val="lt2"/>
          </a:solidFill>
          <a:ln cap="flat" cmpd="sng" w="9525">
            <a:solidFill>
              <a:schemeClr val="lt2"/>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80" name="Google Shape;280;p26"/>
          <p:cNvSpPr txBox="1"/>
          <p:nvPr/>
        </p:nvSpPr>
        <p:spPr>
          <a:xfrm>
            <a:off x="6069330" y="1117854"/>
            <a:ext cx="2489454" cy="51435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2"/>
              </a:buClr>
              <a:buSzPts val="2100"/>
              <a:buFont typeface="Calibri"/>
              <a:buNone/>
            </a:pPr>
            <a:r>
              <a:rPr b="1" lang="en-GB" sz="2100">
                <a:solidFill>
                  <a:schemeClr val="accent2"/>
                </a:solidFill>
                <a:latin typeface="Calibri"/>
                <a:ea typeface="Calibri"/>
                <a:cs typeface="Calibri"/>
                <a:sym typeface="Calibri"/>
              </a:rPr>
              <a:t>+0.021 AUC</a:t>
            </a:r>
            <a:endParaRPr sz="2100">
              <a:solidFill>
                <a:schemeClr val="dk1"/>
              </a:solidFill>
              <a:latin typeface="Calibri"/>
              <a:ea typeface="Calibri"/>
              <a:cs typeface="Calibri"/>
              <a:sym typeface="Calibri"/>
            </a:endParaRPr>
          </a:p>
        </p:txBody>
      </p:sp>
      <p:sp>
        <p:nvSpPr>
          <p:cNvPr id="281" name="Google Shape;281;p26"/>
          <p:cNvSpPr txBox="1"/>
          <p:nvPr/>
        </p:nvSpPr>
        <p:spPr>
          <a:xfrm>
            <a:off x="6069330" y="1645920"/>
            <a:ext cx="2489454" cy="342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from the three indices alone (LR set C 0.763 → set D 0.784)</a:t>
            </a:r>
            <a:endParaRPr sz="1100">
              <a:solidFill>
                <a:schemeClr val="dk1"/>
              </a:solidFill>
              <a:latin typeface="Calibri"/>
              <a:ea typeface="Calibri"/>
              <a:cs typeface="Calibri"/>
              <a:sym typeface="Calibri"/>
            </a:endParaRPr>
          </a:p>
        </p:txBody>
      </p:sp>
      <p:sp>
        <p:nvSpPr>
          <p:cNvPr id="282" name="Google Shape;282;p26"/>
          <p:cNvSpPr/>
          <p:nvPr/>
        </p:nvSpPr>
        <p:spPr>
          <a:xfrm>
            <a:off x="5897880" y="2125980"/>
            <a:ext cx="2832354" cy="1062990"/>
          </a:xfrm>
          <a:prstGeom prst="roundRect">
            <a:avLst>
              <a:gd fmla="val 7742" name="adj"/>
            </a:avLst>
          </a:prstGeom>
          <a:solidFill>
            <a:schemeClr val="lt2"/>
          </a:solidFill>
          <a:ln cap="flat" cmpd="sng" w="9525">
            <a:solidFill>
              <a:schemeClr val="lt2"/>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83" name="Google Shape;283;p26"/>
          <p:cNvSpPr txBox="1"/>
          <p:nvPr/>
        </p:nvSpPr>
        <p:spPr>
          <a:xfrm>
            <a:off x="6069330" y="2249424"/>
            <a:ext cx="2489454" cy="51435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2100"/>
              <a:buFont typeface="Calibri"/>
              <a:buNone/>
            </a:pPr>
            <a:r>
              <a:rPr b="1" lang="en-GB" sz="2100">
                <a:solidFill>
                  <a:schemeClr val="accent1"/>
                </a:solidFill>
                <a:latin typeface="Calibri"/>
                <a:ea typeface="Calibri"/>
                <a:cs typeface="Calibri"/>
                <a:sym typeface="Calibri"/>
              </a:rPr>
              <a:t>0.750 → 0.784</a:t>
            </a:r>
            <a:endParaRPr sz="2100">
              <a:solidFill>
                <a:schemeClr val="dk1"/>
              </a:solidFill>
              <a:latin typeface="Calibri"/>
              <a:ea typeface="Calibri"/>
              <a:cs typeface="Calibri"/>
              <a:sym typeface="Calibri"/>
            </a:endParaRPr>
          </a:p>
        </p:txBody>
      </p:sp>
      <p:sp>
        <p:nvSpPr>
          <p:cNvPr id="284" name="Google Shape;284;p26"/>
          <p:cNvSpPr txBox="1"/>
          <p:nvPr/>
        </p:nvSpPr>
        <p:spPr>
          <a:xfrm>
            <a:off x="6069330" y="2777490"/>
            <a:ext cx="2489454" cy="342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vs the original 9 variables: +0.033 (95% CI +0.029 to +0.037)</a:t>
            </a:r>
            <a:endParaRPr sz="1100">
              <a:solidFill>
                <a:schemeClr val="dk1"/>
              </a:solidFill>
              <a:latin typeface="Calibri"/>
              <a:ea typeface="Calibri"/>
              <a:cs typeface="Calibri"/>
              <a:sym typeface="Calibri"/>
            </a:endParaRPr>
          </a:p>
        </p:txBody>
      </p:sp>
      <p:sp>
        <p:nvSpPr>
          <p:cNvPr id="285" name="Google Shape;285;p26"/>
          <p:cNvSpPr/>
          <p:nvPr/>
        </p:nvSpPr>
        <p:spPr>
          <a:xfrm>
            <a:off x="5897880" y="3257550"/>
            <a:ext cx="2832354" cy="1062990"/>
          </a:xfrm>
          <a:prstGeom prst="roundRect">
            <a:avLst>
              <a:gd fmla="val 7742" name="adj"/>
            </a:avLst>
          </a:prstGeom>
          <a:solidFill>
            <a:schemeClr val="lt2"/>
          </a:solidFill>
          <a:ln cap="flat" cmpd="sng" w="9525">
            <a:solidFill>
              <a:schemeClr val="lt2"/>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86" name="Google Shape;286;p26"/>
          <p:cNvSpPr txBox="1"/>
          <p:nvPr/>
        </p:nvSpPr>
        <p:spPr>
          <a:xfrm>
            <a:off x="6069330" y="3380994"/>
            <a:ext cx="2489454" cy="51435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2100"/>
              <a:buFont typeface="Calibri"/>
              <a:buNone/>
            </a:pPr>
            <a:r>
              <a:rPr b="1" lang="en-GB" sz="2100">
                <a:solidFill>
                  <a:schemeClr val="accent1"/>
                </a:solidFill>
                <a:latin typeface="Calibri"/>
                <a:ea typeface="Calibri"/>
                <a:cs typeface="Calibri"/>
                <a:sym typeface="Calibri"/>
              </a:rPr>
              <a:t>Not leakage</a:t>
            </a:r>
            <a:endParaRPr sz="2100">
              <a:solidFill>
                <a:schemeClr val="dk1"/>
              </a:solidFill>
              <a:latin typeface="Calibri"/>
              <a:ea typeface="Calibri"/>
              <a:cs typeface="Calibri"/>
              <a:sym typeface="Calibri"/>
            </a:endParaRPr>
          </a:p>
        </p:txBody>
      </p:sp>
      <p:sp>
        <p:nvSpPr>
          <p:cNvPr id="287" name="Google Shape;287;p26"/>
          <p:cNvSpPr txBox="1"/>
          <p:nvPr/>
        </p:nvSpPr>
        <p:spPr>
          <a:xfrm>
            <a:off x="6069330" y="3909060"/>
            <a:ext cx="2489454" cy="342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measured at baseline, when everyone still has ADL = 0</a:t>
            </a:r>
            <a:endParaRPr sz="1100">
              <a:solidFill>
                <a:schemeClr val="dk1"/>
              </a:solidFill>
              <a:latin typeface="Calibri"/>
              <a:ea typeface="Calibri"/>
              <a:cs typeface="Calibri"/>
              <a:sym typeface="Calibri"/>
            </a:endParaRPr>
          </a:p>
        </p:txBody>
      </p:sp>
      <p:sp>
        <p:nvSpPr>
          <p:cNvPr id="288" name="Google Shape;288;p26"/>
          <p:cNvSpPr txBox="1"/>
          <p:nvPr/>
        </p:nvSpPr>
        <p:spPr>
          <a:xfrm>
            <a:off x="411480" y="4375404"/>
            <a:ext cx="8318754"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5"/>
              </a:buClr>
              <a:buSzPts val="900"/>
              <a:buFont typeface="Calibri"/>
              <a:buNone/>
            </a:pPr>
            <a:r>
              <a:rPr i="1" lang="en-GB" sz="900">
                <a:solidFill>
                  <a:schemeClr val="accent5"/>
                </a:solidFill>
                <a:latin typeface="Calibri"/>
                <a:ea typeface="Calibri"/>
                <a:cs typeface="Calibri"/>
                <a:sym typeface="Calibri"/>
              </a:rPr>
              <a:t>Development-period pairs. Mobility: walking 100 m or across a room, climbing stairs. Large muscle: sitting 2 h, rising from a chair, stooping, pushing objects. IADL (e.g. shopping, managing money) is rarer but steeper: 9.0% → 29.4% with one difficulty.</a:t>
            </a:r>
            <a:endParaRPr sz="900">
              <a:solidFill>
                <a:schemeClr val="dk1"/>
              </a:solidFill>
              <a:latin typeface="Calibri"/>
              <a:ea typeface="Calibri"/>
              <a:cs typeface="Calibri"/>
              <a:sym typeface="Calibri"/>
            </a:endParaRPr>
          </a:p>
        </p:txBody>
      </p:sp>
      <p:sp>
        <p:nvSpPr>
          <p:cNvPr id="289" name="Google Shape;289;p26"/>
          <p:cNvSpPr txBox="1"/>
          <p:nvPr>
            <p:ph idx="4294967295" type="sldNum"/>
          </p:nvPr>
        </p:nvSpPr>
        <p:spPr>
          <a:xfrm>
            <a:off x="8229600" y="4828032"/>
            <a:ext cx="500634" cy="205740"/>
          </a:xfrm>
          <a:prstGeom prst="rect">
            <a:avLst/>
          </a:prstGeom>
          <a:noFill/>
          <a:ln>
            <a:noFill/>
          </a:ln>
        </p:spPr>
        <p:txBody>
          <a:bodyPr anchorCtr="0" anchor="t" bIns="34275" lIns="68575" spcFirstLastPara="1" rIns="68575" wrap="square" tIns="34275">
            <a:noAutofit/>
          </a:bodyPr>
          <a:lstStyle/>
          <a:p>
            <a:pPr indent="0" lvl="0" marL="0" marR="0" rtl="0" algn="r">
              <a:spcBef>
                <a:spcPts val="0"/>
              </a:spcBef>
              <a:spcAft>
                <a:spcPts val="0"/>
              </a:spcAft>
              <a:buNone/>
            </a:pPr>
            <a:fld id="{00000000-1234-1234-1234-123412341234}" type="slidenum">
              <a:rPr b="0" lang="en-GB" sz="800">
                <a:solidFill>
                  <a:schemeClr val="accent5"/>
                </a:solidFill>
                <a:latin typeface="Calibri"/>
                <a:ea typeface="Calibri"/>
                <a:cs typeface="Calibri"/>
                <a:sym typeface="Calibri"/>
              </a:rPr>
              <a:t>‹#›</a:t>
            </a:fld>
            <a:endParaRPr sz="800">
              <a:solidFill>
                <a:schemeClr val="accent5"/>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3" name="Shape 293"/>
        <p:cNvGrpSpPr/>
        <p:nvPr/>
      </p:nvGrpSpPr>
      <p:grpSpPr>
        <a:xfrm>
          <a:off x="0" y="0"/>
          <a:ext cx="0" cy="0"/>
          <a:chOff x="0" y="0"/>
          <a:chExt cx="0" cy="0"/>
        </a:xfrm>
      </p:grpSpPr>
      <p:pic>
        <p:nvPicPr>
          <p:cNvPr id="294" name="Google Shape;294;p27"/>
          <p:cNvPicPr preferRelativeResize="0"/>
          <p:nvPr/>
        </p:nvPicPr>
        <p:blipFill rotWithShape="1">
          <a:blip r:embed="rId3">
            <a:alphaModFix/>
          </a:blip>
          <a:srcRect b="0" l="0" r="0" t="0"/>
          <a:stretch/>
        </p:blipFill>
        <p:spPr>
          <a:xfrm>
            <a:off x="2645918" y="853597"/>
            <a:ext cx="5143511" cy="4114808"/>
          </a:xfrm>
          <a:prstGeom prst="rect">
            <a:avLst/>
          </a:prstGeom>
          <a:noFill/>
          <a:ln>
            <a:noFill/>
          </a:ln>
        </p:spPr>
      </p:pic>
      <p:sp>
        <p:nvSpPr>
          <p:cNvPr id="295" name="Google Shape;295;p27"/>
          <p:cNvSpPr txBox="1"/>
          <p:nvPr/>
        </p:nvSpPr>
        <p:spPr>
          <a:xfrm>
            <a:off x="408561" y="255232"/>
            <a:ext cx="5779804" cy="415498"/>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b="1" lang="en-GB" sz="2300">
                <a:solidFill>
                  <a:schemeClr val="dk2"/>
                </a:solidFill>
                <a:latin typeface="Cambria"/>
                <a:ea typeface="Cambria"/>
                <a:cs typeface="Cambria"/>
                <a:sym typeface="Cambria"/>
              </a:rPr>
              <a:t>PCA：predictors are too weakly correlated</a:t>
            </a:r>
            <a:endParaRPr sz="2300">
              <a:solidFill>
                <a:schemeClr val="dk1"/>
              </a:solidFill>
              <a:latin typeface="Cambria"/>
              <a:ea typeface="Cambria"/>
              <a:cs typeface="Cambria"/>
              <a:sym typeface="Cambria"/>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0" name="Shape 300"/>
        <p:cNvGrpSpPr/>
        <p:nvPr/>
      </p:nvGrpSpPr>
      <p:grpSpPr>
        <a:xfrm>
          <a:off x="0" y="0"/>
          <a:ext cx="0" cy="0"/>
          <a:chOff x="0" y="0"/>
          <a:chExt cx="0" cy="0"/>
        </a:xfrm>
      </p:grpSpPr>
      <p:sp>
        <p:nvSpPr>
          <p:cNvPr id="301" name="Google Shape;301;p28"/>
          <p:cNvSpPr txBox="1"/>
          <p:nvPr>
            <p:ph type="title"/>
          </p:nvPr>
        </p:nvSpPr>
        <p:spPr>
          <a:xfrm>
            <a:off x="411480" y="240030"/>
            <a:ext cx="7063740" cy="65151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2100"/>
              <a:buFont typeface="Cambria"/>
              <a:buNone/>
            </a:pPr>
            <a:r>
              <a:rPr b="1" lang="en-GB" sz="2100">
                <a:solidFill>
                  <a:schemeClr val="dk2"/>
                </a:solidFill>
              </a:rPr>
              <a:t>PCA does not help</a:t>
            </a:r>
            <a:endParaRPr sz="2100"/>
          </a:p>
        </p:txBody>
      </p:sp>
      <p:pic>
        <p:nvPicPr>
          <p:cNvPr descr="Scree plot and validation AUC vs k" id="302" name="Google Shape;302;p28"/>
          <p:cNvPicPr preferRelativeResize="0"/>
          <p:nvPr/>
        </p:nvPicPr>
        <p:blipFill rotWithShape="1">
          <a:blip r:embed="rId3">
            <a:alphaModFix/>
          </a:blip>
          <a:srcRect b="0" l="0" r="0" t="0"/>
          <a:stretch/>
        </p:blipFill>
        <p:spPr>
          <a:xfrm>
            <a:off x="411480" y="1119007"/>
            <a:ext cx="5623560" cy="2013947"/>
          </a:xfrm>
          <a:prstGeom prst="rect">
            <a:avLst/>
          </a:prstGeom>
          <a:noFill/>
          <a:ln>
            <a:noFill/>
          </a:ln>
        </p:spPr>
      </p:pic>
      <p:sp>
        <p:nvSpPr>
          <p:cNvPr id="303" name="Google Shape;303;p28"/>
          <p:cNvSpPr txBox="1"/>
          <p:nvPr/>
        </p:nvSpPr>
        <p:spPr>
          <a:xfrm>
            <a:off x="411480" y="3291840"/>
            <a:ext cx="562356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5"/>
              </a:buClr>
              <a:buSzPts val="900"/>
              <a:buFont typeface="Calibri"/>
              <a:buNone/>
            </a:pPr>
            <a:r>
              <a:rPr i="1" lang="en-GB" sz="900">
                <a:solidFill>
                  <a:schemeClr val="accent5"/>
                </a:solidFill>
                <a:latin typeface="Calibri"/>
                <a:ea typeface="Calibri"/>
                <a:cs typeface="Calibri"/>
                <a:sym typeface="Calibri"/>
              </a:rPr>
              <a:t>Set B, 8 standardised numeric predictors. Right: validation AUC of PCA + LR against k; dashed line = LR without PCA.</a:t>
            </a:r>
            <a:endParaRPr sz="900">
              <a:solidFill>
                <a:schemeClr val="dk1"/>
              </a:solidFill>
              <a:latin typeface="Calibri"/>
              <a:ea typeface="Calibri"/>
              <a:cs typeface="Calibri"/>
              <a:sym typeface="Calibri"/>
            </a:endParaRPr>
          </a:p>
        </p:txBody>
      </p:sp>
      <p:sp>
        <p:nvSpPr>
          <p:cNvPr id="304" name="Google Shape;304;p28"/>
          <p:cNvSpPr/>
          <p:nvPr/>
        </p:nvSpPr>
        <p:spPr>
          <a:xfrm>
            <a:off x="411480" y="3634740"/>
            <a:ext cx="1783080" cy="1062990"/>
          </a:xfrm>
          <a:prstGeom prst="roundRect">
            <a:avLst>
              <a:gd fmla="val 7742" name="adj"/>
            </a:avLst>
          </a:prstGeom>
          <a:solidFill>
            <a:schemeClr val="lt2"/>
          </a:solidFill>
          <a:ln cap="flat" cmpd="sng" w="9525">
            <a:solidFill>
              <a:schemeClr val="lt2"/>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05" name="Google Shape;305;p28"/>
          <p:cNvSpPr txBox="1"/>
          <p:nvPr/>
        </p:nvSpPr>
        <p:spPr>
          <a:xfrm>
            <a:off x="582930" y="3758184"/>
            <a:ext cx="1440180" cy="51435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2100"/>
              <a:buFont typeface="Calibri"/>
              <a:buNone/>
            </a:pPr>
            <a:r>
              <a:rPr b="1" lang="en-GB" sz="2100">
                <a:solidFill>
                  <a:schemeClr val="accent1"/>
                </a:solidFill>
                <a:latin typeface="Calibri"/>
                <a:ea typeface="Calibri"/>
                <a:cs typeface="Calibri"/>
                <a:sym typeface="Calibri"/>
              </a:rPr>
              <a:t>2 of 8</a:t>
            </a:r>
            <a:endParaRPr sz="2100">
              <a:solidFill>
                <a:schemeClr val="dk1"/>
              </a:solidFill>
              <a:latin typeface="Calibri"/>
              <a:ea typeface="Calibri"/>
              <a:cs typeface="Calibri"/>
              <a:sym typeface="Calibri"/>
            </a:endParaRPr>
          </a:p>
        </p:txBody>
      </p:sp>
      <p:sp>
        <p:nvSpPr>
          <p:cNvPr id="306" name="Google Shape;306;p28"/>
          <p:cNvSpPr txBox="1"/>
          <p:nvPr/>
        </p:nvSpPr>
        <p:spPr>
          <a:xfrm>
            <a:off x="582930" y="4286250"/>
            <a:ext cx="1440180" cy="342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000"/>
              <a:buFont typeface="Calibri"/>
              <a:buNone/>
            </a:pPr>
            <a:r>
              <a:rPr lang="en-GB" sz="1000">
                <a:solidFill>
                  <a:schemeClr val="dk1"/>
                </a:solidFill>
                <a:latin typeface="Calibri"/>
                <a:ea typeface="Calibri"/>
                <a:cs typeface="Calibri"/>
                <a:sym typeface="Calibri"/>
              </a:rPr>
              <a:t>eigenvalues above 1 (Kaiser)</a:t>
            </a:r>
            <a:endParaRPr sz="1000">
              <a:solidFill>
                <a:schemeClr val="dk1"/>
              </a:solidFill>
              <a:latin typeface="Calibri"/>
              <a:ea typeface="Calibri"/>
              <a:cs typeface="Calibri"/>
              <a:sym typeface="Calibri"/>
            </a:endParaRPr>
          </a:p>
        </p:txBody>
      </p:sp>
      <p:sp>
        <p:nvSpPr>
          <p:cNvPr id="307" name="Google Shape;307;p28"/>
          <p:cNvSpPr/>
          <p:nvPr/>
        </p:nvSpPr>
        <p:spPr>
          <a:xfrm>
            <a:off x="2331720" y="3634740"/>
            <a:ext cx="1783080" cy="1062990"/>
          </a:xfrm>
          <a:prstGeom prst="roundRect">
            <a:avLst>
              <a:gd fmla="val 7742" name="adj"/>
            </a:avLst>
          </a:prstGeom>
          <a:solidFill>
            <a:schemeClr val="lt2"/>
          </a:solidFill>
          <a:ln cap="flat" cmpd="sng" w="9525">
            <a:solidFill>
              <a:schemeClr val="lt2"/>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08" name="Google Shape;308;p28"/>
          <p:cNvSpPr txBox="1"/>
          <p:nvPr/>
        </p:nvSpPr>
        <p:spPr>
          <a:xfrm>
            <a:off x="2503170" y="3758184"/>
            <a:ext cx="1440180" cy="51435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2100"/>
              <a:buFont typeface="Calibri"/>
              <a:buNone/>
            </a:pPr>
            <a:r>
              <a:rPr b="1" lang="en-GB" sz="2100">
                <a:solidFill>
                  <a:schemeClr val="accent1"/>
                </a:solidFill>
                <a:latin typeface="Calibri"/>
                <a:ea typeface="Calibri"/>
                <a:cs typeface="Calibri"/>
                <a:sym typeface="Calibri"/>
              </a:rPr>
              <a:t>7 of 8</a:t>
            </a:r>
            <a:endParaRPr sz="2100">
              <a:solidFill>
                <a:schemeClr val="dk1"/>
              </a:solidFill>
              <a:latin typeface="Calibri"/>
              <a:ea typeface="Calibri"/>
              <a:cs typeface="Calibri"/>
              <a:sym typeface="Calibri"/>
            </a:endParaRPr>
          </a:p>
        </p:txBody>
      </p:sp>
      <p:sp>
        <p:nvSpPr>
          <p:cNvPr id="309" name="Google Shape;309;p28"/>
          <p:cNvSpPr txBox="1"/>
          <p:nvPr/>
        </p:nvSpPr>
        <p:spPr>
          <a:xfrm>
            <a:off x="2503170" y="4286250"/>
            <a:ext cx="1440180" cy="342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000"/>
              <a:buFont typeface="Calibri"/>
              <a:buNone/>
            </a:pPr>
            <a:r>
              <a:rPr lang="en-GB" sz="1000">
                <a:solidFill>
                  <a:schemeClr val="dk1"/>
                </a:solidFill>
                <a:latin typeface="Calibri"/>
                <a:ea typeface="Calibri"/>
                <a:cs typeface="Calibri"/>
                <a:sym typeface="Calibri"/>
              </a:rPr>
              <a:t>components needed for 90% of the variance</a:t>
            </a:r>
            <a:endParaRPr sz="1000">
              <a:solidFill>
                <a:schemeClr val="dk1"/>
              </a:solidFill>
              <a:latin typeface="Calibri"/>
              <a:ea typeface="Calibri"/>
              <a:cs typeface="Calibri"/>
              <a:sym typeface="Calibri"/>
            </a:endParaRPr>
          </a:p>
        </p:txBody>
      </p:sp>
      <p:sp>
        <p:nvSpPr>
          <p:cNvPr id="310" name="Google Shape;310;p28"/>
          <p:cNvSpPr/>
          <p:nvPr/>
        </p:nvSpPr>
        <p:spPr>
          <a:xfrm>
            <a:off x="4251960" y="3634740"/>
            <a:ext cx="1783080" cy="1062990"/>
          </a:xfrm>
          <a:prstGeom prst="roundRect">
            <a:avLst>
              <a:gd fmla="val 7742" name="adj"/>
            </a:avLst>
          </a:prstGeom>
          <a:solidFill>
            <a:schemeClr val="lt2"/>
          </a:solidFill>
          <a:ln cap="flat" cmpd="sng" w="9525">
            <a:solidFill>
              <a:schemeClr val="lt2"/>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11" name="Google Shape;311;p28"/>
          <p:cNvSpPr txBox="1"/>
          <p:nvPr/>
        </p:nvSpPr>
        <p:spPr>
          <a:xfrm>
            <a:off x="4423410" y="3758184"/>
            <a:ext cx="1440180" cy="51435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2100"/>
              <a:buFont typeface="Calibri"/>
              <a:buNone/>
            </a:pPr>
            <a:r>
              <a:rPr b="1" lang="en-GB" sz="2100">
                <a:solidFill>
                  <a:schemeClr val="accent1"/>
                </a:solidFill>
                <a:latin typeface="Calibri"/>
                <a:ea typeface="Calibri"/>
                <a:cs typeface="Calibri"/>
                <a:sym typeface="Calibri"/>
              </a:rPr>
              <a:t>k = 8</a:t>
            </a:r>
            <a:endParaRPr sz="2100">
              <a:solidFill>
                <a:schemeClr val="dk1"/>
              </a:solidFill>
              <a:latin typeface="Calibri"/>
              <a:ea typeface="Calibri"/>
              <a:cs typeface="Calibri"/>
              <a:sym typeface="Calibri"/>
            </a:endParaRPr>
          </a:p>
        </p:txBody>
      </p:sp>
      <p:sp>
        <p:nvSpPr>
          <p:cNvPr id="312" name="Google Shape;312;p28"/>
          <p:cNvSpPr txBox="1"/>
          <p:nvPr/>
        </p:nvSpPr>
        <p:spPr>
          <a:xfrm>
            <a:off x="4423410" y="4286250"/>
            <a:ext cx="1440180" cy="342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000"/>
              <a:buFont typeface="Calibri"/>
              <a:buNone/>
            </a:pPr>
            <a:r>
              <a:rPr lang="en-GB" sz="1000">
                <a:solidFill>
                  <a:schemeClr val="dk1"/>
                </a:solidFill>
                <a:latin typeface="Calibri"/>
                <a:ea typeface="Calibri"/>
                <a:cs typeface="Calibri"/>
                <a:sym typeface="Calibri"/>
              </a:rPr>
              <a:t>best k on validation: no compression</a:t>
            </a:r>
            <a:endParaRPr sz="1000">
              <a:solidFill>
                <a:schemeClr val="dk1"/>
              </a:solidFill>
              <a:latin typeface="Calibri"/>
              <a:ea typeface="Calibri"/>
              <a:cs typeface="Calibri"/>
              <a:sym typeface="Calibri"/>
            </a:endParaRPr>
          </a:p>
        </p:txBody>
      </p:sp>
      <p:sp>
        <p:nvSpPr>
          <p:cNvPr id="313" name="Google Shape;313;p28"/>
          <p:cNvSpPr/>
          <p:nvPr/>
        </p:nvSpPr>
        <p:spPr>
          <a:xfrm>
            <a:off x="6240780" y="994410"/>
            <a:ext cx="2489454" cy="3703320"/>
          </a:xfrm>
          <a:prstGeom prst="roundRect">
            <a:avLst>
              <a:gd fmla="val 3306" name="adj"/>
            </a:avLst>
          </a:prstGeom>
          <a:solidFill>
            <a:schemeClr val="lt2"/>
          </a:solidFill>
          <a:ln cap="flat" cmpd="sng" w="9525">
            <a:solidFill>
              <a:schemeClr val="lt2"/>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14" name="Google Shape;314;p28"/>
          <p:cNvSpPr txBox="1"/>
          <p:nvPr/>
        </p:nvSpPr>
        <p:spPr>
          <a:xfrm>
            <a:off x="6377940" y="1097280"/>
            <a:ext cx="2228850" cy="342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1" lang="en-GB" sz="1400">
                <a:solidFill>
                  <a:schemeClr val="dk2"/>
                </a:solidFill>
                <a:latin typeface="Calibri"/>
                <a:ea typeface="Calibri"/>
                <a:cs typeface="Calibri"/>
                <a:sym typeface="Calibri"/>
              </a:rPr>
              <a:t>Same on every feature set</a:t>
            </a:r>
            <a:endParaRPr sz="1400">
              <a:solidFill>
                <a:schemeClr val="dk1"/>
              </a:solidFill>
              <a:latin typeface="Calibri"/>
              <a:ea typeface="Calibri"/>
              <a:cs typeface="Calibri"/>
              <a:sym typeface="Calibri"/>
            </a:endParaRPr>
          </a:p>
        </p:txBody>
      </p:sp>
      <p:sp>
        <p:nvSpPr>
          <p:cNvPr id="315" name="Google Shape;315;p28"/>
          <p:cNvSpPr txBox="1"/>
          <p:nvPr/>
        </p:nvSpPr>
        <p:spPr>
          <a:xfrm>
            <a:off x="6377940" y="1508760"/>
            <a:ext cx="2228850" cy="3086100"/>
          </a:xfrm>
          <a:prstGeom prst="rect">
            <a:avLst/>
          </a:prstGeom>
          <a:noFill/>
          <a:ln>
            <a:noFill/>
          </a:ln>
        </p:spPr>
        <p:txBody>
          <a:bodyPr anchorCtr="0" anchor="t" bIns="0" lIns="0" spcFirstLastPara="1" rIns="0" wrap="square" tIns="0">
            <a:noAutofit/>
          </a:bodyPr>
          <a:lstStyle/>
          <a:p>
            <a:pPr indent="-184150" lvl="0" marL="177800" marR="0" rtl="0" algn="l">
              <a:spcBef>
                <a:spcPts val="0"/>
              </a:spcBef>
              <a:spcAft>
                <a:spcPts val="0"/>
              </a:spcAft>
              <a:buClr>
                <a:schemeClr val="dk1"/>
              </a:buClr>
              <a:buSzPts val="1100"/>
              <a:buFont typeface="Calibri"/>
              <a:buChar char="•"/>
            </a:pPr>
            <a:r>
              <a:rPr lang="en-GB" sz="1100">
                <a:solidFill>
                  <a:schemeClr val="dk1"/>
                </a:solidFill>
                <a:latin typeface="Calibri"/>
                <a:ea typeface="Calibri"/>
                <a:cs typeface="Calibri"/>
                <a:sym typeface="Calibri"/>
              </a:rPr>
              <a:t>Best k ≈ all components: C 12 of 14, D 16 of 17, D+T 24 of 25</a:t>
            </a:r>
            <a:endParaRPr sz="1100">
              <a:solidFill>
                <a:schemeClr val="dk1"/>
              </a:solidFill>
              <a:latin typeface="Calibri"/>
              <a:ea typeface="Calibri"/>
              <a:cs typeface="Calibri"/>
              <a:sym typeface="Calibri"/>
            </a:endParaRPr>
          </a:p>
          <a:p>
            <a:pPr indent="-184150" lvl="0" marL="177800" marR="0" rtl="0" algn="l">
              <a:spcBef>
                <a:spcPts val="800"/>
              </a:spcBef>
              <a:spcAft>
                <a:spcPts val="0"/>
              </a:spcAft>
              <a:buClr>
                <a:schemeClr val="dk1"/>
              </a:buClr>
              <a:buSzPts val="1100"/>
              <a:buFont typeface="Calibri"/>
              <a:buChar char="•"/>
            </a:pPr>
            <a:r>
              <a:rPr lang="en-GB" sz="1100">
                <a:solidFill>
                  <a:schemeClr val="dk1"/>
                </a:solidFill>
                <a:latin typeface="Calibri"/>
                <a:ea typeface="Calibri"/>
                <a:cs typeface="Calibri"/>
                <a:sym typeface="Calibri"/>
              </a:rPr>
              <a:t>Test AUC with PCA is 0.001–0.002 lower on B, C, D and D+T</a:t>
            </a:r>
            <a:endParaRPr sz="1100">
              <a:solidFill>
                <a:schemeClr val="dk1"/>
              </a:solidFill>
              <a:latin typeface="Calibri"/>
              <a:ea typeface="Calibri"/>
              <a:cs typeface="Calibri"/>
              <a:sym typeface="Calibri"/>
            </a:endParaRPr>
          </a:p>
          <a:p>
            <a:pPr indent="-184150" lvl="0" marL="177800" marR="0" rtl="0" algn="l">
              <a:spcBef>
                <a:spcPts val="800"/>
              </a:spcBef>
              <a:spcAft>
                <a:spcPts val="0"/>
              </a:spcAft>
              <a:buClr>
                <a:schemeClr val="dk1"/>
              </a:buClr>
              <a:buSzPts val="1100"/>
              <a:buFont typeface="Calibri"/>
              <a:buChar char="•"/>
            </a:pPr>
            <a:r>
              <a:rPr lang="en-GB" sz="1100">
                <a:solidFill>
                  <a:schemeClr val="dk1"/>
                </a:solidFill>
                <a:latin typeface="Calibri"/>
                <a:ea typeface="Calibri"/>
                <a:cs typeface="Calibri"/>
                <a:sym typeface="Calibri"/>
              </a:rPr>
              <a:t>PCA loses per-variable odds ratios</a:t>
            </a:r>
            <a:endParaRPr sz="1100">
              <a:solidFill>
                <a:schemeClr val="dk1"/>
              </a:solidFill>
              <a:latin typeface="Calibri"/>
              <a:ea typeface="Calibri"/>
              <a:cs typeface="Calibri"/>
              <a:sym typeface="Calibri"/>
            </a:endParaRPr>
          </a:p>
          <a:p>
            <a:pPr indent="-184150" lvl="0" marL="177800" marR="0" rtl="0" algn="l">
              <a:spcBef>
                <a:spcPts val="800"/>
              </a:spcBef>
              <a:spcAft>
                <a:spcPts val="0"/>
              </a:spcAft>
              <a:buClr>
                <a:schemeClr val="dk1"/>
              </a:buClr>
              <a:buSzPts val="1100"/>
              <a:buFont typeface="Calibri"/>
              <a:buChar char="•"/>
            </a:pPr>
            <a:r>
              <a:rPr lang="en-GB" sz="1100">
                <a:solidFill>
                  <a:schemeClr val="dk1"/>
                </a:solidFill>
                <a:latin typeface="Calibri"/>
                <a:ea typeface="Calibri"/>
                <a:cs typeface="Calibri"/>
                <a:sym typeface="Calibri"/>
              </a:rPr>
              <a:t>Own NumPy PCA and Newton–Raphson LR reproduce scikit-learn (same eigenvalues; same test AUC 0.7485)</a:t>
            </a:r>
            <a:endParaRPr sz="1100">
              <a:solidFill>
                <a:schemeClr val="dk1"/>
              </a:solidFill>
              <a:latin typeface="Calibri"/>
              <a:ea typeface="Calibri"/>
              <a:cs typeface="Calibri"/>
              <a:sym typeface="Calibri"/>
            </a:endParaRPr>
          </a:p>
        </p:txBody>
      </p:sp>
      <p:sp>
        <p:nvSpPr>
          <p:cNvPr id="316" name="Google Shape;316;p28"/>
          <p:cNvSpPr txBox="1"/>
          <p:nvPr>
            <p:ph idx="4294967295" type="sldNum"/>
          </p:nvPr>
        </p:nvSpPr>
        <p:spPr>
          <a:xfrm>
            <a:off x="8229600" y="4828032"/>
            <a:ext cx="500634" cy="205740"/>
          </a:xfrm>
          <a:prstGeom prst="rect">
            <a:avLst/>
          </a:prstGeom>
          <a:noFill/>
          <a:ln>
            <a:noFill/>
          </a:ln>
        </p:spPr>
        <p:txBody>
          <a:bodyPr anchorCtr="0" anchor="t" bIns="34275" lIns="68575" spcFirstLastPara="1" rIns="68575" wrap="square" tIns="34275">
            <a:noAutofit/>
          </a:bodyPr>
          <a:lstStyle/>
          <a:p>
            <a:pPr indent="0" lvl="0" marL="0" marR="0" rtl="0" algn="r">
              <a:spcBef>
                <a:spcPts val="0"/>
              </a:spcBef>
              <a:spcAft>
                <a:spcPts val="0"/>
              </a:spcAft>
              <a:buNone/>
            </a:pPr>
            <a:fld id="{00000000-1234-1234-1234-123412341234}" type="slidenum">
              <a:rPr b="0" lang="en-GB" sz="800">
                <a:solidFill>
                  <a:schemeClr val="accent5"/>
                </a:solidFill>
                <a:latin typeface="Calibri"/>
                <a:ea typeface="Calibri"/>
                <a:cs typeface="Calibri"/>
                <a:sym typeface="Calibri"/>
              </a:rPr>
              <a:t>‹#›</a:t>
            </a:fld>
            <a:endParaRPr sz="800">
              <a:solidFill>
                <a:schemeClr val="accent5"/>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1" name="Shape 321"/>
        <p:cNvGrpSpPr/>
        <p:nvPr/>
      </p:nvGrpSpPr>
      <p:grpSpPr>
        <a:xfrm>
          <a:off x="0" y="0"/>
          <a:ext cx="0" cy="0"/>
          <a:chOff x="0" y="0"/>
          <a:chExt cx="0" cy="0"/>
        </a:xfrm>
      </p:grpSpPr>
      <p:sp>
        <p:nvSpPr>
          <p:cNvPr id="322" name="Google Shape;322;p29"/>
          <p:cNvSpPr txBox="1"/>
          <p:nvPr>
            <p:ph type="title"/>
          </p:nvPr>
        </p:nvSpPr>
        <p:spPr>
          <a:xfrm>
            <a:off x="411480" y="240030"/>
            <a:ext cx="7063740" cy="65151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2100"/>
              <a:buFont typeface="Cambria"/>
              <a:buNone/>
            </a:pPr>
            <a:r>
              <a:rPr b="1" lang="en-GB" sz="2100">
                <a:solidFill>
                  <a:schemeClr val="dk2"/>
                </a:solidFill>
                <a:latin typeface="Cambria"/>
                <a:ea typeface="Cambria"/>
                <a:cs typeface="Cambria"/>
                <a:sym typeface="Cambria"/>
              </a:rPr>
              <a:t>Every model had to beat two honest benchmarks</a:t>
            </a:r>
            <a:endParaRPr sz="2100"/>
          </a:p>
        </p:txBody>
      </p:sp>
      <p:sp>
        <p:nvSpPr>
          <p:cNvPr id="323" name="Google Shape;323;p29"/>
          <p:cNvSpPr/>
          <p:nvPr/>
        </p:nvSpPr>
        <p:spPr>
          <a:xfrm>
            <a:off x="411480" y="1062990"/>
            <a:ext cx="3154680" cy="1577340"/>
          </a:xfrm>
          <a:prstGeom prst="roundRect">
            <a:avLst>
              <a:gd fmla="val 3478" name="adj"/>
            </a:avLst>
          </a:prstGeom>
          <a:solidFill>
            <a:srgbClr val="EEF3F3"/>
          </a:solidFill>
          <a:ln cap="flat" cmpd="sng" w="12700">
            <a:solidFill>
              <a:srgbClr val="EEF3F3"/>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24" name="Google Shape;324;p29"/>
          <p:cNvSpPr txBox="1"/>
          <p:nvPr/>
        </p:nvSpPr>
        <p:spPr>
          <a:xfrm>
            <a:off x="582930" y="1165860"/>
            <a:ext cx="28117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2"/>
              </a:buClr>
              <a:buSzPts val="2600"/>
              <a:buFont typeface="Cambria"/>
              <a:buNone/>
            </a:pPr>
            <a:r>
              <a:rPr b="1" lang="en-GB" sz="2600">
                <a:solidFill>
                  <a:schemeClr val="accent2"/>
                </a:solidFill>
                <a:latin typeface="Cambria"/>
                <a:ea typeface="Cambria"/>
                <a:cs typeface="Cambria"/>
                <a:sym typeface="Cambria"/>
              </a:rPr>
              <a:t>90.95%</a:t>
            </a:r>
            <a:endParaRPr sz="2600">
              <a:solidFill>
                <a:schemeClr val="dk1"/>
              </a:solidFill>
              <a:latin typeface="Calibri"/>
              <a:ea typeface="Calibri"/>
              <a:cs typeface="Calibri"/>
              <a:sym typeface="Calibri"/>
            </a:endParaRPr>
          </a:p>
        </p:txBody>
      </p:sp>
      <p:sp>
        <p:nvSpPr>
          <p:cNvPr id="325" name="Google Shape;325;p29"/>
          <p:cNvSpPr txBox="1"/>
          <p:nvPr/>
        </p:nvSpPr>
        <p:spPr>
          <a:xfrm>
            <a:off x="582930" y="1597914"/>
            <a:ext cx="28117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accuracy of predicting “nobody declines”, with 0% recall. Accuracy is misleading at 9% prevalence.</a:t>
            </a:r>
            <a:endParaRPr sz="1100">
              <a:solidFill>
                <a:schemeClr val="dk1"/>
              </a:solidFill>
              <a:latin typeface="Calibri"/>
              <a:ea typeface="Calibri"/>
              <a:cs typeface="Calibri"/>
              <a:sym typeface="Calibri"/>
            </a:endParaRPr>
          </a:p>
        </p:txBody>
      </p:sp>
      <p:sp>
        <p:nvSpPr>
          <p:cNvPr id="326" name="Google Shape;326;p29"/>
          <p:cNvSpPr/>
          <p:nvPr/>
        </p:nvSpPr>
        <p:spPr>
          <a:xfrm>
            <a:off x="411480" y="2811780"/>
            <a:ext cx="3154680" cy="1577340"/>
          </a:xfrm>
          <a:prstGeom prst="roundRect">
            <a:avLst>
              <a:gd fmla="val 3478" name="adj"/>
            </a:avLst>
          </a:prstGeom>
          <a:solidFill>
            <a:srgbClr val="EEF3F3"/>
          </a:solidFill>
          <a:ln cap="flat" cmpd="sng" w="12700">
            <a:solidFill>
              <a:srgbClr val="EEF3F3"/>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27" name="Google Shape;327;p29"/>
          <p:cNvSpPr txBox="1"/>
          <p:nvPr/>
        </p:nvSpPr>
        <p:spPr>
          <a:xfrm>
            <a:off x="582930" y="2914650"/>
            <a:ext cx="28117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2600"/>
              <a:buFont typeface="Cambria"/>
              <a:buNone/>
            </a:pPr>
            <a:r>
              <a:rPr b="1" lang="en-GB" sz="2600">
                <a:solidFill>
                  <a:schemeClr val="accent1"/>
                </a:solidFill>
                <a:latin typeface="Cambria"/>
                <a:ea typeface="Cambria"/>
                <a:cs typeface="Cambria"/>
                <a:sym typeface="Cambria"/>
              </a:rPr>
              <a:t>0.666</a:t>
            </a:r>
            <a:endParaRPr sz="2600">
              <a:solidFill>
                <a:schemeClr val="dk1"/>
              </a:solidFill>
              <a:latin typeface="Calibri"/>
              <a:ea typeface="Calibri"/>
              <a:cs typeface="Calibri"/>
              <a:sym typeface="Calibri"/>
            </a:endParaRPr>
          </a:p>
        </p:txBody>
      </p:sp>
      <p:sp>
        <p:nvSpPr>
          <p:cNvPr id="328" name="Google Shape;328;p29"/>
          <p:cNvSpPr txBox="1"/>
          <p:nvPr/>
        </p:nvSpPr>
        <p:spPr>
          <a:xfrm>
            <a:off x="582930" y="3346704"/>
            <a:ext cx="28117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test AUC of an age-only model (95% CI 0.658–0.675)</a:t>
            </a:r>
            <a:endParaRPr sz="1100">
              <a:solidFill>
                <a:schemeClr val="dk1"/>
              </a:solidFill>
              <a:latin typeface="Calibri"/>
              <a:ea typeface="Calibri"/>
              <a:cs typeface="Calibri"/>
              <a:sym typeface="Calibri"/>
            </a:endParaRPr>
          </a:p>
        </p:txBody>
      </p:sp>
      <p:sp>
        <p:nvSpPr>
          <p:cNvPr id="329" name="Google Shape;329;p29"/>
          <p:cNvSpPr txBox="1"/>
          <p:nvPr/>
        </p:nvSpPr>
        <p:spPr>
          <a:xfrm>
            <a:off x="3909060" y="1062990"/>
            <a:ext cx="4800600" cy="30861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1" lang="en-GB" sz="1400">
                <a:solidFill>
                  <a:schemeClr val="dk2"/>
                </a:solidFill>
                <a:latin typeface="Calibri"/>
                <a:ea typeface="Calibri"/>
                <a:cs typeface="Calibri"/>
                <a:sym typeface="Calibri"/>
              </a:rPr>
              <a:t>Model families compared (15 variants)</a:t>
            </a:r>
            <a:endParaRPr sz="1400">
              <a:solidFill>
                <a:schemeClr val="dk1"/>
              </a:solidFill>
              <a:latin typeface="Calibri"/>
              <a:ea typeface="Calibri"/>
              <a:cs typeface="Calibri"/>
              <a:sym typeface="Calibri"/>
            </a:endParaRPr>
          </a:p>
        </p:txBody>
      </p:sp>
      <p:sp>
        <p:nvSpPr>
          <p:cNvPr id="330" name="Google Shape;330;p29"/>
          <p:cNvSpPr/>
          <p:nvPr/>
        </p:nvSpPr>
        <p:spPr>
          <a:xfrm>
            <a:off x="3909060" y="1474470"/>
            <a:ext cx="2297430" cy="1303020"/>
          </a:xfrm>
          <a:prstGeom prst="roundRect">
            <a:avLst>
              <a:gd fmla="val 6667" name="adj"/>
            </a:avLst>
          </a:prstGeom>
          <a:solidFill>
            <a:srgbClr val="EEF3F3"/>
          </a:solidFill>
          <a:ln cap="flat" cmpd="sng" w="12700">
            <a:solidFill>
              <a:srgbClr val="EEF3F3"/>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31" name="Google Shape;331;p29"/>
          <p:cNvSpPr txBox="1"/>
          <p:nvPr/>
        </p:nvSpPr>
        <p:spPr>
          <a:xfrm>
            <a:off x="4046220" y="1474470"/>
            <a:ext cx="2057400" cy="13030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4572E"/>
              </a:buClr>
              <a:buSzPts val="1200"/>
              <a:buFont typeface="Calibri"/>
              <a:buNone/>
            </a:pPr>
            <a:r>
              <a:rPr b="1" lang="en-GB" sz="1200">
                <a:solidFill>
                  <a:srgbClr val="E4572E"/>
                </a:solidFill>
                <a:latin typeface="Calibri"/>
                <a:ea typeface="Calibri"/>
                <a:cs typeface="Calibri"/>
                <a:sym typeface="Calibri"/>
              </a:rPr>
              <a:t>Logistic regression</a:t>
            </a:r>
            <a:endParaRPr sz="1200">
              <a:solidFill>
                <a:schemeClr val="dk1"/>
              </a:solidFill>
              <a:latin typeface="Calibri"/>
              <a:ea typeface="Calibri"/>
              <a:cs typeface="Calibri"/>
              <a:sym typeface="Calibri"/>
            </a:endParaRPr>
          </a:p>
          <a:p>
            <a:pPr indent="0" lvl="0" marL="0" marR="0" rtl="0" algn="l">
              <a:spcBef>
                <a:spcPts val="0"/>
              </a:spcBef>
              <a:spcAft>
                <a:spcPts val="0"/>
              </a:spcAft>
              <a:buClr>
                <a:srgbClr val="1F2D33"/>
              </a:buClr>
              <a:buSzPts val="1000"/>
              <a:buFont typeface="Calibri"/>
              <a:buNone/>
            </a:pPr>
            <a:r>
              <a:rPr lang="en-GB" sz="1000">
                <a:solidFill>
                  <a:srgbClr val="1F2D33"/>
                </a:solidFill>
                <a:latin typeface="Calibri"/>
                <a:ea typeface="Calibri"/>
                <a:cs typeface="Calibri"/>
                <a:sym typeface="Calibri"/>
              </a:rPr>
              <a:t>with age and BMI splines</a:t>
            </a:r>
            <a:endParaRPr sz="1200">
              <a:solidFill>
                <a:schemeClr val="dk1"/>
              </a:solidFill>
              <a:latin typeface="Calibri"/>
              <a:ea typeface="Calibri"/>
              <a:cs typeface="Calibri"/>
              <a:sym typeface="Calibri"/>
            </a:endParaRPr>
          </a:p>
        </p:txBody>
      </p:sp>
      <p:sp>
        <p:nvSpPr>
          <p:cNvPr id="332" name="Google Shape;332;p29"/>
          <p:cNvSpPr/>
          <p:nvPr/>
        </p:nvSpPr>
        <p:spPr>
          <a:xfrm>
            <a:off x="6343650" y="1474470"/>
            <a:ext cx="2297430" cy="1303020"/>
          </a:xfrm>
          <a:prstGeom prst="roundRect">
            <a:avLst>
              <a:gd fmla="val 6667" name="adj"/>
            </a:avLst>
          </a:prstGeom>
          <a:solidFill>
            <a:srgbClr val="EEF3F3"/>
          </a:solidFill>
          <a:ln cap="flat" cmpd="sng" w="12700">
            <a:solidFill>
              <a:srgbClr val="EEF3F3"/>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33" name="Google Shape;333;p29"/>
          <p:cNvSpPr txBox="1"/>
          <p:nvPr/>
        </p:nvSpPr>
        <p:spPr>
          <a:xfrm>
            <a:off x="6480810" y="1474470"/>
            <a:ext cx="2057400" cy="13030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23B44"/>
              </a:buClr>
              <a:buSzPts val="1200"/>
              <a:buFont typeface="Calibri"/>
              <a:buNone/>
            </a:pPr>
            <a:r>
              <a:rPr b="1" lang="en-GB" sz="1200">
                <a:solidFill>
                  <a:srgbClr val="123B44"/>
                </a:solidFill>
                <a:latin typeface="Calibri"/>
                <a:ea typeface="Calibri"/>
                <a:cs typeface="Calibri"/>
                <a:sym typeface="Calibri"/>
              </a:rPr>
              <a:t>Elastic-net LR</a:t>
            </a:r>
            <a:endParaRPr sz="1200">
              <a:solidFill>
                <a:schemeClr val="dk1"/>
              </a:solidFill>
              <a:latin typeface="Calibri"/>
              <a:ea typeface="Calibri"/>
              <a:cs typeface="Calibri"/>
              <a:sym typeface="Calibri"/>
            </a:endParaRPr>
          </a:p>
          <a:p>
            <a:pPr indent="0" lvl="0" marL="0" marR="0" rtl="0" algn="l">
              <a:spcBef>
                <a:spcPts val="0"/>
              </a:spcBef>
              <a:spcAft>
                <a:spcPts val="0"/>
              </a:spcAft>
              <a:buClr>
                <a:srgbClr val="1F2D33"/>
              </a:buClr>
              <a:buSzPts val="1000"/>
              <a:buFont typeface="Calibri"/>
              <a:buNone/>
            </a:pPr>
            <a:r>
              <a:rPr lang="en-GB" sz="1000">
                <a:solidFill>
                  <a:srgbClr val="1F2D33"/>
                </a:solidFill>
                <a:latin typeface="Calibri"/>
                <a:ea typeface="Calibri"/>
                <a:cs typeface="Calibri"/>
                <a:sym typeface="Calibri"/>
              </a:rPr>
              <a:t>automatic variable selection</a:t>
            </a:r>
            <a:endParaRPr sz="1200">
              <a:solidFill>
                <a:schemeClr val="dk1"/>
              </a:solidFill>
              <a:latin typeface="Calibri"/>
              <a:ea typeface="Calibri"/>
              <a:cs typeface="Calibri"/>
              <a:sym typeface="Calibri"/>
            </a:endParaRPr>
          </a:p>
        </p:txBody>
      </p:sp>
      <p:sp>
        <p:nvSpPr>
          <p:cNvPr id="334" name="Google Shape;334;p29"/>
          <p:cNvSpPr/>
          <p:nvPr/>
        </p:nvSpPr>
        <p:spPr>
          <a:xfrm>
            <a:off x="3909060" y="2914650"/>
            <a:ext cx="2297430" cy="1303020"/>
          </a:xfrm>
          <a:prstGeom prst="roundRect">
            <a:avLst>
              <a:gd fmla="val 6667" name="adj"/>
            </a:avLst>
          </a:prstGeom>
          <a:solidFill>
            <a:srgbClr val="EEF3F3"/>
          </a:solidFill>
          <a:ln cap="flat" cmpd="sng" w="12700">
            <a:solidFill>
              <a:srgbClr val="EEF3F3"/>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35" name="Google Shape;335;p29"/>
          <p:cNvSpPr txBox="1"/>
          <p:nvPr/>
        </p:nvSpPr>
        <p:spPr>
          <a:xfrm>
            <a:off x="4046220" y="2914650"/>
            <a:ext cx="2057400" cy="13030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23B44"/>
              </a:buClr>
              <a:buSzPts val="1200"/>
              <a:buFont typeface="Calibri"/>
              <a:buNone/>
            </a:pPr>
            <a:r>
              <a:rPr b="1" lang="en-GB" sz="1200">
                <a:solidFill>
                  <a:srgbClr val="123B44"/>
                </a:solidFill>
                <a:latin typeface="Calibri"/>
                <a:ea typeface="Calibri"/>
                <a:cs typeface="Calibri"/>
                <a:sym typeface="Calibri"/>
              </a:rPr>
              <a:t>PCA + LR</a:t>
            </a:r>
            <a:endParaRPr sz="1200">
              <a:solidFill>
                <a:schemeClr val="dk1"/>
              </a:solidFill>
              <a:latin typeface="Calibri"/>
              <a:ea typeface="Calibri"/>
              <a:cs typeface="Calibri"/>
              <a:sym typeface="Calibri"/>
            </a:endParaRPr>
          </a:p>
          <a:p>
            <a:pPr indent="0" lvl="0" marL="0" marR="0" rtl="0" algn="l">
              <a:spcBef>
                <a:spcPts val="0"/>
              </a:spcBef>
              <a:spcAft>
                <a:spcPts val="0"/>
              </a:spcAft>
              <a:buClr>
                <a:srgbClr val="1F2D33"/>
              </a:buClr>
              <a:buSzPts val="1000"/>
              <a:buFont typeface="Calibri"/>
              <a:buNone/>
            </a:pPr>
            <a:r>
              <a:rPr lang="en-GB" sz="1000">
                <a:solidFill>
                  <a:srgbClr val="1F2D33"/>
                </a:solidFill>
                <a:latin typeface="Calibri"/>
                <a:ea typeface="Calibri"/>
                <a:cs typeface="Calibri"/>
                <a:sym typeface="Calibri"/>
              </a:rPr>
              <a:t>number of components tuned</a:t>
            </a:r>
            <a:endParaRPr sz="1200">
              <a:solidFill>
                <a:schemeClr val="dk1"/>
              </a:solidFill>
              <a:latin typeface="Calibri"/>
              <a:ea typeface="Calibri"/>
              <a:cs typeface="Calibri"/>
              <a:sym typeface="Calibri"/>
            </a:endParaRPr>
          </a:p>
        </p:txBody>
      </p:sp>
      <p:sp>
        <p:nvSpPr>
          <p:cNvPr id="336" name="Google Shape;336;p29"/>
          <p:cNvSpPr/>
          <p:nvPr/>
        </p:nvSpPr>
        <p:spPr>
          <a:xfrm>
            <a:off x="6343650" y="2914650"/>
            <a:ext cx="2297430" cy="1303020"/>
          </a:xfrm>
          <a:prstGeom prst="roundRect">
            <a:avLst>
              <a:gd fmla="val 6667" name="adj"/>
            </a:avLst>
          </a:prstGeom>
          <a:solidFill>
            <a:srgbClr val="EEF3F3"/>
          </a:solidFill>
          <a:ln cap="flat" cmpd="sng" w="12700">
            <a:solidFill>
              <a:srgbClr val="EEF3F3"/>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37" name="Google Shape;337;p29"/>
          <p:cNvSpPr txBox="1"/>
          <p:nvPr/>
        </p:nvSpPr>
        <p:spPr>
          <a:xfrm>
            <a:off x="6480810" y="2914650"/>
            <a:ext cx="2057400" cy="13030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23B44"/>
              </a:buClr>
              <a:buSzPts val="1200"/>
              <a:buFont typeface="Calibri"/>
              <a:buNone/>
            </a:pPr>
            <a:r>
              <a:rPr b="1" lang="en-GB" sz="1200">
                <a:solidFill>
                  <a:srgbClr val="123B44"/>
                </a:solidFill>
                <a:latin typeface="Calibri"/>
                <a:ea typeface="Calibri"/>
                <a:cs typeface="Calibri"/>
                <a:sym typeface="Calibri"/>
              </a:rPr>
              <a:t>Random forest</a:t>
            </a:r>
            <a:endParaRPr sz="1200">
              <a:solidFill>
                <a:schemeClr val="dk1"/>
              </a:solidFill>
              <a:latin typeface="Calibri"/>
              <a:ea typeface="Calibri"/>
              <a:cs typeface="Calibri"/>
              <a:sym typeface="Calibri"/>
            </a:endParaRPr>
          </a:p>
          <a:p>
            <a:pPr indent="0" lvl="0" marL="0" marR="0" rtl="0" algn="l">
              <a:spcBef>
                <a:spcPts val="0"/>
              </a:spcBef>
              <a:spcAft>
                <a:spcPts val="0"/>
              </a:spcAft>
              <a:buClr>
                <a:srgbClr val="1F2D33"/>
              </a:buClr>
              <a:buSzPts val="1000"/>
              <a:buFont typeface="Calibri"/>
              <a:buNone/>
            </a:pPr>
            <a:r>
              <a:rPr lang="en-GB" sz="1000">
                <a:solidFill>
                  <a:srgbClr val="1F2D33"/>
                </a:solidFill>
                <a:latin typeface="Calibri"/>
                <a:ea typeface="Calibri"/>
                <a:cs typeface="Calibri"/>
                <a:sym typeface="Calibri"/>
              </a:rPr>
              <a:t>bagged trees</a:t>
            </a:r>
            <a:endParaRPr sz="1200">
              <a:solidFill>
                <a:schemeClr val="dk1"/>
              </a:solidFill>
              <a:latin typeface="Calibri"/>
              <a:ea typeface="Calibri"/>
              <a:cs typeface="Calibri"/>
              <a:sym typeface="Calibri"/>
            </a:endParaRPr>
          </a:p>
        </p:txBody>
      </p:sp>
      <p:sp>
        <p:nvSpPr>
          <p:cNvPr id="338" name="Google Shape;338;p29"/>
          <p:cNvSpPr txBox="1"/>
          <p:nvPr/>
        </p:nvSpPr>
        <p:spPr>
          <a:xfrm>
            <a:off x="3909060" y="4389120"/>
            <a:ext cx="4800600" cy="342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F6F75"/>
              </a:buClr>
              <a:buSzPts val="800"/>
              <a:buFont typeface="Calibri"/>
              <a:buNone/>
            </a:pPr>
            <a:r>
              <a:rPr i="1" lang="en-GB" sz="800">
                <a:solidFill>
                  <a:srgbClr val="5F6F75"/>
                </a:solidFill>
                <a:latin typeface="Calibri"/>
                <a:ea typeface="Calibri"/>
                <a:cs typeface="Calibri"/>
                <a:sym typeface="Calibri"/>
              </a:rPr>
              <a:t>Metrics: ROC-AUC (primary), PR-AUC, Brier score, recall in the 20% highest-risk group. All tuned on validation; one shared test set.</a:t>
            </a:r>
            <a:endParaRPr sz="800">
              <a:solidFill>
                <a:schemeClr val="dk1"/>
              </a:solidFill>
              <a:latin typeface="Calibri"/>
              <a:ea typeface="Calibri"/>
              <a:cs typeface="Calibri"/>
              <a:sym typeface="Calibri"/>
            </a:endParaRPr>
          </a:p>
        </p:txBody>
      </p:sp>
      <p:sp>
        <p:nvSpPr>
          <p:cNvPr id="339" name="Google Shape;339;p29"/>
          <p:cNvSpPr txBox="1"/>
          <p:nvPr>
            <p:ph idx="4294967295" type="sldNum"/>
          </p:nvPr>
        </p:nvSpPr>
        <p:spPr>
          <a:xfrm>
            <a:off x="8435340" y="4800600"/>
            <a:ext cx="342900" cy="205740"/>
          </a:xfrm>
          <a:prstGeom prst="rect">
            <a:avLst/>
          </a:prstGeom>
          <a:noFill/>
          <a:ln>
            <a:noFill/>
          </a:ln>
        </p:spPr>
        <p:txBody>
          <a:bodyPr anchorCtr="0" anchor="t" bIns="34275" lIns="68575" spcFirstLastPara="1" rIns="68575" wrap="square" tIns="34275">
            <a:noAutofit/>
          </a:bodyPr>
          <a:lstStyle/>
          <a:p>
            <a:pPr indent="0" lvl="0" marL="0" marR="0" rtl="0" algn="r">
              <a:spcBef>
                <a:spcPts val="0"/>
              </a:spcBef>
              <a:spcAft>
                <a:spcPts val="0"/>
              </a:spcAft>
              <a:buNone/>
            </a:pPr>
            <a:fld id="{00000000-1234-1234-1234-123412341234}" type="slidenum">
              <a:rPr b="0" lang="en-GB" sz="800">
                <a:solidFill>
                  <a:srgbClr val="5F6F75"/>
                </a:solidFill>
                <a:latin typeface="Calibri"/>
                <a:ea typeface="Calibri"/>
                <a:cs typeface="Calibri"/>
                <a:sym typeface="Calibri"/>
              </a:rPr>
              <a:t>‹#›</a:t>
            </a:fld>
            <a:endParaRPr sz="800">
              <a:solidFill>
                <a:srgbClr val="5F6F75"/>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4" name="Shape 344"/>
        <p:cNvGrpSpPr/>
        <p:nvPr/>
      </p:nvGrpSpPr>
      <p:grpSpPr>
        <a:xfrm>
          <a:off x="0" y="0"/>
          <a:ext cx="0" cy="0"/>
          <a:chOff x="0" y="0"/>
          <a:chExt cx="0" cy="0"/>
        </a:xfrm>
      </p:grpSpPr>
      <p:sp>
        <p:nvSpPr>
          <p:cNvPr id="345" name="Google Shape;345;p30"/>
          <p:cNvSpPr txBox="1"/>
          <p:nvPr>
            <p:ph type="title"/>
          </p:nvPr>
        </p:nvSpPr>
        <p:spPr>
          <a:xfrm>
            <a:off x="411480" y="240030"/>
            <a:ext cx="7063740" cy="65151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2100"/>
              <a:buFont typeface="Cambria"/>
              <a:buNone/>
            </a:pPr>
            <a:r>
              <a:rPr b="1" lang="en-GB" sz="2100">
                <a:solidFill>
                  <a:schemeClr val="dk2"/>
                </a:solidFill>
                <a:latin typeface="Cambria"/>
                <a:ea typeface="Cambria"/>
                <a:cs typeface="Cambria"/>
                <a:sym typeface="Cambria"/>
              </a:rPr>
              <a:t>Information beats algorithm: same inputs, models within 0.01</a:t>
            </a:r>
            <a:endParaRPr sz="2100"/>
          </a:p>
        </p:txBody>
      </p:sp>
      <p:pic>
        <p:nvPicPr>
          <p:cNvPr id="346" name="Google Shape;346;p30"/>
          <p:cNvPicPr preferRelativeResize="0"/>
          <p:nvPr/>
        </p:nvPicPr>
        <p:blipFill rotWithShape="1">
          <a:blip r:embed="rId3">
            <a:alphaModFix/>
          </a:blip>
          <a:srcRect b="0" l="0" r="0" t="0"/>
          <a:stretch/>
        </p:blipFill>
        <p:spPr>
          <a:xfrm>
            <a:off x="274320" y="960120"/>
            <a:ext cx="5760720" cy="3806190"/>
          </a:xfrm>
          <a:prstGeom prst="rect">
            <a:avLst/>
          </a:prstGeom>
          <a:noFill/>
          <a:ln>
            <a:noFill/>
          </a:ln>
        </p:spPr>
      </p:pic>
      <p:sp>
        <p:nvSpPr>
          <p:cNvPr id="347" name="Google Shape;347;p30"/>
          <p:cNvSpPr/>
          <p:nvPr/>
        </p:nvSpPr>
        <p:spPr>
          <a:xfrm>
            <a:off x="6240780" y="1028700"/>
            <a:ext cx="2468880" cy="1097280"/>
          </a:xfrm>
          <a:prstGeom prst="roundRect">
            <a:avLst>
              <a:gd fmla="val 5000" name="adj"/>
            </a:avLst>
          </a:prstGeom>
          <a:solidFill>
            <a:srgbClr val="EEF3F3"/>
          </a:solidFill>
          <a:ln cap="flat" cmpd="sng" w="12700">
            <a:solidFill>
              <a:srgbClr val="EEF3F3"/>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48" name="Google Shape;348;p30"/>
          <p:cNvSpPr txBox="1"/>
          <p:nvPr/>
        </p:nvSpPr>
        <p:spPr>
          <a:xfrm>
            <a:off x="6412230" y="1131570"/>
            <a:ext cx="21259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2"/>
              </a:buClr>
              <a:buSzPts val="2100"/>
              <a:buFont typeface="Cambria"/>
              <a:buNone/>
            </a:pPr>
            <a:r>
              <a:rPr b="1" lang="en-GB" sz="2100">
                <a:solidFill>
                  <a:schemeClr val="accent2"/>
                </a:solidFill>
                <a:latin typeface="Cambria"/>
                <a:ea typeface="Cambria"/>
                <a:cs typeface="Cambria"/>
                <a:sym typeface="Cambria"/>
              </a:rPr>
              <a:t>+0.033</a:t>
            </a:r>
            <a:endParaRPr sz="2100">
              <a:solidFill>
                <a:schemeClr val="dk1"/>
              </a:solidFill>
              <a:latin typeface="Calibri"/>
              <a:ea typeface="Calibri"/>
              <a:cs typeface="Calibri"/>
              <a:sym typeface="Calibri"/>
            </a:endParaRPr>
          </a:p>
        </p:txBody>
      </p:sp>
      <p:sp>
        <p:nvSpPr>
          <p:cNvPr id="349" name="Google Shape;349;p30"/>
          <p:cNvSpPr txBox="1"/>
          <p:nvPr/>
        </p:nvSpPr>
        <p:spPr>
          <a:xfrm>
            <a:off x="6412230" y="1563624"/>
            <a:ext cx="2125980" cy="4800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from new information: original set B → functional set D (LR)</a:t>
            </a:r>
            <a:endParaRPr sz="1100">
              <a:solidFill>
                <a:schemeClr val="dk1"/>
              </a:solidFill>
              <a:latin typeface="Calibri"/>
              <a:ea typeface="Calibri"/>
              <a:cs typeface="Calibri"/>
              <a:sym typeface="Calibri"/>
            </a:endParaRPr>
          </a:p>
        </p:txBody>
      </p:sp>
      <p:sp>
        <p:nvSpPr>
          <p:cNvPr id="350" name="Google Shape;350;p30"/>
          <p:cNvSpPr/>
          <p:nvPr/>
        </p:nvSpPr>
        <p:spPr>
          <a:xfrm>
            <a:off x="6240780" y="2263140"/>
            <a:ext cx="2468880" cy="1097280"/>
          </a:xfrm>
          <a:prstGeom prst="roundRect">
            <a:avLst>
              <a:gd fmla="val 5000" name="adj"/>
            </a:avLst>
          </a:prstGeom>
          <a:solidFill>
            <a:srgbClr val="EEF3F3"/>
          </a:solidFill>
          <a:ln cap="flat" cmpd="sng" w="12700">
            <a:solidFill>
              <a:srgbClr val="EEF3F3"/>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51" name="Google Shape;351;p30"/>
          <p:cNvSpPr txBox="1"/>
          <p:nvPr/>
        </p:nvSpPr>
        <p:spPr>
          <a:xfrm>
            <a:off x="6412230" y="2366010"/>
            <a:ext cx="21259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2100"/>
              <a:buFont typeface="Cambria"/>
              <a:buNone/>
            </a:pPr>
            <a:r>
              <a:rPr b="1" lang="en-GB" sz="2100">
                <a:solidFill>
                  <a:schemeClr val="accent1"/>
                </a:solidFill>
                <a:latin typeface="Cambria"/>
                <a:ea typeface="Cambria"/>
                <a:cs typeface="Cambria"/>
                <a:sym typeface="Cambria"/>
              </a:rPr>
              <a:t>≤ 0.01</a:t>
            </a:r>
            <a:endParaRPr sz="2100">
              <a:solidFill>
                <a:schemeClr val="dk1"/>
              </a:solidFill>
              <a:latin typeface="Calibri"/>
              <a:ea typeface="Calibri"/>
              <a:cs typeface="Calibri"/>
              <a:sym typeface="Calibri"/>
            </a:endParaRPr>
          </a:p>
        </p:txBody>
      </p:sp>
      <p:sp>
        <p:nvSpPr>
          <p:cNvPr id="352" name="Google Shape;352;p30"/>
          <p:cNvSpPr txBox="1"/>
          <p:nvPr/>
        </p:nvSpPr>
        <p:spPr>
          <a:xfrm>
            <a:off x="6412230" y="2798064"/>
            <a:ext cx="2125980" cy="4800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between algorithms given the same feature set</a:t>
            </a:r>
            <a:endParaRPr sz="1100">
              <a:solidFill>
                <a:schemeClr val="dk1"/>
              </a:solidFill>
              <a:latin typeface="Calibri"/>
              <a:ea typeface="Calibri"/>
              <a:cs typeface="Calibri"/>
              <a:sym typeface="Calibri"/>
            </a:endParaRPr>
          </a:p>
        </p:txBody>
      </p:sp>
      <p:sp>
        <p:nvSpPr>
          <p:cNvPr id="353" name="Google Shape;353;p30"/>
          <p:cNvSpPr/>
          <p:nvPr/>
        </p:nvSpPr>
        <p:spPr>
          <a:xfrm>
            <a:off x="6240780" y="3497580"/>
            <a:ext cx="2468880" cy="1097280"/>
          </a:xfrm>
          <a:prstGeom prst="roundRect">
            <a:avLst>
              <a:gd fmla="val 5000" name="adj"/>
            </a:avLst>
          </a:prstGeom>
          <a:solidFill>
            <a:srgbClr val="EEF3F3"/>
          </a:solidFill>
          <a:ln cap="flat" cmpd="sng" w="12700">
            <a:solidFill>
              <a:srgbClr val="EEF3F3"/>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54" name="Google Shape;354;p30"/>
          <p:cNvSpPr txBox="1"/>
          <p:nvPr/>
        </p:nvSpPr>
        <p:spPr>
          <a:xfrm>
            <a:off x="6412230" y="3600450"/>
            <a:ext cx="21259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2100"/>
              <a:buFont typeface="Cambria"/>
              <a:buNone/>
            </a:pPr>
            <a:r>
              <a:rPr b="1" lang="en-GB" sz="2100">
                <a:solidFill>
                  <a:schemeClr val="accent1"/>
                </a:solidFill>
                <a:latin typeface="Cambria"/>
                <a:ea typeface="Cambria"/>
                <a:cs typeface="Cambria"/>
                <a:sym typeface="Cambria"/>
              </a:rPr>
              <a:t>+0.006</a:t>
            </a:r>
            <a:endParaRPr sz="2100">
              <a:solidFill>
                <a:schemeClr val="dk1"/>
              </a:solidFill>
              <a:latin typeface="Calibri"/>
              <a:ea typeface="Calibri"/>
              <a:cs typeface="Calibri"/>
              <a:sym typeface="Calibri"/>
            </a:endParaRPr>
          </a:p>
        </p:txBody>
      </p:sp>
      <p:sp>
        <p:nvSpPr>
          <p:cNvPr id="355" name="Google Shape;355;p30"/>
          <p:cNvSpPr txBox="1"/>
          <p:nvPr/>
        </p:nvSpPr>
        <p:spPr>
          <a:xfrm>
            <a:off x="6412230" y="4032504"/>
            <a:ext cx="2125980" cy="4800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from change-over-time features (D → D+T)</a:t>
            </a:r>
            <a:endParaRPr sz="1100">
              <a:solidFill>
                <a:schemeClr val="dk1"/>
              </a:solidFill>
              <a:latin typeface="Calibri"/>
              <a:ea typeface="Calibri"/>
              <a:cs typeface="Calibri"/>
              <a:sym typeface="Calibri"/>
            </a:endParaRPr>
          </a:p>
        </p:txBody>
      </p:sp>
      <p:sp>
        <p:nvSpPr>
          <p:cNvPr id="356" name="Google Shape;356;p30"/>
          <p:cNvSpPr txBox="1"/>
          <p:nvPr>
            <p:ph idx="4294967295" type="sldNum"/>
          </p:nvPr>
        </p:nvSpPr>
        <p:spPr>
          <a:xfrm>
            <a:off x="8435340" y="4800600"/>
            <a:ext cx="342900" cy="205740"/>
          </a:xfrm>
          <a:prstGeom prst="rect">
            <a:avLst/>
          </a:prstGeom>
          <a:noFill/>
          <a:ln>
            <a:noFill/>
          </a:ln>
        </p:spPr>
        <p:txBody>
          <a:bodyPr anchorCtr="0" anchor="t" bIns="34275" lIns="68575" spcFirstLastPara="1" rIns="68575" wrap="square" tIns="34275">
            <a:noAutofit/>
          </a:bodyPr>
          <a:lstStyle/>
          <a:p>
            <a:pPr indent="0" lvl="0" marL="0" marR="0" rtl="0" algn="r">
              <a:spcBef>
                <a:spcPts val="0"/>
              </a:spcBef>
              <a:spcAft>
                <a:spcPts val="0"/>
              </a:spcAft>
              <a:buNone/>
            </a:pPr>
            <a:fld id="{00000000-1234-1234-1234-123412341234}" type="slidenum">
              <a:rPr b="0" lang="en-GB" sz="800">
                <a:solidFill>
                  <a:srgbClr val="5F6F75"/>
                </a:solidFill>
                <a:latin typeface="Calibri"/>
                <a:ea typeface="Calibri"/>
                <a:cs typeface="Calibri"/>
                <a:sym typeface="Calibri"/>
              </a:rPr>
              <a:t>‹#›</a:t>
            </a:fld>
            <a:endParaRPr sz="800">
              <a:solidFill>
                <a:srgbClr val="5F6F75"/>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1" name="Shape 361"/>
        <p:cNvGrpSpPr/>
        <p:nvPr/>
      </p:nvGrpSpPr>
      <p:grpSpPr>
        <a:xfrm>
          <a:off x="0" y="0"/>
          <a:ext cx="0" cy="0"/>
          <a:chOff x="0" y="0"/>
          <a:chExt cx="0" cy="0"/>
        </a:xfrm>
      </p:grpSpPr>
      <p:sp>
        <p:nvSpPr>
          <p:cNvPr id="362" name="Google Shape;362;p31"/>
          <p:cNvSpPr txBox="1"/>
          <p:nvPr>
            <p:ph type="title"/>
          </p:nvPr>
        </p:nvSpPr>
        <p:spPr>
          <a:xfrm>
            <a:off x="411480" y="240030"/>
            <a:ext cx="7063740" cy="65151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2100"/>
              <a:buFont typeface="Cambria"/>
              <a:buNone/>
            </a:pPr>
            <a:r>
              <a:rPr b="1" lang="en-GB" sz="2100">
                <a:solidFill>
                  <a:schemeClr val="dk2"/>
                </a:solidFill>
                <a:latin typeface="Cambria"/>
                <a:ea typeface="Cambria"/>
                <a:cs typeface="Cambria"/>
                <a:sym typeface="Cambria"/>
              </a:rPr>
              <a:t>Final model: top 20% of predicted risk holds 56% of new cases</a:t>
            </a:r>
            <a:endParaRPr sz="2100"/>
          </a:p>
        </p:txBody>
      </p:sp>
      <p:pic>
        <p:nvPicPr>
          <p:cNvPr id="363" name="Google Shape;363;p31"/>
          <p:cNvPicPr preferRelativeResize="0"/>
          <p:nvPr/>
        </p:nvPicPr>
        <p:blipFill rotWithShape="1">
          <a:blip r:embed="rId3">
            <a:alphaModFix/>
          </a:blip>
          <a:srcRect b="0" l="0" r="0" t="0"/>
          <a:stretch/>
        </p:blipFill>
        <p:spPr>
          <a:xfrm>
            <a:off x="342900" y="994410"/>
            <a:ext cx="5486400" cy="3497580"/>
          </a:xfrm>
          <a:prstGeom prst="rect">
            <a:avLst/>
          </a:prstGeom>
          <a:noFill/>
          <a:ln>
            <a:noFill/>
          </a:ln>
        </p:spPr>
      </p:pic>
      <p:sp>
        <p:nvSpPr>
          <p:cNvPr id="364" name="Google Shape;364;p31"/>
          <p:cNvSpPr/>
          <p:nvPr/>
        </p:nvSpPr>
        <p:spPr>
          <a:xfrm>
            <a:off x="6103620" y="1028700"/>
            <a:ext cx="2606040" cy="1097280"/>
          </a:xfrm>
          <a:prstGeom prst="roundRect">
            <a:avLst>
              <a:gd fmla="val 5000" name="adj"/>
            </a:avLst>
          </a:prstGeom>
          <a:solidFill>
            <a:srgbClr val="EEF3F3"/>
          </a:solidFill>
          <a:ln cap="flat" cmpd="sng" w="12700">
            <a:solidFill>
              <a:srgbClr val="EEF3F3"/>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65" name="Google Shape;365;p31"/>
          <p:cNvSpPr txBox="1"/>
          <p:nvPr/>
        </p:nvSpPr>
        <p:spPr>
          <a:xfrm>
            <a:off x="6275070" y="1131570"/>
            <a:ext cx="22631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2"/>
              </a:buClr>
              <a:buSzPts val="2300"/>
              <a:buFont typeface="Cambria"/>
              <a:buNone/>
            </a:pPr>
            <a:r>
              <a:rPr b="1" lang="en-GB" sz="2300">
                <a:solidFill>
                  <a:schemeClr val="accent2"/>
                </a:solidFill>
                <a:latin typeface="Cambria"/>
                <a:ea typeface="Cambria"/>
                <a:cs typeface="Cambria"/>
                <a:sym typeface="Cambria"/>
              </a:rPr>
              <a:t>0.784</a:t>
            </a:r>
            <a:endParaRPr sz="2300">
              <a:solidFill>
                <a:schemeClr val="dk1"/>
              </a:solidFill>
              <a:latin typeface="Calibri"/>
              <a:ea typeface="Calibri"/>
              <a:cs typeface="Calibri"/>
              <a:sym typeface="Calibri"/>
            </a:endParaRPr>
          </a:p>
        </p:txBody>
      </p:sp>
      <p:sp>
        <p:nvSpPr>
          <p:cNvPr id="366" name="Google Shape;366;p31"/>
          <p:cNvSpPr txBox="1"/>
          <p:nvPr/>
        </p:nvSpPr>
        <p:spPr>
          <a:xfrm>
            <a:off x="6275070" y="1563624"/>
            <a:ext cx="2263140" cy="4800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test ROC-AUC (95% CI 0.776–0.791), logistic regression on set D</a:t>
            </a:r>
            <a:endParaRPr sz="1100">
              <a:solidFill>
                <a:schemeClr val="dk1"/>
              </a:solidFill>
              <a:latin typeface="Calibri"/>
              <a:ea typeface="Calibri"/>
              <a:cs typeface="Calibri"/>
              <a:sym typeface="Calibri"/>
            </a:endParaRPr>
          </a:p>
        </p:txBody>
      </p:sp>
      <p:sp>
        <p:nvSpPr>
          <p:cNvPr id="367" name="Google Shape;367;p31"/>
          <p:cNvSpPr/>
          <p:nvPr/>
        </p:nvSpPr>
        <p:spPr>
          <a:xfrm>
            <a:off x="6103620" y="2263140"/>
            <a:ext cx="2606040" cy="1097280"/>
          </a:xfrm>
          <a:prstGeom prst="roundRect">
            <a:avLst>
              <a:gd fmla="val 5000" name="adj"/>
            </a:avLst>
          </a:prstGeom>
          <a:solidFill>
            <a:srgbClr val="EEF3F3"/>
          </a:solidFill>
          <a:ln cap="flat" cmpd="sng" w="12700">
            <a:solidFill>
              <a:srgbClr val="EEF3F3"/>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68" name="Google Shape;368;p31"/>
          <p:cNvSpPr txBox="1"/>
          <p:nvPr/>
        </p:nvSpPr>
        <p:spPr>
          <a:xfrm>
            <a:off x="6275070" y="2366010"/>
            <a:ext cx="22631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2300"/>
              <a:buFont typeface="Cambria"/>
              <a:buNone/>
            </a:pPr>
            <a:r>
              <a:rPr b="1" lang="en-GB" sz="2300">
                <a:solidFill>
                  <a:schemeClr val="accent1"/>
                </a:solidFill>
                <a:latin typeface="Cambria"/>
                <a:ea typeface="Cambria"/>
                <a:cs typeface="Cambria"/>
                <a:sym typeface="Cambria"/>
              </a:rPr>
              <a:t>55.6%</a:t>
            </a:r>
            <a:endParaRPr sz="2300">
              <a:solidFill>
                <a:schemeClr val="dk1"/>
              </a:solidFill>
              <a:latin typeface="Calibri"/>
              <a:ea typeface="Calibri"/>
              <a:cs typeface="Calibri"/>
              <a:sym typeface="Calibri"/>
            </a:endParaRPr>
          </a:p>
        </p:txBody>
      </p:sp>
      <p:sp>
        <p:nvSpPr>
          <p:cNvPr id="369" name="Google Shape;369;p31"/>
          <p:cNvSpPr txBox="1"/>
          <p:nvPr/>
        </p:nvSpPr>
        <p:spPr>
          <a:xfrm>
            <a:off x="6275070" y="2798064"/>
            <a:ext cx="2263140" cy="4800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of all new cases in the 20% highest-risk group (lift 2.78)</a:t>
            </a:r>
            <a:endParaRPr sz="1100">
              <a:solidFill>
                <a:schemeClr val="dk1"/>
              </a:solidFill>
              <a:latin typeface="Calibri"/>
              <a:ea typeface="Calibri"/>
              <a:cs typeface="Calibri"/>
              <a:sym typeface="Calibri"/>
            </a:endParaRPr>
          </a:p>
        </p:txBody>
      </p:sp>
      <p:sp>
        <p:nvSpPr>
          <p:cNvPr id="370" name="Google Shape;370;p31"/>
          <p:cNvSpPr/>
          <p:nvPr/>
        </p:nvSpPr>
        <p:spPr>
          <a:xfrm>
            <a:off x="6103620" y="3497580"/>
            <a:ext cx="2606040" cy="1097280"/>
          </a:xfrm>
          <a:prstGeom prst="roundRect">
            <a:avLst>
              <a:gd fmla="val 5000" name="adj"/>
            </a:avLst>
          </a:prstGeom>
          <a:solidFill>
            <a:srgbClr val="EEF3F3"/>
          </a:solidFill>
          <a:ln cap="flat" cmpd="sng" w="12700">
            <a:solidFill>
              <a:srgbClr val="EEF3F3"/>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71" name="Google Shape;371;p31"/>
          <p:cNvSpPr txBox="1"/>
          <p:nvPr/>
        </p:nvSpPr>
        <p:spPr>
          <a:xfrm>
            <a:off x="6275070" y="3600450"/>
            <a:ext cx="22631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2100"/>
              <a:buFont typeface="Cambria"/>
              <a:buNone/>
            </a:pPr>
            <a:r>
              <a:rPr b="1" lang="en-GB" sz="2100">
                <a:solidFill>
                  <a:schemeClr val="accent1"/>
                </a:solidFill>
                <a:latin typeface="Cambria"/>
                <a:ea typeface="Cambria"/>
                <a:cs typeface="Cambria"/>
                <a:sym typeface="Cambria"/>
              </a:rPr>
              <a:t>1.0% → 32.3%</a:t>
            </a:r>
            <a:endParaRPr sz="2100">
              <a:solidFill>
                <a:schemeClr val="dk1"/>
              </a:solidFill>
              <a:latin typeface="Calibri"/>
              <a:ea typeface="Calibri"/>
              <a:cs typeface="Calibri"/>
              <a:sym typeface="Calibri"/>
            </a:endParaRPr>
          </a:p>
        </p:txBody>
      </p:sp>
      <p:sp>
        <p:nvSpPr>
          <p:cNvPr id="372" name="Google Shape;372;p31"/>
          <p:cNvSpPr txBox="1"/>
          <p:nvPr/>
        </p:nvSpPr>
        <p:spPr>
          <a:xfrm>
            <a:off x="6275070" y="4032504"/>
            <a:ext cx="2263140" cy="4800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observed rate in the lowest vs highest decile</a:t>
            </a:r>
            <a:endParaRPr sz="1100">
              <a:solidFill>
                <a:schemeClr val="dk1"/>
              </a:solidFill>
              <a:latin typeface="Calibri"/>
              <a:ea typeface="Calibri"/>
              <a:cs typeface="Calibri"/>
              <a:sym typeface="Calibri"/>
            </a:endParaRPr>
          </a:p>
        </p:txBody>
      </p:sp>
      <p:sp>
        <p:nvSpPr>
          <p:cNvPr id="373" name="Google Shape;373;p31"/>
          <p:cNvSpPr txBox="1"/>
          <p:nvPr>
            <p:ph idx="4294967295" type="sldNum"/>
          </p:nvPr>
        </p:nvSpPr>
        <p:spPr>
          <a:xfrm>
            <a:off x="8435340" y="4800600"/>
            <a:ext cx="342900" cy="205740"/>
          </a:xfrm>
          <a:prstGeom prst="rect">
            <a:avLst/>
          </a:prstGeom>
          <a:noFill/>
          <a:ln>
            <a:noFill/>
          </a:ln>
        </p:spPr>
        <p:txBody>
          <a:bodyPr anchorCtr="0" anchor="t" bIns="34275" lIns="68575" spcFirstLastPara="1" rIns="68575" wrap="square" tIns="34275">
            <a:noAutofit/>
          </a:bodyPr>
          <a:lstStyle/>
          <a:p>
            <a:pPr indent="0" lvl="0" marL="0" marR="0" rtl="0" algn="r">
              <a:spcBef>
                <a:spcPts val="0"/>
              </a:spcBef>
              <a:spcAft>
                <a:spcPts val="0"/>
              </a:spcAft>
              <a:buNone/>
            </a:pPr>
            <a:fld id="{00000000-1234-1234-1234-123412341234}" type="slidenum">
              <a:rPr b="0" lang="en-GB" sz="800">
                <a:solidFill>
                  <a:srgbClr val="5F6F75"/>
                </a:solidFill>
                <a:latin typeface="Calibri"/>
                <a:ea typeface="Calibri"/>
                <a:cs typeface="Calibri"/>
                <a:sym typeface="Calibri"/>
              </a:rPr>
              <a:t>‹#›</a:t>
            </a:fld>
            <a:endParaRPr sz="800">
              <a:solidFill>
                <a:srgbClr val="5F6F75"/>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8" name="Shape 378"/>
        <p:cNvGrpSpPr/>
        <p:nvPr/>
      </p:nvGrpSpPr>
      <p:grpSpPr>
        <a:xfrm>
          <a:off x="0" y="0"/>
          <a:ext cx="0" cy="0"/>
          <a:chOff x="0" y="0"/>
          <a:chExt cx="0" cy="0"/>
        </a:xfrm>
      </p:grpSpPr>
      <p:sp>
        <p:nvSpPr>
          <p:cNvPr id="379" name="Google Shape;379;p32"/>
          <p:cNvSpPr txBox="1"/>
          <p:nvPr>
            <p:ph type="title"/>
          </p:nvPr>
        </p:nvSpPr>
        <p:spPr>
          <a:xfrm>
            <a:off x="411480" y="240030"/>
            <a:ext cx="7063740" cy="65151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2100"/>
              <a:buFont typeface="Cambria"/>
              <a:buNone/>
            </a:pPr>
            <a:r>
              <a:rPr b="1" lang="en-GB" sz="2100">
                <a:solidFill>
                  <a:schemeClr val="dk2"/>
                </a:solidFill>
                <a:latin typeface="Cambria"/>
                <a:ea typeface="Cambria"/>
                <a:cs typeface="Cambria"/>
                <a:sym typeface="Cambria"/>
              </a:rPr>
              <a:t>Function, age and self-rated health carry most of the signal</a:t>
            </a:r>
            <a:endParaRPr sz="2100"/>
          </a:p>
        </p:txBody>
      </p:sp>
      <p:pic>
        <p:nvPicPr>
          <p:cNvPr id="380" name="Google Shape;380;p32"/>
          <p:cNvPicPr preferRelativeResize="0"/>
          <p:nvPr/>
        </p:nvPicPr>
        <p:blipFill rotWithShape="1">
          <a:blip r:embed="rId3">
            <a:alphaModFix/>
          </a:blip>
          <a:srcRect b="0" l="0" r="0" t="0"/>
          <a:stretch/>
        </p:blipFill>
        <p:spPr>
          <a:xfrm>
            <a:off x="274320" y="994410"/>
            <a:ext cx="5280660" cy="3429000"/>
          </a:xfrm>
          <a:prstGeom prst="rect">
            <a:avLst/>
          </a:prstGeom>
          <a:noFill/>
          <a:ln>
            <a:noFill/>
          </a:ln>
        </p:spPr>
      </p:pic>
      <p:sp>
        <p:nvSpPr>
          <p:cNvPr id="381" name="Google Shape;381;p32"/>
          <p:cNvSpPr txBox="1"/>
          <p:nvPr/>
        </p:nvSpPr>
        <p:spPr>
          <a:xfrm>
            <a:off x="411480" y="4457700"/>
            <a:ext cx="51435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F6F75"/>
              </a:buClr>
              <a:buSzPts val="800"/>
              <a:buFont typeface="Calibri"/>
              <a:buNone/>
            </a:pPr>
            <a:r>
              <a:rPr i="1" lang="en-GB" sz="800">
                <a:solidFill>
                  <a:srgbClr val="5F6F75"/>
                </a:solidFill>
                <a:latin typeface="Calibri"/>
                <a:ea typeface="Calibri"/>
                <a:cs typeface="Calibri"/>
                <a:sym typeface="Calibri"/>
              </a:rPr>
              <a:t>Correlated indices share importance; read them as a group. Associations, not causes.</a:t>
            </a:r>
            <a:endParaRPr sz="800">
              <a:solidFill>
                <a:schemeClr val="dk1"/>
              </a:solidFill>
              <a:latin typeface="Calibri"/>
              <a:ea typeface="Calibri"/>
              <a:cs typeface="Calibri"/>
              <a:sym typeface="Calibri"/>
            </a:endParaRPr>
          </a:p>
        </p:txBody>
      </p:sp>
      <p:sp>
        <p:nvSpPr>
          <p:cNvPr id="382" name="Google Shape;382;p32"/>
          <p:cNvSpPr/>
          <p:nvPr/>
        </p:nvSpPr>
        <p:spPr>
          <a:xfrm>
            <a:off x="5829300" y="1028700"/>
            <a:ext cx="2880360" cy="3429000"/>
          </a:xfrm>
          <a:prstGeom prst="roundRect">
            <a:avLst>
              <a:gd fmla="val 1905" name="adj"/>
            </a:avLst>
          </a:prstGeom>
          <a:solidFill>
            <a:srgbClr val="EEF3F3"/>
          </a:solidFill>
          <a:ln cap="flat" cmpd="sng" w="12700">
            <a:solidFill>
              <a:srgbClr val="EEF3F3"/>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83" name="Google Shape;383;p32"/>
          <p:cNvSpPr txBox="1"/>
          <p:nvPr/>
        </p:nvSpPr>
        <p:spPr>
          <a:xfrm>
            <a:off x="6000750" y="1131570"/>
            <a:ext cx="2606040" cy="30861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1" lang="en-GB" sz="1200">
                <a:solidFill>
                  <a:schemeClr val="dk2"/>
                </a:solidFill>
                <a:latin typeface="Calibri"/>
                <a:ea typeface="Calibri"/>
                <a:cs typeface="Calibri"/>
                <a:sym typeface="Calibri"/>
              </a:rPr>
              <a:t>Odds ratios, final model (set D)</a:t>
            </a:r>
            <a:endParaRPr sz="1200">
              <a:solidFill>
                <a:schemeClr val="dk1"/>
              </a:solidFill>
              <a:latin typeface="Calibri"/>
              <a:ea typeface="Calibri"/>
              <a:cs typeface="Calibri"/>
              <a:sym typeface="Calibri"/>
            </a:endParaRPr>
          </a:p>
        </p:txBody>
      </p:sp>
      <p:sp>
        <p:nvSpPr>
          <p:cNvPr id="384" name="Google Shape;384;p32"/>
          <p:cNvSpPr txBox="1"/>
          <p:nvPr/>
        </p:nvSpPr>
        <p:spPr>
          <a:xfrm>
            <a:off x="6000750" y="1440180"/>
            <a:ext cx="2606040" cy="2057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F6F75"/>
              </a:buClr>
              <a:buSzPts val="800"/>
              <a:buFont typeface="Calibri"/>
              <a:buNone/>
            </a:pPr>
            <a:r>
              <a:rPr i="1" lang="en-GB" sz="800">
                <a:solidFill>
                  <a:srgbClr val="5F6F75"/>
                </a:solidFill>
                <a:latin typeface="Calibri"/>
                <a:ea typeface="Calibri"/>
                <a:cs typeface="Calibri"/>
                <a:sym typeface="Calibri"/>
              </a:rPr>
              <a:t>original units; country-adjusted; training period</a:t>
            </a:r>
            <a:endParaRPr sz="800">
              <a:solidFill>
                <a:schemeClr val="dk1"/>
              </a:solidFill>
              <a:latin typeface="Calibri"/>
              <a:ea typeface="Calibri"/>
              <a:cs typeface="Calibri"/>
              <a:sym typeface="Calibri"/>
            </a:endParaRPr>
          </a:p>
        </p:txBody>
      </p:sp>
      <p:sp>
        <p:nvSpPr>
          <p:cNvPr id="385" name="Google Shape;385;p32"/>
          <p:cNvSpPr txBox="1"/>
          <p:nvPr/>
        </p:nvSpPr>
        <p:spPr>
          <a:xfrm>
            <a:off x="6000750" y="1748790"/>
            <a:ext cx="185166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IADL difficulties (+1)</a:t>
            </a:r>
            <a:endParaRPr sz="1100">
              <a:solidFill>
                <a:schemeClr val="dk1"/>
              </a:solidFill>
              <a:latin typeface="Calibri"/>
              <a:ea typeface="Calibri"/>
              <a:cs typeface="Calibri"/>
              <a:sym typeface="Calibri"/>
            </a:endParaRPr>
          </a:p>
        </p:txBody>
      </p:sp>
      <p:sp>
        <p:nvSpPr>
          <p:cNvPr id="386" name="Google Shape;386;p32"/>
          <p:cNvSpPr txBox="1"/>
          <p:nvPr/>
        </p:nvSpPr>
        <p:spPr>
          <a:xfrm>
            <a:off x="7749540" y="1748790"/>
            <a:ext cx="822960" cy="3429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4572E"/>
              </a:buClr>
              <a:buSzPts val="1700"/>
              <a:buFont typeface="Cambria"/>
              <a:buNone/>
            </a:pPr>
            <a:r>
              <a:rPr b="1" lang="en-GB" sz="1700">
                <a:solidFill>
                  <a:srgbClr val="E4572E"/>
                </a:solidFill>
                <a:latin typeface="Cambria"/>
                <a:ea typeface="Cambria"/>
                <a:cs typeface="Cambria"/>
                <a:sym typeface="Cambria"/>
              </a:rPr>
              <a:t>1.44</a:t>
            </a:r>
            <a:endParaRPr sz="1700">
              <a:solidFill>
                <a:schemeClr val="dk1"/>
              </a:solidFill>
              <a:latin typeface="Calibri"/>
              <a:ea typeface="Calibri"/>
              <a:cs typeface="Calibri"/>
              <a:sym typeface="Calibri"/>
            </a:endParaRPr>
          </a:p>
        </p:txBody>
      </p:sp>
      <p:sp>
        <p:nvSpPr>
          <p:cNvPr id="387" name="Google Shape;387;p32"/>
          <p:cNvSpPr txBox="1"/>
          <p:nvPr/>
        </p:nvSpPr>
        <p:spPr>
          <a:xfrm>
            <a:off x="6000750" y="2215134"/>
            <a:ext cx="185166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Self-rated health (+1 worse)</a:t>
            </a:r>
            <a:endParaRPr sz="1100">
              <a:solidFill>
                <a:schemeClr val="dk1"/>
              </a:solidFill>
              <a:latin typeface="Calibri"/>
              <a:ea typeface="Calibri"/>
              <a:cs typeface="Calibri"/>
              <a:sym typeface="Calibri"/>
            </a:endParaRPr>
          </a:p>
        </p:txBody>
      </p:sp>
      <p:sp>
        <p:nvSpPr>
          <p:cNvPr id="388" name="Google Shape;388;p32"/>
          <p:cNvSpPr txBox="1"/>
          <p:nvPr/>
        </p:nvSpPr>
        <p:spPr>
          <a:xfrm>
            <a:off x="7749540" y="2215134"/>
            <a:ext cx="822960" cy="3429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4572E"/>
              </a:buClr>
              <a:buSzPts val="1700"/>
              <a:buFont typeface="Cambria"/>
              <a:buNone/>
            </a:pPr>
            <a:r>
              <a:rPr b="1" lang="en-GB" sz="1700">
                <a:solidFill>
                  <a:srgbClr val="E4572E"/>
                </a:solidFill>
                <a:latin typeface="Cambria"/>
                <a:ea typeface="Cambria"/>
                <a:cs typeface="Cambria"/>
                <a:sym typeface="Cambria"/>
              </a:rPr>
              <a:t>1.34</a:t>
            </a:r>
            <a:endParaRPr sz="1700">
              <a:solidFill>
                <a:schemeClr val="dk1"/>
              </a:solidFill>
              <a:latin typeface="Calibri"/>
              <a:ea typeface="Calibri"/>
              <a:cs typeface="Calibri"/>
              <a:sym typeface="Calibri"/>
            </a:endParaRPr>
          </a:p>
        </p:txBody>
      </p:sp>
      <p:sp>
        <p:nvSpPr>
          <p:cNvPr id="389" name="Google Shape;389;p32"/>
          <p:cNvSpPr txBox="1"/>
          <p:nvPr/>
        </p:nvSpPr>
        <p:spPr>
          <a:xfrm>
            <a:off x="6000750" y="2681478"/>
            <a:ext cx="185166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Age (+5 years)</a:t>
            </a:r>
            <a:endParaRPr sz="1100">
              <a:solidFill>
                <a:schemeClr val="dk1"/>
              </a:solidFill>
              <a:latin typeface="Calibri"/>
              <a:ea typeface="Calibri"/>
              <a:cs typeface="Calibri"/>
              <a:sym typeface="Calibri"/>
            </a:endParaRPr>
          </a:p>
        </p:txBody>
      </p:sp>
      <p:sp>
        <p:nvSpPr>
          <p:cNvPr id="390" name="Google Shape;390;p32"/>
          <p:cNvSpPr txBox="1"/>
          <p:nvPr/>
        </p:nvSpPr>
        <p:spPr>
          <a:xfrm>
            <a:off x="7749540" y="2681478"/>
            <a:ext cx="822960" cy="3429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4572E"/>
              </a:buClr>
              <a:buSzPts val="1700"/>
              <a:buFont typeface="Cambria"/>
              <a:buNone/>
            </a:pPr>
            <a:r>
              <a:rPr b="1" lang="en-GB" sz="1700">
                <a:solidFill>
                  <a:srgbClr val="E4572E"/>
                </a:solidFill>
                <a:latin typeface="Cambria"/>
                <a:ea typeface="Cambria"/>
                <a:cs typeface="Cambria"/>
                <a:sym typeface="Cambria"/>
              </a:rPr>
              <a:t>1.29</a:t>
            </a:r>
            <a:endParaRPr sz="1700">
              <a:solidFill>
                <a:schemeClr val="dk1"/>
              </a:solidFill>
              <a:latin typeface="Calibri"/>
              <a:ea typeface="Calibri"/>
              <a:cs typeface="Calibri"/>
              <a:sym typeface="Calibri"/>
            </a:endParaRPr>
          </a:p>
        </p:txBody>
      </p:sp>
      <p:sp>
        <p:nvSpPr>
          <p:cNvPr id="391" name="Google Shape;391;p32"/>
          <p:cNvSpPr txBox="1"/>
          <p:nvPr/>
        </p:nvSpPr>
        <p:spPr>
          <a:xfrm>
            <a:off x="6000750" y="3147822"/>
            <a:ext cx="185166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Grip strength (+5 kg)</a:t>
            </a:r>
            <a:endParaRPr sz="1100">
              <a:solidFill>
                <a:schemeClr val="dk1"/>
              </a:solidFill>
              <a:latin typeface="Calibri"/>
              <a:ea typeface="Calibri"/>
              <a:cs typeface="Calibri"/>
              <a:sym typeface="Calibri"/>
            </a:endParaRPr>
          </a:p>
        </p:txBody>
      </p:sp>
      <p:sp>
        <p:nvSpPr>
          <p:cNvPr id="392" name="Google Shape;392;p32"/>
          <p:cNvSpPr txBox="1"/>
          <p:nvPr/>
        </p:nvSpPr>
        <p:spPr>
          <a:xfrm>
            <a:off x="7749540" y="3147822"/>
            <a:ext cx="822960" cy="3429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57A82"/>
              </a:buClr>
              <a:buSzPts val="1700"/>
              <a:buFont typeface="Cambria"/>
              <a:buNone/>
            </a:pPr>
            <a:r>
              <a:rPr b="1" lang="en-GB" sz="1700">
                <a:solidFill>
                  <a:srgbClr val="157A82"/>
                </a:solidFill>
                <a:latin typeface="Cambria"/>
                <a:ea typeface="Cambria"/>
                <a:cs typeface="Cambria"/>
                <a:sym typeface="Cambria"/>
              </a:rPr>
              <a:t>0.90</a:t>
            </a:r>
            <a:endParaRPr sz="1700">
              <a:solidFill>
                <a:schemeClr val="dk1"/>
              </a:solidFill>
              <a:latin typeface="Calibri"/>
              <a:ea typeface="Calibri"/>
              <a:cs typeface="Calibri"/>
              <a:sym typeface="Calibri"/>
            </a:endParaRPr>
          </a:p>
        </p:txBody>
      </p:sp>
      <p:sp>
        <p:nvSpPr>
          <p:cNvPr id="393" name="Google Shape;393;p32"/>
          <p:cNvSpPr txBox="1"/>
          <p:nvPr/>
        </p:nvSpPr>
        <p:spPr>
          <a:xfrm>
            <a:off x="6000750" y="3614166"/>
            <a:ext cx="185166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lang="en-GB" sz="1100">
                <a:solidFill>
                  <a:schemeClr val="dk1"/>
                </a:solidFill>
                <a:latin typeface="Calibri"/>
                <a:ea typeface="Calibri"/>
                <a:cs typeface="Calibri"/>
                <a:sym typeface="Calibri"/>
              </a:rPr>
              <a:t>Female</a:t>
            </a:r>
            <a:endParaRPr sz="1100">
              <a:solidFill>
                <a:schemeClr val="dk1"/>
              </a:solidFill>
              <a:latin typeface="Calibri"/>
              <a:ea typeface="Calibri"/>
              <a:cs typeface="Calibri"/>
              <a:sym typeface="Calibri"/>
            </a:endParaRPr>
          </a:p>
        </p:txBody>
      </p:sp>
      <p:sp>
        <p:nvSpPr>
          <p:cNvPr id="394" name="Google Shape;394;p32"/>
          <p:cNvSpPr txBox="1"/>
          <p:nvPr/>
        </p:nvSpPr>
        <p:spPr>
          <a:xfrm>
            <a:off x="7749540" y="3614166"/>
            <a:ext cx="822960" cy="3429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57A82"/>
              </a:buClr>
              <a:buSzPts val="1700"/>
              <a:buFont typeface="Cambria"/>
              <a:buNone/>
            </a:pPr>
            <a:r>
              <a:rPr b="1" lang="en-GB" sz="1700">
                <a:solidFill>
                  <a:srgbClr val="157A82"/>
                </a:solidFill>
                <a:latin typeface="Cambria"/>
                <a:ea typeface="Cambria"/>
                <a:cs typeface="Cambria"/>
                <a:sym typeface="Cambria"/>
              </a:rPr>
              <a:t>0.64</a:t>
            </a:r>
            <a:endParaRPr sz="1700">
              <a:solidFill>
                <a:schemeClr val="dk1"/>
              </a:solidFill>
              <a:latin typeface="Calibri"/>
              <a:ea typeface="Calibri"/>
              <a:cs typeface="Calibri"/>
              <a:sym typeface="Calibri"/>
            </a:endParaRPr>
          </a:p>
        </p:txBody>
      </p:sp>
      <p:sp>
        <p:nvSpPr>
          <p:cNvPr id="395" name="Google Shape;395;p32"/>
          <p:cNvSpPr txBox="1"/>
          <p:nvPr/>
        </p:nvSpPr>
        <p:spPr>
          <a:xfrm>
            <a:off x="6000750" y="4080510"/>
            <a:ext cx="2606040" cy="30861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F75"/>
              </a:buClr>
              <a:buSzPts val="800"/>
              <a:buFont typeface="Calibri"/>
              <a:buNone/>
            </a:pPr>
            <a:r>
              <a:rPr i="1" lang="en-GB" sz="800">
                <a:solidFill>
                  <a:srgbClr val="5F6F75"/>
                </a:solidFill>
                <a:latin typeface="Calibri"/>
                <a:ea typeface="Calibri"/>
                <a:cs typeface="Calibri"/>
                <a:sym typeface="Calibri"/>
              </a:rPr>
              <a:t>Chronic diseases and income: no clear association once function is included (p ≥ 0.28)</a:t>
            </a:r>
            <a:endParaRPr sz="800">
              <a:solidFill>
                <a:schemeClr val="dk1"/>
              </a:solidFill>
              <a:latin typeface="Calibri"/>
              <a:ea typeface="Calibri"/>
              <a:cs typeface="Calibri"/>
              <a:sym typeface="Calibri"/>
            </a:endParaRPr>
          </a:p>
        </p:txBody>
      </p:sp>
      <p:sp>
        <p:nvSpPr>
          <p:cNvPr id="396" name="Google Shape;396;p32"/>
          <p:cNvSpPr txBox="1"/>
          <p:nvPr>
            <p:ph idx="4294967295" type="sldNum"/>
          </p:nvPr>
        </p:nvSpPr>
        <p:spPr>
          <a:xfrm>
            <a:off x="8435340" y="4800600"/>
            <a:ext cx="342900" cy="205740"/>
          </a:xfrm>
          <a:prstGeom prst="rect">
            <a:avLst/>
          </a:prstGeom>
          <a:noFill/>
          <a:ln>
            <a:noFill/>
          </a:ln>
        </p:spPr>
        <p:txBody>
          <a:bodyPr anchorCtr="0" anchor="t" bIns="34275" lIns="68575" spcFirstLastPara="1" rIns="68575" wrap="square" tIns="34275">
            <a:noAutofit/>
          </a:bodyPr>
          <a:lstStyle/>
          <a:p>
            <a:pPr indent="0" lvl="0" marL="0" marR="0" rtl="0" algn="r">
              <a:spcBef>
                <a:spcPts val="0"/>
              </a:spcBef>
              <a:spcAft>
                <a:spcPts val="0"/>
              </a:spcAft>
              <a:buNone/>
            </a:pPr>
            <a:fld id="{00000000-1234-1234-1234-123412341234}" type="slidenum">
              <a:rPr b="0" lang="en-GB" sz="800">
                <a:solidFill>
                  <a:srgbClr val="5F6F75"/>
                </a:solidFill>
                <a:latin typeface="Calibri"/>
                <a:ea typeface="Calibri"/>
                <a:cs typeface="Calibri"/>
                <a:sym typeface="Calibri"/>
              </a:rPr>
              <a:t>‹#›</a:t>
            </a:fld>
            <a:endParaRPr sz="800">
              <a:solidFill>
                <a:srgbClr val="5F6F75"/>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1" name="Shape 401"/>
        <p:cNvGrpSpPr/>
        <p:nvPr/>
      </p:nvGrpSpPr>
      <p:grpSpPr>
        <a:xfrm>
          <a:off x="0" y="0"/>
          <a:ext cx="0" cy="0"/>
          <a:chOff x="0" y="0"/>
          <a:chExt cx="0" cy="0"/>
        </a:xfrm>
      </p:grpSpPr>
      <p:sp>
        <p:nvSpPr>
          <p:cNvPr id="402" name="Google Shape;402;p33"/>
          <p:cNvSpPr txBox="1"/>
          <p:nvPr>
            <p:ph type="title"/>
          </p:nvPr>
        </p:nvSpPr>
        <p:spPr>
          <a:xfrm>
            <a:off x="411480" y="240030"/>
            <a:ext cx="7063740" cy="65151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2100"/>
              <a:buFont typeface="Cambria"/>
              <a:buNone/>
            </a:pPr>
            <a:r>
              <a:rPr b="1" lang="en-GB" sz="2100">
                <a:solidFill>
                  <a:schemeClr val="dk2"/>
                </a:solidFill>
                <a:latin typeface="Cambria"/>
                <a:ea typeface="Cambria"/>
                <a:cs typeface="Cambria"/>
                <a:sym typeface="Cambria"/>
              </a:rPr>
              <a:t>The result holds when we change the design</a:t>
            </a:r>
            <a:endParaRPr sz="2100"/>
          </a:p>
        </p:txBody>
      </p:sp>
      <p:pic>
        <p:nvPicPr>
          <p:cNvPr id="403" name="Google Shape;403;p33"/>
          <p:cNvPicPr preferRelativeResize="0"/>
          <p:nvPr/>
        </p:nvPicPr>
        <p:blipFill rotWithShape="1">
          <a:blip r:embed="rId3">
            <a:alphaModFix/>
          </a:blip>
          <a:srcRect b="0" l="0" r="0" t="0"/>
          <a:stretch/>
        </p:blipFill>
        <p:spPr>
          <a:xfrm>
            <a:off x="274320" y="994410"/>
            <a:ext cx="5417820" cy="3429000"/>
          </a:xfrm>
          <a:prstGeom prst="rect">
            <a:avLst/>
          </a:prstGeom>
          <a:noFill/>
          <a:ln>
            <a:noFill/>
          </a:ln>
        </p:spPr>
      </p:pic>
      <p:sp>
        <p:nvSpPr>
          <p:cNvPr id="404" name="Google Shape;404;p33"/>
          <p:cNvSpPr txBox="1"/>
          <p:nvPr/>
        </p:nvSpPr>
        <p:spPr>
          <a:xfrm>
            <a:off x="411480" y="4457700"/>
            <a:ext cx="51435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F6F75"/>
              </a:buClr>
              <a:buSzPts val="800"/>
              <a:buFont typeface="Calibri"/>
              <a:buNone/>
            </a:pPr>
            <a:r>
              <a:rPr i="1" lang="en-GB" sz="800">
                <a:solidFill>
                  <a:srgbClr val="5F6F75"/>
                </a:solidFill>
                <a:latin typeface="Calibri"/>
                <a:ea typeface="Calibri"/>
                <a:cs typeface="Calibri"/>
                <a:sym typeface="Calibri"/>
              </a:rPr>
              <a:t>Axis starts at 0.70. Rolling: trained only on earlier waves.</a:t>
            </a:r>
            <a:endParaRPr sz="800">
              <a:solidFill>
                <a:schemeClr val="dk1"/>
              </a:solidFill>
              <a:latin typeface="Calibri"/>
              <a:ea typeface="Calibri"/>
              <a:cs typeface="Calibri"/>
              <a:sym typeface="Calibri"/>
            </a:endParaRPr>
          </a:p>
        </p:txBody>
      </p:sp>
      <p:sp>
        <p:nvSpPr>
          <p:cNvPr id="405" name="Google Shape;405;p33"/>
          <p:cNvSpPr/>
          <p:nvPr/>
        </p:nvSpPr>
        <p:spPr>
          <a:xfrm>
            <a:off x="5966460" y="1028700"/>
            <a:ext cx="2743200" cy="754380"/>
          </a:xfrm>
          <a:prstGeom prst="roundRect">
            <a:avLst>
              <a:gd fmla="val 7273" name="adj"/>
            </a:avLst>
          </a:prstGeom>
          <a:solidFill>
            <a:srgbClr val="EEF3F3"/>
          </a:solidFill>
          <a:ln cap="flat" cmpd="sng" w="12700">
            <a:solidFill>
              <a:srgbClr val="EEF3F3"/>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06" name="Google Shape;406;p33"/>
          <p:cNvSpPr txBox="1"/>
          <p:nvPr/>
        </p:nvSpPr>
        <p:spPr>
          <a:xfrm>
            <a:off x="6103620" y="1028700"/>
            <a:ext cx="2503170" cy="7543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23B44"/>
              </a:buClr>
              <a:buSzPts val="1100"/>
              <a:buFont typeface="Calibri"/>
              <a:buNone/>
            </a:pPr>
            <a:r>
              <a:rPr b="1" lang="en-GB" sz="1100">
                <a:solidFill>
                  <a:srgbClr val="123B44"/>
                </a:solidFill>
                <a:latin typeface="Calibri"/>
                <a:ea typeface="Calibri"/>
                <a:cs typeface="Calibri"/>
                <a:sym typeface="Calibri"/>
              </a:rPr>
              <a:t>Attrition reweighting</a:t>
            </a:r>
            <a:endParaRPr sz="1100">
              <a:solidFill>
                <a:schemeClr val="dk1"/>
              </a:solidFill>
              <a:latin typeface="Calibri"/>
              <a:ea typeface="Calibri"/>
              <a:cs typeface="Calibri"/>
              <a:sym typeface="Calibri"/>
            </a:endParaRPr>
          </a:p>
          <a:p>
            <a:pPr indent="0" lvl="0" marL="0" marR="0" rtl="0" algn="l">
              <a:spcBef>
                <a:spcPts val="0"/>
              </a:spcBef>
              <a:spcAft>
                <a:spcPts val="0"/>
              </a:spcAft>
              <a:buClr>
                <a:srgbClr val="1F2D33"/>
              </a:buClr>
              <a:buSzPts val="1000"/>
              <a:buFont typeface="Calibri"/>
              <a:buNone/>
            </a:pPr>
            <a:r>
              <a:rPr lang="en-GB" sz="1000">
                <a:solidFill>
                  <a:srgbClr val="1F2D33"/>
                </a:solidFill>
                <a:latin typeface="Calibri"/>
                <a:ea typeface="Calibri"/>
                <a:cs typeface="Calibri"/>
                <a:sym typeface="Calibri"/>
              </a:rPr>
              <a:t>AUC unchanged (LR set C 0.763 → 0.763)</a:t>
            </a:r>
            <a:endParaRPr sz="1100">
              <a:solidFill>
                <a:schemeClr val="dk1"/>
              </a:solidFill>
              <a:latin typeface="Calibri"/>
              <a:ea typeface="Calibri"/>
              <a:cs typeface="Calibri"/>
              <a:sym typeface="Calibri"/>
            </a:endParaRPr>
          </a:p>
        </p:txBody>
      </p:sp>
      <p:sp>
        <p:nvSpPr>
          <p:cNvPr id="407" name="Google Shape;407;p33"/>
          <p:cNvSpPr/>
          <p:nvPr/>
        </p:nvSpPr>
        <p:spPr>
          <a:xfrm>
            <a:off x="5966460" y="1885950"/>
            <a:ext cx="2743200" cy="754380"/>
          </a:xfrm>
          <a:prstGeom prst="roundRect">
            <a:avLst>
              <a:gd fmla="val 7273" name="adj"/>
            </a:avLst>
          </a:prstGeom>
          <a:solidFill>
            <a:srgbClr val="EEF3F3"/>
          </a:solidFill>
          <a:ln cap="flat" cmpd="sng" w="12700">
            <a:solidFill>
              <a:srgbClr val="EEF3F3"/>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08" name="Google Shape;408;p33"/>
          <p:cNvSpPr txBox="1"/>
          <p:nvPr/>
        </p:nvSpPr>
        <p:spPr>
          <a:xfrm>
            <a:off x="6103620" y="1885950"/>
            <a:ext cx="2503170" cy="7543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23B44"/>
              </a:buClr>
              <a:buSzPts val="1100"/>
              <a:buFont typeface="Calibri"/>
              <a:buNone/>
            </a:pPr>
            <a:r>
              <a:rPr b="1" lang="en-GB" sz="1100">
                <a:solidFill>
                  <a:srgbClr val="123B44"/>
                </a:solidFill>
                <a:latin typeface="Calibri"/>
                <a:ea typeface="Calibri"/>
                <a:cs typeface="Calibri"/>
                <a:sym typeface="Calibri"/>
              </a:rPr>
              <a:t>Stricter outcome ADL ≥ 2</a:t>
            </a:r>
            <a:endParaRPr sz="1100">
              <a:solidFill>
                <a:schemeClr val="dk1"/>
              </a:solidFill>
              <a:latin typeface="Calibri"/>
              <a:ea typeface="Calibri"/>
              <a:cs typeface="Calibri"/>
              <a:sym typeface="Calibri"/>
            </a:endParaRPr>
          </a:p>
          <a:p>
            <a:pPr indent="0" lvl="0" marL="0" marR="0" rtl="0" algn="l">
              <a:spcBef>
                <a:spcPts val="0"/>
              </a:spcBef>
              <a:spcAft>
                <a:spcPts val="0"/>
              </a:spcAft>
              <a:buClr>
                <a:srgbClr val="1F2D33"/>
              </a:buClr>
              <a:buSzPts val="1000"/>
              <a:buFont typeface="Calibri"/>
              <a:buNone/>
            </a:pPr>
            <a:r>
              <a:rPr lang="en-GB" sz="1000">
                <a:solidFill>
                  <a:srgbClr val="1F2D33"/>
                </a:solidFill>
                <a:latin typeface="Calibri"/>
                <a:ea typeface="Calibri"/>
                <a:cs typeface="Calibri"/>
                <a:sym typeface="Calibri"/>
              </a:rPr>
              <a:t>higher AUC: 0.810 (LR set C)</a:t>
            </a:r>
            <a:endParaRPr sz="1100">
              <a:solidFill>
                <a:schemeClr val="dk1"/>
              </a:solidFill>
              <a:latin typeface="Calibri"/>
              <a:ea typeface="Calibri"/>
              <a:cs typeface="Calibri"/>
              <a:sym typeface="Calibri"/>
            </a:endParaRPr>
          </a:p>
        </p:txBody>
      </p:sp>
      <p:sp>
        <p:nvSpPr>
          <p:cNvPr id="409" name="Google Shape;409;p33"/>
          <p:cNvSpPr/>
          <p:nvPr/>
        </p:nvSpPr>
        <p:spPr>
          <a:xfrm>
            <a:off x="5966460" y="2743200"/>
            <a:ext cx="2743200" cy="754380"/>
          </a:xfrm>
          <a:prstGeom prst="roundRect">
            <a:avLst>
              <a:gd fmla="val 7273" name="adj"/>
            </a:avLst>
          </a:prstGeom>
          <a:solidFill>
            <a:srgbClr val="EEF3F3"/>
          </a:solidFill>
          <a:ln cap="flat" cmpd="sng" w="12700">
            <a:solidFill>
              <a:srgbClr val="EEF3F3"/>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10" name="Google Shape;410;p33"/>
          <p:cNvSpPr txBox="1"/>
          <p:nvPr/>
        </p:nvSpPr>
        <p:spPr>
          <a:xfrm>
            <a:off x="6103620" y="2743200"/>
            <a:ext cx="2503170" cy="7543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23B44"/>
              </a:buClr>
              <a:buSzPts val="1100"/>
              <a:buFont typeface="Calibri"/>
              <a:buNone/>
            </a:pPr>
            <a:r>
              <a:rPr b="1" lang="en-GB" sz="1100">
                <a:solidFill>
                  <a:srgbClr val="123B44"/>
                </a:solidFill>
                <a:latin typeface="Calibri"/>
                <a:ea typeface="Calibri"/>
                <a:cs typeface="Calibri"/>
                <a:sym typeface="Calibri"/>
              </a:rPr>
              <a:t>Household-grouped CV</a:t>
            </a:r>
            <a:endParaRPr sz="1100">
              <a:solidFill>
                <a:schemeClr val="dk1"/>
              </a:solidFill>
              <a:latin typeface="Calibri"/>
              <a:ea typeface="Calibri"/>
              <a:cs typeface="Calibri"/>
              <a:sym typeface="Calibri"/>
            </a:endParaRPr>
          </a:p>
          <a:p>
            <a:pPr indent="0" lvl="0" marL="0" marR="0" rtl="0" algn="l">
              <a:spcBef>
                <a:spcPts val="0"/>
              </a:spcBef>
              <a:spcAft>
                <a:spcPts val="0"/>
              </a:spcAft>
              <a:buClr>
                <a:srgbClr val="1F2D33"/>
              </a:buClr>
              <a:buSzPts val="1000"/>
              <a:buFont typeface="Calibri"/>
              <a:buNone/>
            </a:pPr>
            <a:r>
              <a:rPr lang="en-GB" sz="1000">
                <a:solidFill>
                  <a:srgbClr val="1F2D33"/>
                </a:solidFill>
                <a:latin typeface="Calibri"/>
                <a:ea typeface="Calibri"/>
                <a:cs typeface="Calibri"/>
                <a:sym typeface="Calibri"/>
              </a:rPr>
              <a:t>0.756 / 0.773 / 0.790 (LR B, LR C, LR D)</a:t>
            </a:r>
            <a:endParaRPr sz="1100">
              <a:solidFill>
                <a:schemeClr val="dk1"/>
              </a:solidFill>
              <a:latin typeface="Calibri"/>
              <a:ea typeface="Calibri"/>
              <a:cs typeface="Calibri"/>
              <a:sym typeface="Calibri"/>
            </a:endParaRPr>
          </a:p>
        </p:txBody>
      </p:sp>
      <p:sp>
        <p:nvSpPr>
          <p:cNvPr id="411" name="Google Shape;411;p33"/>
          <p:cNvSpPr/>
          <p:nvPr/>
        </p:nvSpPr>
        <p:spPr>
          <a:xfrm>
            <a:off x="5966460" y="3600450"/>
            <a:ext cx="2743200" cy="754380"/>
          </a:xfrm>
          <a:prstGeom prst="roundRect">
            <a:avLst>
              <a:gd fmla="val 7273" name="adj"/>
            </a:avLst>
          </a:prstGeom>
          <a:solidFill>
            <a:srgbClr val="EEF3F3"/>
          </a:solidFill>
          <a:ln cap="flat" cmpd="sng" w="12700">
            <a:solidFill>
              <a:srgbClr val="EEF3F3"/>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12" name="Google Shape;412;p33"/>
          <p:cNvSpPr txBox="1"/>
          <p:nvPr/>
        </p:nvSpPr>
        <p:spPr>
          <a:xfrm>
            <a:off x="6103620" y="3600450"/>
            <a:ext cx="2503170" cy="7543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23B44"/>
              </a:buClr>
              <a:buSzPts val="1100"/>
              <a:buFont typeface="Calibri"/>
              <a:buNone/>
            </a:pPr>
            <a:r>
              <a:rPr b="1" lang="en-GB" sz="1100">
                <a:solidFill>
                  <a:srgbClr val="123B44"/>
                </a:solidFill>
                <a:latin typeface="Calibri"/>
                <a:ea typeface="Calibri"/>
                <a:cs typeface="Calibri"/>
                <a:sym typeface="Calibri"/>
              </a:rPr>
              <a:t>Smoking, interval, log doctor visits</a:t>
            </a:r>
            <a:endParaRPr sz="1100">
              <a:solidFill>
                <a:schemeClr val="dk1"/>
              </a:solidFill>
              <a:latin typeface="Calibri"/>
              <a:ea typeface="Calibri"/>
              <a:cs typeface="Calibri"/>
              <a:sym typeface="Calibri"/>
            </a:endParaRPr>
          </a:p>
          <a:p>
            <a:pPr indent="0" lvl="0" marL="0" marR="0" rtl="0" algn="l">
              <a:spcBef>
                <a:spcPts val="0"/>
              </a:spcBef>
              <a:spcAft>
                <a:spcPts val="0"/>
              </a:spcAft>
              <a:buClr>
                <a:srgbClr val="1F2D33"/>
              </a:buClr>
              <a:buSzPts val="1000"/>
              <a:buFont typeface="Calibri"/>
              <a:buNone/>
            </a:pPr>
            <a:r>
              <a:rPr lang="en-GB" sz="1000">
                <a:solidFill>
                  <a:srgbClr val="1F2D33"/>
                </a:solidFill>
                <a:latin typeface="Calibri"/>
                <a:ea typeface="Calibri"/>
                <a:cs typeface="Calibri"/>
                <a:sym typeface="Calibri"/>
              </a:rPr>
              <a:t>AUC change &lt; 0.001</a:t>
            </a:r>
            <a:endParaRPr sz="1100">
              <a:solidFill>
                <a:schemeClr val="dk1"/>
              </a:solidFill>
              <a:latin typeface="Calibri"/>
              <a:ea typeface="Calibri"/>
              <a:cs typeface="Calibri"/>
              <a:sym typeface="Calibri"/>
            </a:endParaRPr>
          </a:p>
        </p:txBody>
      </p:sp>
      <p:sp>
        <p:nvSpPr>
          <p:cNvPr id="413" name="Google Shape;413;p33"/>
          <p:cNvSpPr txBox="1"/>
          <p:nvPr>
            <p:ph idx="4294967295" type="sldNum"/>
          </p:nvPr>
        </p:nvSpPr>
        <p:spPr>
          <a:xfrm>
            <a:off x="8435340" y="4800600"/>
            <a:ext cx="342900" cy="205740"/>
          </a:xfrm>
          <a:prstGeom prst="rect">
            <a:avLst/>
          </a:prstGeom>
          <a:noFill/>
          <a:ln>
            <a:noFill/>
          </a:ln>
        </p:spPr>
        <p:txBody>
          <a:bodyPr anchorCtr="0" anchor="t" bIns="34275" lIns="68575" spcFirstLastPara="1" rIns="68575" wrap="square" tIns="34275">
            <a:noAutofit/>
          </a:bodyPr>
          <a:lstStyle/>
          <a:p>
            <a:pPr indent="0" lvl="0" marL="0" marR="0" rtl="0" algn="r">
              <a:spcBef>
                <a:spcPts val="0"/>
              </a:spcBef>
              <a:spcAft>
                <a:spcPts val="0"/>
              </a:spcAft>
              <a:buNone/>
            </a:pPr>
            <a:fld id="{00000000-1234-1234-1234-123412341234}" type="slidenum">
              <a:rPr b="0" lang="en-GB" sz="800">
                <a:solidFill>
                  <a:srgbClr val="5F6F75"/>
                </a:solidFill>
                <a:latin typeface="Calibri"/>
                <a:ea typeface="Calibri"/>
                <a:cs typeface="Calibri"/>
                <a:sym typeface="Calibri"/>
              </a:rPr>
              <a:t>‹#›</a:t>
            </a:fld>
            <a:endParaRPr sz="800">
              <a:solidFill>
                <a:srgbClr val="5F6F75"/>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8" name="Shape 418"/>
        <p:cNvGrpSpPr/>
        <p:nvPr/>
      </p:nvGrpSpPr>
      <p:grpSpPr>
        <a:xfrm>
          <a:off x="0" y="0"/>
          <a:ext cx="0" cy="0"/>
          <a:chOff x="0" y="0"/>
          <a:chExt cx="0" cy="0"/>
        </a:xfrm>
      </p:grpSpPr>
      <p:sp>
        <p:nvSpPr>
          <p:cNvPr id="419" name="Google Shape;419;p34"/>
          <p:cNvSpPr txBox="1"/>
          <p:nvPr>
            <p:ph type="title"/>
          </p:nvPr>
        </p:nvSpPr>
        <p:spPr>
          <a:xfrm>
            <a:off x="411480" y="240030"/>
            <a:ext cx="7063740" cy="65151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2100"/>
              <a:buFont typeface="Cambria"/>
              <a:buNone/>
            </a:pPr>
            <a:r>
              <a:rPr b="1" lang="en-GB" sz="2100">
                <a:solidFill>
                  <a:schemeClr val="dk2"/>
                </a:solidFill>
                <a:latin typeface="Cambria"/>
                <a:ea typeface="Cambria"/>
                <a:cs typeface="Cambria"/>
                <a:sym typeface="Cambria"/>
              </a:rPr>
              <a:t>Limits to keep in mind, and what we would do next</a:t>
            </a:r>
            <a:endParaRPr sz="2100"/>
          </a:p>
        </p:txBody>
      </p:sp>
      <p:sp>
        <p:nvSpPr>
          <p:cNvPr id="420" name="Google Shape;420;p34"/>
          <p:cNvSpPr/>
          <p:nvPr/>
        </p:nvSpPr>
        <p:spPr>
          <a:xfrm>
            <a:off x="411480" y="1028700"/>
            <a:ext cx="4080510" cy="3429000"/>
          </a:xfrm>
          <a:prstGeom prst="roundRect">
            <a:avLst>
              <a:gd fmla="val 1600" name="adj"/>
            </a:avLst>
          </a:prstGeom>
          <a:solidFill>
            <a:srgbClr val="EEF3F3"/>
          </a:solidFill>
          <a:ln cap="flat" cmpd="sng" w="12700">
            <a:solidFill>
              <a:srgbClr val="EEF3F3"/>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21" name="Google Shape;421;p34"/>
          <p:cNvSpPr/>
          <p:nvPr/>
        </p:nvSpPr>
        <p:spPr>
          <a:xfrm>
            <a:off x="617220" y="1165860"/>
            <a:ext cx="411480" cy="41148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Limitations" id="422" name="Google Shape;422;p34"/>
          <p:cNvPicPr preferRelativeResize="0"/>
          <p:nvPr/>
        </p:nvPicPr>
        <p:blipFill rotWithShape="1">
          <a:blip r:embed="rId3">
            <a:alphaModFix/>
          </a:blip>
          <a:srcRect b="0" l="0" r="0" t="0"/>
          <a:stretch/>
        </p:blipFill>
        <p:spPr>
          <a:xfrm>
            <a:off x="706374" y="1255014"/>
            <a:ext cx="233172" cy="233172"/>
          </a:xfrm>
          <a:prstGeom prst="rect">
            <a:avLst/>
          </a:prstGeom>
          <a:noFill/>
          <a:ln>
            <a:noFill/>
          </a:ln>
        </p:spPr>
      </p:pic>
      <p:sp>
        <p:nvSpPr>
          <p:cNvPr id="423" name="Google Shape;423;p34"/>
          <p:cNvSpPr txBox="1"/>
          <p:nvPr/>
        </p:nvSpPr>
        <p:spPr>
          <a:xfrm>
            <a:off x="1131570" y="1165860"/>
            <a:ext cx="30861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4572E"/>
              </a:buClr>
              <a:buSzPts val="1500"/>
              <a:buFont typeface="Calibri"/>
              <a:buNone/>
            </a:pPr>
            <a:r>
              <a:rPr b="1" lang="en-GB" sz="1500">
                <a:solidFill>
                  <a:srgbClr val="E4572E"/>
                </a:solidFill>
                <a:latin typeface="Calibri"/>
                <a:ea typeface="Calibri"/>
                <a:cs typeface="Calibri"/>
                <a:sym typeface="Calibri"/>
              </a:rPr>
              <a:t>Limitations</a:t>
            </a:r>
            <a:endParaRPr sz="1500">
              <a:solidFill>
                <a:schemeClr val="dk1"/>
              </a:solidFill>
              <a:latin typeface="Calibri"/>
              <a:ea typeface="Calibri"/>
              <a:cs typeface="Calibri"/>
              <a:sym typeface="Calibri"/>
            </a:endParaRPr>
          </a:p>
        </p:txBody>
      </p:sp>
      <p:sp>
        <p:nvSpPr>
          <p:cNvPr id="424" name="Google Shape;424;p34"/>
          <p:cNvSpPr txBox="1"/>
          <p:nvPr/>
        </p:nvSpPr>
        <p:spPr>
          <a:xfrm>
            <a:off x="617220" y="1714500"/>
            <a:ext cx="3703320" cy="2674620"/>
          </a:xfrm>
          <a:prstGeom prst="rect">
            <a:avLst/>
          </a:prstGeom>
          <a:noFill/>
          <a:ln>
            <a:noFill/>
          </a:ln>
        </p:spPr>
        <p:txBody>
          <a:bodyPr anchorCtr="0" anchor="t" bIns="0" lIns="0" spcFirstLastPara="1" rIns="0" wrap="square" tIns="0">
            <a:noAutofit/>
          </a:bodyPr>
          <a:lstStyle/>
          <a:p>
            <a:pPr indent="-260350" lvl="0" marL="254000" marR="0" rtl="0" algn="l">
              <a:spcBef>
                <a:spcPts val="0"/>
              </a:spcBef>
              <a:spcAft>
                <a:spcPts val="0"/>
              </a:spcAft>
              <a:buClr>
                <a:schemeClr val="dk1"/>
              </a:buClr>
              <a:buSzPts val="1100"/>
              <a:buFont typeface="Calibri"/>
              <a:buChar char="•"/>
            </a:pPr>
            <a:r>
              <a:rPr lang="en-GB" sz="1100">
                <a:solidFill>
                  <a:schemeClr val="dk1"/>
                </a:solidFill>
                <a:latin typeface="Calibri"/>
                <a:ea typeface="Calibri"/>
                <a:cs typeface="Calibri"/>
                <a:sym typeface="Calibri"/>
              </a:rPr>
              <a:t>Moderate precision: 30% of flagged people decline (43% recall); outcome is self-reported</a:t>
            </a:r>
            <a:endParaRPr sz="1100">
              <a:solidFill>
                <a:schemeClr val="dk1"/>
              </a:solidFill>
              <a:latin typeface="Calibri"/>
              <a:ea typeface="Calibri"/>
              <a:cs typeface="Calibri"/>
              <a:sym typeface="Calibri"/>
            </a:endParaRPr>
          </a:p>
          <a:p>
            <a:pPr indent="-260350" lvl="0" marL="254000" marR="0" rtl="0" algn="l">
              <a:spcBef>
                <a:spcPts val="600"/>
              </a:spcBef>
              <a:spcAft>
                <a:spcPts val="0"/>
              </a:spcAft>
              <a:buClr>
                <a:schemeClr val="dk1"/>
              </a:buClr>
              <a:buSzPts val="1100"/>
              <a:buFont typeface="Calibri"/>
              <a:buChar char="•"/>
            </a:pPr>
            <a:r>
              <a:rPr lang="en-GB" sz="1100">
                <a:solidFill>
                  <a:schemeClr val="dk1"/>
                </a:solidFill>
                <a:latin typeface="Calibri"/>
                <a:ea typeface="Calibri"/>
                <a:cs typeface="Calibri"/>
                <a:sym typeface="Calibri"/>
              </a:rPr>
              <a:t>Drop-outs and deaths unobserved: reweighting gives 9.7% vs 9.0% observed</a:t>
            </a:r>
            <a:endParaRPr sz="1100">
              <a:solidFill>
                <a:schemeClr val="dk1"/>
              </a:solidFill>
              <a:latin typeface="Calibri"/>
              <a:ea typeface="Calibri"/>
              <a:cs typeface="Calibri"/>
              <a:sym typeface="Calibri"/>
            </a:endParaRPr>
          </a:p>
          <a:p>
            <a:pPr indent="-260350" lvl="0" marL="254000" marR="0" rtl="0" algn="l">
              <a:spcBef>
                <a:spcPts val="600"/>
              </a:spcBef>
              <a:spcAft>
                <a:spcPts val="0"/>
              </a:spcAft>
              <a:buClr>
                <a:schemeClr val="dk1"/>
              </a:buClr>
              <a:buSzPts val="1100"/>
              <a:buFont typeface="Calibri"/>
              <a:buChar char="•"/>
            </a:pPr>
            <a:r>
              <a:rPr lang="en-GB" sz="1100">
                <a:solidFill>
                  <a:schemeClr val="dk1"/>
                </a:solidFill>
                <a:latin typeface="Calibri"/>
                <a:ea typeface="Calibri"/>
                <a:cs typeface="Calibri"/>
                <a:sym typeface="Calibri"/>
              </a:rPr>
              <a:t>SHARELIFE: 36% of test rows miss whole blocks; AUC is 0.015–0.019 lower for them</a:t>
            </a:r>
            <a:endParaRPr sz="1100">
              <a:solidFill>
                <a:schemeClr val="dk1"/>
              </a:solidFill>
              <a:latin typeface="Calibri"/>
              <a:ea typeface="Calibri"/>
              <a:cs typeface="Calibri"/>
              <a:sym typeface="Calibri"/>
            </a:endParaRPr>
          </a:p>
          <a:p>
            <a:pPr indent="-260350" lvl="0" marL="254000" marR="0" rtl="0" algn="l">
              <a:spcBef>
                <a:spcPts val="600"/>
              </a:spcBef>
              <a:spcAft>
                <a:spcPts val="0"/>
              </a:spcAft>
              <a:buClr>
                <a:schemeClr val="dk1"/>
              </a:buClr>
              <a:buSzPts val="1100"/>
              <a:buFont typeface="Calibri"/>
              <a:buChar char="•"/>
            </a:pPr>
            <a:r>
              <a:rPr lang="en-GB" sz="1100">
                <a:solidFill>
                  <a:schemeClr val="dk1"/>
                </a:solidFill>
                <a:latin typeface="Calibri"/>
                <a:ea typeface="Calibri"/>
                <a:cs typeface="Calibri"/>
                <a:sym typeface="Calibri"/>
              </a:rPr>
              <a:t>Test period reused for some design checks, so AUCs are slightly optimistic; income and doctor-visit caps set on all waves</a:t>
            </a:r>
            <a:endParaRPr sz="1100">
              <a:solidFill>
                <a:schemeClr val="dk1"/>
              </a:solidFill>
              <a:latin typeface="Calibri"/>
              <a:ea typeface="Calibri"/>
              <a:cs typeface="Calibri"/>
              <a:sym typeface="Calibri"/>
            </a:endParaRPr>
          </a:p>
        </p:txBody>
      </p:sp>
      <p:sp>
        <p:nvSpPr>
          <p:cNvPr id="425" name="Google Shape;425;p34"/>
          <p:cNvSpPr/>
          <p:nvPr/>
        </p:nvSpPr>
        <p:spPr>
          <a:xfrm>
            <a:off x="4629150" y="1028700"/>
            <a:ext cx="4080510" cy="3429000"/>
          </a:xfrm>
          <a:prstGeom prst="roundRect">
            <a:avLst>
              <a:gd fmla="val 1600" name="adj"/>
            </a:avLst>
          </a:prstGeom>
          <a:solidFill>
            <a:srgbClr val="EEF3F3"/>
          </a:solidFill>
          <a:ln cap="flat" cmpd="sng" w="12700">
            <a:solidFill>
              <a:srgbClr val="EEF3F3"/>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26" name="Google Shape;426;p34"/>
          <p:cNvSpPr/>
          <p:nvPr/>
        </p:nvSpPr>
        <p:spPr>
          <a:xfrm>
            <a:off x="4834890" y="1165860"/>
            <a:ext cx="411480" cy="41148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Future work" id="427" name="Google Shape;427;p34"/>
          <p:cNvPicPr preferRelativeResize="0"/>
          <p:nvPr/>
        </p:nvPicPr>
        <p:blipFill rotWithShape="1">
          <a:blip r:embed="rId4">
            <a:alphaModFix/>
          </a:blip>
          <a:srcRect b="0" l="0" r="0" t="0"/>
          <a:stretch/>
        </p:blipFill>
        <p:spPr>
          <a:xfrm>
            <a:off x="4924044" y="1255014"/>
            <a:ext cx="233172" cy="233172"/>
          </a:xfrm>
          <a:prstGeom prst="rect">
            <a:avLst/>
          </a:prstGeom>
          <a:noFill/>
          <a:ln>
            <a:noFill/>
          </a:ln>
        </p:spPr>
      </p:pic>
      <p:sp>
        <p:nvSpPr>
          <p:cNvPr id="428" name="Google Shape;428;p34"/>
          <p:cNvSpPr txBox="1"/>
          <p:nvPr/>
        </p:nvSpPr>
        <p:spPr>
          <a:xfrm>
            <a:off x="5349240" y="1165860"/>
            <a:ext cx="30861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57A82"/>
              </a:buClr>
              <a:buSzPts val="1500"/>
              <a:buFont typeface="Calibri"/>
              <a:buNone/>
            </a:pPr>
            <a:r>
              <a:rPr b="1" lang="en-GB" sz="1500">
                <a:solidFill>
                  <a:srgbClr val="157A82"/>
                </a:solidFill>
                <a:latin typeface="Calibri"/>
                <a:ea typeface="Calibri"/>
                <a:cs typeface="Calibri"/>
                <a:sym typeface="Calibri"/>
              </a:rPr>
              <a:t>Future work</a:t>
            </a:r>
            <a:endParaRPr sz="1500">
              <a:solidFill>
                <a:schemeClr val="dk1"/>
              </a:solidFill>
              <a:latin typeface="Calibri"/>
              <a:ea typeface="Calibri"/>
              <a:cs typeface="Calibri"/>
              <a:sym typeface="Calibri"/>
            </a:endParaRPr>
          </a:p>
        </p:txBody>
      </p:sp>
      <p:sp>
        <p:nvSpPr>
          <p:cNvPr id="429" name="Google Shape;429;p34"/>
          <p:cNvSpPr txBox="1"/>
          <p:nvPr/>
        </p:nvSpPr>
        <p:spPr>
          <a:xfrm>
            <a:off x="4834890" y="1714500"/>
            <a:ext cx="3703320" cy="2674620"/>
          </a:xfrm>
          <a:prstGeom prst="rect">
            <a:avLst/>
          </a:prstGeom>
          <a:noFill/>
          <a:ln>
            <a:noFill/>
          </a:ln>
        </p:spPr>
        <p:txBody>
          <a:bodyPr anchorCtr="0" anchor="t" bIns="0" lIns="0" spcFirstLastPara="1" rIns="0" wrap="square" tIns="0">
            <a:noAutofit/>
          </a:bodyPr>
          <a:lstStyle/>
          <a:p>
            <a:pPr indent="-260350" lvl="0" marL="254000" marR="0" rtl="0" algn="l">
              <a:spcBef>
                <a:spcPts val="0"/>
              </a:spcBef>
              <a:spcAft>
                <a:spcPts val="0"/>
              </a:spcAft>
              <a:buClr>
                <a:schemeClr val="dk1"/>
              </a:buClr>
              <a:buSzPts val="1100"/>
              <a:buFont typeface="Calibri"/>
              <a:buChar char="•"/>
            </a:pPr>
            <a:r>
              <a:rPr lang="en-GB" sz="1100">
                <a:solidFill>
                  <a:schemeClr val="dk1"/>
                </a:solidFill>
                <a:latin typeface="Calibri"/>
                <a:ea typeface="Calibri"/>
                <a:cs typeface="Calibri"/>
                <a:sym typeface="Calibri"/>
              </a:rPr>
              <a:t>Validate externally: other cohorts and the next SHARE wave</a:t>
            </a:r>
            <a:endParaRPr sz="1100">
              <a:solidFill>
                <a:schemeClr val="dk1"/>
              </a:solidFill>
              <a:latin typeface="Calibri"/>
              <a:ea typeface="Calibri"/>
              <a:cs typeface="Calibri"/>
              <a:sym typeface="Calibri"/>
            </a:endParaRPr>
          </a:p>
          <a:p>
            <a:pPr indent="-260350" lvl="0" marL="254000" marR="0" rtl="0" algn="l">
              <a:spcBef>
                <a:spcPts val="600"/>
              </a:spcBef>
              <a:spcAft>
                <a:spcPts val="0"/>
              </a:spcAft>
              <a:buClr>
                <a:schemeClr val="dk1"/>
              </a:buClr>
              <a:buSzPts val="1100"/>
              <a:buFont typeface="Calibri"/>
              <a:buChar char="•"/>
            </a:pPr>
            <a:r>
              <a:rPr lang="en-GB" sz="1100">
                <a:solidFill>
                  <a:schemeClr val="dk1"/>
                </a:solidFill>
                <a:latin typeface="Calibri"/>
                <a:ea typeface="Calibri"/>
                <a:cs typeface="Calibri"/>
                <a:sym typeface="Calibri"/>
              </a:rPr>
              <a:t>Make every design choice on validation; fit caps on training data only</a:t>
            </a:r>
            <a:endParaRPr sz="1100">
              <a:solidFill>
                <a:schemeClr val="dk1"/>
              </a:solidFill>
              <a:latin typeface="Calibri"/>
              <a:ea typeface="Calibri"/>
              <a:cs typeface="Calibri"/>
              <a:sym typeface="Calibri"/>
            </a:endParaRPr>
          </a:p>
          <a:p>
            <a:pPr indent="-260350" lvl="0" marL="254000" marR="0" rtl="0" algn="l">
              <a:spcBef>
                <a:spcPts val="600"/>
              </a:spcBef>
              <a:spcAft>
                <a:spcPts val="0"/>
              </a:spcAft>
              <a:buClr>
                <a:schemeClr val="dk1"/>
              </a:buClr>
              <a:buSzPts val="1100"/>
              <a:buFont typeface="Calibri"/>
              <a:buChar char="•"/>
            </a:pPr>
            <a:r>
              <a:rPr lang="en-GB" sz="1100">
                <a:solidFill>
                  <a:schemeClr val="dk1"/>
                </a:solidFill>
                <a:latin typeface="Calibri"/>
                <a:ea typeface="Calibri"/>
                <a:cs typeface="Calibri"/>
                <a:sym typeface="Calibri"/>
              </a:rPr>
              <a:t>Treat death as a competing outcome</a:t>
            </a:r>
            <a:endParaRPr sz="1100">
              <a:solidFill>
                <a:schemeClr val="dk1"/>
              </a:solidFill>
              <a:latin typeface="Calibri"/>
              <a:ea typeface="Calibri"/>
              <a:cs typeface="Calibri"/>
              <a:sym typeface="Calibri"/>
            </a:endParaRPr>
          </a:p>
          <a:p>
            <a:pPr indent="-260350" lvl="0" marL="254000" marR="0" rtl="0" algn="l">
              <a:spcBef>
                <a:spcPts val="600"/>
              </a:spcBef>
              <a:spcAft>
                <a:spcPts val="0"/>
              </a:spcAft>
              <a:buClr>
                <a:schemeClr val="dk1"/>
              </a:buClr>
              <a:buSzPts val="1100"/>
              <a:buFont typeface="Calibri"/>
              <a:buChar char="•"/>
            </a:pPr>
            <a:r>
              <a:rPr lang="en-GB" sz="1100">
                <a:solidFill>
                  <a:schemeClr val="dk1"/>
                </a:solidFill>
                <a:latin typeface="Calibri"/>
                <a:ea typeface="Calibri"/>
                <a:cs typeface="Calibri"/>
                <a:sym typeface="Calibri"/>
              </a:rPr>
              <a:t>Set the threshold with care providers from real costs</a:t>
            </a:r>
            <a:endParaRPr sz="1100">
              <a:solidFill>
                <a:schemeClr val="dk1"/>
              </a:solidFill>
              <a:latin typeface="Calibri"/>
              <a:ea typeface="Calibri"/>
              <a:cs typeface="Calibri"/>
              <a:sym typeface="Calibri"/>
            </a:endParaRPr>
          </a:p>
          <a:p>
            <a:pPr indent="-260350" lvl="0" marL="254000" marR="0" rtl="0" algn="l">
              <a:spcBef>
                <a:spcPts val="600"/>
              </a:spcBef>
              <a:spcAft>
                <a:spcPts val="0"/>
              </a:spcAft>
              <a:buClr>
                <a:schemeClr val="dk1"/>
              </a:buClr>
              <a:buSzPts val="1100"/>
              <a:buFont typeface="Calibri"/>
              <a:buChar char="•"/>
            </a:pPr>
            <a:r>
              <a:rPr lang="en-GB" sz="1100">
                <a:solidFill>
                  <a:schemeClr val="dk1"/>
                </a:solidFill>
                <a:latin typeface="Calibri"/>
                <a:ea typeface="Calibri"/>
                <a:cs typeface="Calibri"/>
                <a:sym typeface="Calibri"/>
              </a:rPr>
              <a:t>Recalibrate by country; report calibration slope</a:t>
            </a:r>
            <a:endParaRPr sz="1100">
              <a:solidFill>
                <a:schemeClr val="dk1"/>
              </a:solidFill>
              <a:latin typeface="Calibri"/>
              <a:ea typeface="Calibri"/>
              <a:cs typeface="Calibri"/>
              <a:sym typeface="Calibri"/>
            </a:endParaRPr>
          </a:p>
        </p:txBody>
      </p:sp>
      <p:sp>
        <p:nvSpPr>
          <p:cNvPr id="430" name="Google Shape;430;p34"/>
          <p:cNvSpPr txBox="1"/>
          <p:nvPr>
            <p:ph idx="4294967295" type="sldNum"/>
          </p:nvPr>
        </p:nvSpPr>
        <p:spPr>
          <a:xfrm>
            <a:off x="8435340" y="4800600"/>
            <a:ext cx="342900" cy="205740"/>
          </a:xfrm>
          <a:prstGeom prst="rect">
            <a:avLst/>
          </a:prstGeom>
          <a:noFill/>
          <a:ln>
            <a:noFill/>
          </a:ln>
        </p:spPr>
        <p:txBody>
          <a:bodyPr anchorCtr="0" anchor="t" bIns="34275" lIns="68575" spcFirstLastPara="1" rIns="68575" wrap="square" tIns="34275">
            <a:noAutofit/>
          </a:bodyPr>
          <a:lstStyle/>
          <a:p>
            <a:pPr indent="0" lvl="0" marL="0" marR="0" rtl="0" algn="r">
              <a:spcBef>
                <a:spcPts val="0"/>
              </a:spcBef>
              <a:spcAft>
                <a:spcPts val="0"/>
              </a:spcAft>
              <a:buNone/>
            </a:pPr>
            <a:fld id="{00000000-1234-1234-1234-123412341234}" type="slidenum">
              <a:rPr b="0" lang="en-GB" sz="800">
                <a:solidFill>
                  <a:srgbClr val="5F6F75"/>
                </a:solidFill>
                <a:latin typeface="Calibri"/>
                <a:ea typeface="Calibri"/>
                <a:cs typeface="Calibri"/>
                <a:sym typeface="Calibri"/>
              </a:rPr>
              <a:t>‹#›</a:t>
            </a:fld>
            <a:endParaRPr sz="800">
              <a:solidFill>
                <a:srgbClr val="5F6F75"/>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5" name="Shape 435"/>
        <p:cNvGrpSpPr/>
        <p:nvPr/>
      </p:nvGrpSpPr>
      <p:grpSpPr>
        <a:xfrm>
          <a:off x="0" y="0"/>
          <a:ext cx="0" cy="0"/>
          <a:chOff x="0" y="0"/>
          <a:chExt cx="0" cy="0"/>
        </a:xfrm>
      </p:grpSpPr>
      <p:sp>
        <p:nvSpPr>
          <p:cNvPr id="436" name="Google Shape;436;p35"/>
          <p:cNvSpPr txBox="1"/>
          <p:nvPr>
            <p:ph type="title"/>
          </p:nvPr>
        </p:nvSpPr>
        <p:spPr>
          <a:xfrm>
            <a:off x="480060" y="411480"/>
            <a:ext cx="6995160" cy="6858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lt1"/>
              </a:buClr>
              <a:buSzPts val="2600"/>
              <a:buFont typeface="Cambria"/>
              <a:buNone/>
            </a:pPr>
            <a:r>
              <a:rPr b="1" lang="en-GB" sz="2600">
                <a:solidFill>
                  <a:schemeClr val="lt1"/>
                </a:solidFill>
                <a:latin typeface="Cambria"/>
                <a:ea typeface="Cambria"/>
                <a:cs typeface="Cambria"/>
                <a:sym typeface="Cambria"/>
              </a:rPr>
              <a:t>Clean data and the right information matter most</a:t>
            </a:r>
            <a:endParaRPr sz="2600"/>
          </a:p>
        </p:txBody>
      </p:sp>
      <p:sp>
        <p:nvSpPr>
          <p:cNvPr id="437" name="Google Shape;437;p35"/>
          <p:cNvSpPr/>
          <p:nvPr/>
        </p:nvSpPr>
        <p:spPr>
          <a:xfrm>
            <a:off x="480060" y="1337310"/>
            <a:ext cx="2606040" cy="1988820"/>
          </a:xfrm>
          <a:prstGeom prst="roundRect">
            <a:avLst>
              <a:gd fmla="val 2759" name="adj"/>
            </a:avLst>
          </a:prstGeom>
          <a:solidFill>
            <a:srgbClr val="1D5560"/>
          </a:solidFill>
          <a:ln cap="flat" cmpd="sng" w="12700">
            <a:solidFill>
              <a:srgbClr val="1D5560"/>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38" name="Google Shape;438;p35"/>
          <p:cNvSpPr txBox="1"/>
          <p:nvPr/>
        </p:nvSpPr>
        <p:spPr>
          <a:xfrm>
            <a:off x="685800" y="1474470"/>
            <a:ext cx="411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A541"/>
              </a:buClr>
              <a:buSzPts val="2300"/>
              <a:buFont typeface="Cambria"/>
              <a:buNone/>
            </a:pPr>
            <a:r>
              <a:rPr b="1" lang="en-GB" sz="2300">
                <a:solidFill>
                  <a:srgbClr val="F2A541"/>
                </a:solidFill>
                <a:latin typeface="Cambria"/>
                <a:ea typeface="Cambria"/>
                <a:cs typeface="Cambria"/>
                <a:sym typeface="Cambria"/>
              </a:rPr>
              <a:t>1</a:t>
            </a:r>
            <a:endParaRPr sz="2300">
              <a:solidFill>
                <a:schemeClr val="dk1"/>
              </a:solidFill>
              <a:latin typeface="Calibri"/>
              <a:ea typeface="Calibri"/>
              <a:cs typeface="Calibri"/>
              <a:sym typeface="Calibri"/>
            </a:endParaRPr>
          </a:p>
        </p:txBody>
      </p:sp>
      <p:sp>
        <p:nvSpPr>
          <p:cNvPr id="439" name="Google Shape;439;p35"/>
          <p:cNvSpPr txBox="1"/>
          <p:nvPr/>
        </p:nvSpPr>
        <p:spPr>
          <a:xfrm>
            <a:off x="685800" y="1920240"/>
            <a:ext cx="226314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Calibri"/>
              <a:buNone/>
            </a:pPr>
            <a:r>
              <a:rPr b="1" lang="en-GB" sz="1500">
                <a:solidFill>
                  <a:srgbClr val="FFFFFF"/>
                </a:solidFill>
                <a:latin typeface="Calibri"/>
                <a:ea typeface="Calibri"/>
                <a:cs typeface="Calibri"/>
                <a:sym typeface="Calibri"/>
              </a:rPr>
              <a:t>Clean first</a:t>
            </a:r>
            <a:endParaRPr sz="1500">
              <a:solidFill>
                <a:schemeClr val="dk1"/>
              </a:solidFill>
              <a:latin typeface="Calibri"/>
              <a:ea typeface="Calibri"/>
              <a:cs typeface="Calibri"/>
              <a:sym typeface="Calibri"/>
            </a:endParaRPr>
          </a:p>
        </p:txBody>
      </p:sp>
      <p:sp>
        <p:nvSpPr>
          <p:cNvPr id="440" name="Google Shape;440;p35"/>
          <p:cNvSpPr txBox="1"/>
          <p:nvPr/>
        </p:nvSpPr>
        <p:spPr>
          <a:xfrm>
            <a:off x="685800" y="2297430"/>
            <a:ext cx="226314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EF3F3"/>
              </a:buClr>
              <a:buSzPts val="1100"/>
              <a:buFont typeface="Calibri"/>
              <a:buNone/>
            </a:pPr>
            <a:r>
              <a:rPr lang="en-GB" sz="1100">
                <a:solidFill>
                  <a:srgbClr val="EEF3F3"/>
                </a:solidFill>
                <a:latin typeface="Calibri"/>
                <a:ea typeface="Calibri"/>
                <a:cs typeface="Calibri"/>
                <a:sym typeface="Calibri"/>
              </a:rPr>
              <a:t>Masking survey codes alone raised the original model from 0.734 to 0.749 AUC.</a:t>
            </a:r>
            <a:endParaRPr sz="1100">
              <a:solidFill>
                <a:schemeClr val="dk1"/>
              </a:solidFill>
              <a:latin typeface="Calibri"/>
              <a:ea typeface="Calibri"/>
              <a:cs typeface="Calibri"/>
              <a:sym typeface="Calibri"/>
            </a:endParaRPr>
          </a:p>
        </p:txBody>
      </p:sp>
      <p:sp>
        <p:nvSpPr>
          <p:cNvPr id="441" name="Google Shape;441;p35"/>
          <p:cNvSpPr/>
          <p:nvPr/>
        </p:nvSpPr>
        <p:spPr>
          <a:xfrm>
            <a:off x="3291840" y="1337310"/>
            <a:ext cx="2606040" cy="1988820"/>
          </a:xfrm>
          <a:prstGeom prst="roundRect">
            <a:avLst>
              <a:gd fmla="val 2759" name="adj"/>
            </a:avLst>
          </a:prstGeom>
          <a:solidFill>
            <a:srgbClr val="1D5560"/>
          </a:solidFill>
          <a:ln cap="flat" cmpd="sng" w="12700">
            <a:solidFill>
              <a:srgbClr val="1D5560"/>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42" name="Google Shape;442;p35"/>
          <p:cNvSpPr txBox="1"/>
          <p:nvPr/>
        </p:nvSpPr>
        <p:spPr>
          <a:xfrm>
            <a:off x="3497580" y="1474470"/>
            <a:ext cx="411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A541"/>
              </a:buClr>
              <a:buSzPts val="2300"/>
              <a:buFont typeface="Cambria"/>
              <a:buNone/>
            </a:pPr>
            <a:r>
              <a:rPr b="1" lang="en-GB" sz="2300">
                <a:solidFill>
                  <a:srgbClr val="F2A541"/>
                </a:solidFill>
                <a:latin typeface="Cambria"/>
                <a:ea typeface="Cambria"/>
                <a:cs typeface="Cambria"/>
                <a:sym typeface="Cambria"/>
              </a:rPr>
              <a:t>2</a:t>
            </a:r>
            <a:endParaRPr sz="2300">
              <a:solidFill>
                <a:schemeClr val="dk1"/>
              </a:solidFill>
              <a:latin typeface="Calibri"/>
              <a:ea typeface="Calibri"/>
              <a:cs typeface="Calibri"/>
              <a:sym typeface="Calibri"/>
            </a:endParaRPr>
          </a:p>
        </p:txBody>
      </p:sp>
      <p:sp>
        <p:nvSpPr>
          <p:cNvPr id="443" name="Google Shape;443;p35"/>
          <p:cNvSpPr txBox="1"/>
          <p:nvPr/>
        </p:nvSpPr>
        <p:spPr>
          <a:xfrm>
            <a:off x="3497580" y="1920240"/>
            <a:ext cx="226314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Calibri"/>
              <a:buNone/>
            </a:pPr>
            <a:r>
              <a:rPr b="1" lang="en-GB" sz="1500">
                <a:solidFill>
                  <a:srgbClr val="FFFFFF"/>
                </a:solidFill>
                <a:latin typeface="Calibri"/>
                <a:ea typeface="Calibri"/>
                <a:cs typeface="Calibri"/>
                <a:sym typeface="Calibri"/>
              </a:rPr>
              <a:t>Information beats algorithm</a:t>
            </a:r>
            <a:endParaRPr sz="1500">
              <a:solidFill>
                <a:schemeClr val="dk1"/>
              </a:solidFill>
              <a:latin typeface="Calibri"/>
              <a:ea typeface="Calibri"/>
              <a:cs typeface="Calibri"/>
              <a:sym typeface="Calibri"/>
            </a:endParaRPr>
          </a:p>
        </p:txBody>
      </p:sp>
      <p:sp>
        <p:nvSpPr>
          <p:cNvPr id="444" name="Google Shape;444;p35"/>
          <p:cNvSpPr txBox="1"/>
          <p:nvPr/>
        </p:nvSpPr>
        <p:spPr>
          <a:xfrm>
            <a:off x="3497580" y="2297430"/>
            <a:ext cx="226314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EF3F3"/>
              </a:buClr>
              <a:buSzPts val="1100"/>
              <a:buFont typeface="Calibri"/>
              <a:buNone/>
            </a:pPr>
            <a:r>
              <a:rPr lang="en-GB" sz="1100">
                <a:solidFill>
                  <a:srgbClr val="EEF3F3"/>
                </a:solidFill>
                <a:latin typeface="Calibri"/>
                <a:ea typeface="Calibri"/>
                <a:cs typeface="Calibri"/>
                <a:sym typeface="Calibri"/>
              </a:rPr>
              <a:t>Functional indicators: 0.750 → 0.784. Algorithms differ by ≤ 0.01; PCA gives no gain.</a:t>
            </a:r>
            <a:endParaRPr sz="1100">
              <a:solidFill>
                <a:schemeClr val="dk1"/>
              </a:solidFill>
              <a:latin typeface="Calibri"/>
              <a:ea typeface="Calibri"/>
              <a:cs typeface="Calibri"/>
              <a:sym typeface="Calibri"/>
            </a:endParaRPr>
          </a:p>
        </p:txBody>
      </p:sp>
      <p:sp>
        <p:nvSpPr>
          <p:cNvPr id="445" name="Google Shape;445;p35"/>
          <p:cNvSpPr/>
          <p:nvPr/>
        </p:nvSpPr>
        <p:spPr>
          <a:xfrm>
            <a:off x="6103620" y="1337310"/>
            <a:ext cx="2606040" cy="1988820"/>
          </a:xfrm>
          <a:prstGeom prst="roundRect">
            <a:avLst>
              <a:gd fmla="val 2759" name="adj"/>
            </a:avLst>
          </a:prstGeom>
          <a:solidFill>
            <a:srgbClr val="1D5560"/>
          </a:solidFill>
          <a:ln cap="flat" cmpd="sng" w="12700">
            <a:solidFill>
              <a:srgbClr val="1D5560"/>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46" name="Google Shape;446;p35"/>
          <p:cNvSpPr txBox="1"/>
          <p:nvPr/>
        </p:nvSpPr>
        <p:spPr>
          <a:xfrm>
            <a:off x="6309360" y="1474470"/>
            <a:ext cx="411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A541"/>
              </a:buClr>
              <a:buSzPts val="2300"/>
              <a:buFont typeface="Cambria"/>
              <a:buNone/>
            </a:pPr>
            <a:r>
              <a:rPr b="1" lang="en-GB" sz="2300">
                <a:solidFill>
                  <a:srgbClr val="F2A541"/>
                </a:solidFill>
                <a:latin typeface="Cambria"/>
                <a:ea typeface="Cambria"/>
                <a:cs typeface="Cambria"/>
                <a:sym typeface="Cambria"/>
              </a:rPr>
              <a:t>3</a:t>
            </a:r>
            <a:endParaRPr sz="2300">
              <a:solidFill>
                <a:schemeClr val="dk1"/>
              </a:solidFill>
              <a:latin typeface="Calibri"/>
              <a:ea typeface="Calibri"/>
              <a:cs typeface="Calibri"/>
              <a:sym typeface="Calibri"/>
            </a:endParaRPr>
          </a:p>
        </p:txBody>
      </p:sp>
      <p:sp>
        <p:nvSpPr>
          <p:cNvPr id="447" name="Google Shape;447;p35"/>
          <p:cNvSpPr txBox="1"/>
          <p:nvPr/>
        </p:nvSpPr>
        <p:spPr>
          <a:xfrm>
            <a:off x="6309360" y="1920240"/>
            <a:ext cx="226314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Calibri"/>
              <a:buNone/>
            </a:pPr>
            <a:r>
              <a:rPr b="1" lang="en-GB" sz="1500">
                <a:solidFill>
                  <a:srgbClr val="FFFFFF"/>
                </a:solidFill>
                <a:latin typeface="Calibri"/>
                <a:ea typeface="Calibri"/>
                <a:cs typeface="Calibri"/>
                <a:sym typeface="Calibri"/>
              </a:rPr>
              <a:t>Useful for screening</a:t>
            </a:r>
            <a:endParaRPr sz="1500">
              <a:solidFill>
                <a:schemeClr val="dk1"/>
              </a:solidFill>
              <a:latin typeface="Calibri"/>
              <a:ea typeface="Calibri"/>
              <a:cs typeface="Calibri"/>
              <a:sym typeface="Calibri"/>
            </a:endParaRPr>
          </a:p>
        </p:txBody>
      </p:sp>
      <p:sp>
        <p:nvSpPr>
          <p:cNvPr id="448" name="Google Shape;448;p35"/>
          <p:cNvSpPr txBox="1"/>
          <p:nvPr/>
        </p:nvSpPr>
        <p:spPr>
          <a:xfrm>
            <a:off x="6309360" y="2297430"/>
            <a:ext cx="226314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EF3F3"/>
              </a:buClr>
              <a:buSzPts val="1100"/>
              <a:buFont typeface="Calibri"/>
              <a:buNone/>
            </a:pPr>
            <a:r>
              <a:rPr lang="en-GB" sz="1100">
                <a:solidFill>
                  <a:srgbClr val="EEF3F3"/>
                </a:solidFill>
                <a:latin typeface="Calibri"/>
                <a:ea typeface="Calibri"/>
                <a:cs typeface="Calibri"/>
                <a:sym typeface="Calibri"/>
              </a:rPr>
              <a:t>Top 20% of predicted risk holds 56% of new cases; probabilities track observed rates.</a:t>
            </a:r>
            <a:endParaRPr sz="1100">
              <a:solidFill>
                <a:schemeClr val="dk1"/>
              </a:solidFill>
              <a:latin typeface="Calibri"/>
              <a:ea typeface="Calibri"/>
              <a:cs typeface="Calibri"/>
              <a:sym typeface="Calibri"/>
            </a:endParaRPr>
          </a:p>
        </p:txBody>
      </p:sp>
      <p:sp>
        <p:nvSpPr>
          <p:cNvPr id="449" name="Google Shape;449;p35"/>
          <p:cNvSpPr/>
          <p:nvPr/>
        </p:nvSpPr>
        <p:spPr>
          <a:xfrm>
            <a:off x="480060" y="3600450"/>
            <a:ext cx="8229600" cy="822960"/>
          </a:xfrm>
          <a:prstGeom prst="roundRect">
            <a:avLst>
              <a:gd fmla="val 6667" name="adj"/>
            </a:avLst>
          </a:prstGeom>
          <a:solidFill>
            <a:srgbClr val="157A82"/>
          </a:solidFill>
          <a:ln cap="flat" cmpd="sng" w="12700">
            <a:solidFill>
              <a:srgbClr val="157A82"/>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50" name="Google Shape;450;p35"/>
          <p:cNvSpPr txBox="1"/>
          <p:nvPr/>
        </p:nvSpPr>
        <p:spPr>
          <a:xfrm>
            <a:off x="685800" y="3600450"/>
            <a:ext cx="78181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libri"/>
              <a:buNone/>
            </a:pPr>
            <a:r>
              <a:rPr b="1" lang="en-GB" sz="1300">
                <a:solidFill>
                  <a:srgbClr val="FFFFFF"/>
                </a:solidFill>
                <a:latin typeface="Calibri"/>
                <a:ea typeface="Calibri"/>
                <a:cs typeface="Calibri"/>
                <a:sym typeface="Calibri"/>
              </a:rPr>
              <a:t>Recommendation: </a:t>
            </a:r>
            <a:r>
              <a:rPr lang="en-GB" sz="1300">
                <a:solidFill>
                  <a:srgbClr val="FFFFFF"/>
                </a:solidFill>
                <a:latin typeface="Calibri"/>
                <a:ea typeface="Calibri"/>
                <a:cs typeface="Calibri"/>
                <a:sym typeface="Calibri"/>
              </a:rPr>
              <a:t>screen adults 65+ with a few questions on mobility, large-muscle and IADL difficulties plus self-rated health, and target prevention at the highest-risk group. Use it to rank risk, not to diagnose individuals.</a:t>
            </a:r>
            <a:endParaRPr sz="13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5" name="Shape 455"/>
        <p:cNvGrpSpPr/>
        <p:nvPr/>
      </p:nvGrpSpPr>
      <p:grpSpPr>
        <a:xfrm>
          <a:off x="0" y="0"/>
          <a:ext cx="0" cy="0"/>
          <a:chOff x="0" y="0"/>
          <a:chExt cx="0" cy="0"/>
        </a:xfrm>
      </p:grpSpPr>
      <p:sp>
        <p:nvSpPr>
          <p:cNvPr id="456" name="Google Shape;456;p36"/>
          <p:cNvSpPr txBox="1"/>
          <p:nvPr>
            <p:ph type="title"/>
          </p:nvPr>
        </p:nvSpPr>
        <p:spPr>
          <a:xfrm>
            <a:off x="570285" y="2138605"/>
            <a:ext cx="6995100" cy="6858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lt1"/>
              </a:buClr>
              <a:buSzPts val="2600"/>
              <a:buFont typeface="Cambria"/>
              <a:buNone/>
            </a:pPr>
            <a:r>
              <a:rPr lang="en-GB"/>
              <a:t>Thank You !!</a:t>
            </a:r>
            <a:endParaRPr/>
          </a:p>
          <a:p>
            <a:pPr indent="0" lvl="0" marL="0" rtl="0" algn="l">
              <a:spcBef>
                <a:spcPts val="0"/>
              </a:spcBef>
              <a:spcAft>
                <a:spcPts val="0"/>
              </a:spcAft>
              <a:buClr>
                <a:schemeClr val="lt1"/>
              </a:buClr>
              <a:buSzPts val="2600"/>
              <a:buFont typeface="Cambria"/>
              <a:buNone/>
            </a:pPr>
            <a:r>
              <a:rPr b="1" lang="en-GB" sz="2600">
                <a:solidFill>
                  <a:schemeClr val="lt1"/>
                </a:solidFill>
                <a:latin typeface="Cambria"/>
                <a:ea typeface="Cambria"/>
                <a:cs typeface="Cambria"/>
                <a:sym typeface="Cambria"/>
              </a:rPr>
              <a:t>Questions</a:t>
            </a:r>
            <a:r>
              <a:rPr lang="en-GB"/>
              <a:t> are Welcome </a:t>
            </a:r>
            <a:endParaRPr sz="2600"/>
          </a:p>
        </p:txBody>
      </p:sp>
      <p:pic>
        <p:nvPicPr>
          <p:cNvPr id="457" name="Google Shape;457;p36"/>
          <p:cNvPicPr preferRelativeResize="0"/>
          <p:nvPr/>
        </p:nvPicPr>
        <p:blipFill>
          <a:blip r:embed="rId3">
            <a:alphaModFix/>
          </a:blip>
          <a:stretch>
            <a:fillRect/>
          </a:stretch>
        </p:blipFill>
        <p:spPr>
          <a:xfrm>
            <a:off x="4724975" y="1371250"/>
            <a:ext cx="4419025" cy="222050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2" name="Shape 462"/>
        <p:cNvGrpSpPr/>
        <p:nvPr/>
      </p:nvGrpSpPr>
      <p:grpSpPr>
        <a:xfrm>
          <a:off x="0" y="0"/>
          <a:ext cx="0" cy="0"/>
          <a:chOff x="0" y="0"/>
          <a:chExt cx="0" cy="0"/>
        </a:xfrm>
      </p:grpSpPr>
      <p:sp>
        <p:nvSpPr>
          <p:cNvPr id="463" name="Google Shape;463;p37"/>
          <p:cNvSpPr txBox="1"/>
          <p:nvPr>
            <p:ph type="title"/>
          </p:nvPr>
        </p:nvSpPr>
        <p:spPr>
          <a:xfrm>
            <a:off x="411480" y="240030"/>
            <a:ext cx="7063740" cy="65151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2100"/>
              <a:buFont typeface="Cambria"/>
              <a:buNone/>
            </a:pPr>
            <a:r>
              <a:rPr b="1" lang="en-GB" sz="2100">
                <a:solidFill>
                  <a:schemeClr val="dk2"/>
                </a:solidFill>
                <a:latin typeface="Cambria"/>
                <a:ea typeface="Cambria"/>
                <a:cs typeface="Cambria"/>
                <a:sym typeface="Cambria"/>
              </a:rPr>
              <a:t>References</a:t>
            </a:r>
            <a:endParaRPr sz="2100"/>
          </a:p>
        </p:txBody>
      </p:sp>
      <p:sp>
        <p:nvSpPr>
          <p:cNvPr id="464" name="Google Shape;464;p37"/>
          <p:cNvSpPr txBox="1"/>
          <p:nvPr/>
        </p:nvSpPr>
        <p:spPr>
          <a:xfrm>
            <a:off x="411480" y="1028700"/>
            <a:ext cx="8298180" cy="3154680"/>
          </a:xfrm>
          <a:prstGeom prst="rect">
            <a:avLst/>
          </a:prstGeom>
          <a:noFill/>
          <a:ln>
            <a:noFill/>
          </a:ln>
        </p:spPr>
        <p:txBody>
          <a:bodyPr anchorCtr="0" anchor="t" bIns="0" lIns="0" spcFirstLastPara="1" rIns="0" wrap="square" tIns="0">
            <a:noAutofit/>
          </a:bodyPr>
          <a:lstStyle/>
          <a:p>
            <a:pPr indent="-260350" lvl="0" marL="254000" marR="0" rtl="0" algn="l">
              <a:spcBef>
                <a:spcPts val="0"/>
              </a:spcBef>
              <a:spcAft>
                <a:spcPts val="0"/>
              </a:spcAft>
              <a:buClr>
                <a:schemeClr val="dk1"/>
              </a:buClr>
              <a:buSzPts val="1100"/>
              <a:buFont typeface="Calibri"/>
              <a:buChar char="•"/>
            </a:pPr>
            <a:r>
              <a:rPr lang="en-GB" sz="1100">
                <a:solidFill>
                  <a:schemeClr val="dk1"/>
                </a:solidFill>
                <a:latin typeface="Calibri"/>
                <a:ea typeface="Calibri"/>
                <a:cs typeface="Calibri"/>
                <a:sym typeface="Calibri"/>
              </a:rPr>
              <a:t>SHARE-ERIC (2024). easySHARE. Release version: 9.0.0. SHARE-ERIC. Data set. DOI: 10.6103/SHARE.easy.900</a:t>
            </a:r>
            <a:endParaRPr sz="1100">
              <a:solidFill>
                <a:schemeClr val="dk1"/>
              </a:solidFill>
              <a:latin typeface="Calibri"/>
              <a:ea typeface="Calibri"/>
              <a:cs typeface="Calibri"/>
              <a:sym typeface="Calibri"/>
            </a:endParaRPr>
          </a:p>
          <a:p>
            <a:pPr indent="-260350" lvl="0" marL="254000" marR="0" rtl="0" algn="l">
              <a:spcBef>
                <a:spcPts val="600"/>
              </a:spcBef>
              <a:spcAft>
                <a:spcPts val="0"/>
              </a:spcAft>
              <a:buClr>
                <a:schemeClr val="dk1"/>
              </a:buClr>
              <a:buSzPts val="1100"/>
              <a:buFont typeface="Calibri"/>
              <a:buChar char="•"/>
            </a:pPr>
            <a:r>
              <a:rPr lang="en-GB" sz="1100">
                <a:solidFill>
                  <a:schemeClr val="dk1"/>
                </a:solidFill>
                <a:latin typeface="Calibri"/>
                <a:ea typeface="Calibri"/>
                <a:cs typeface="Calibri"/>
                <a:sym typeface="Calibri"/>
              </a:rPr>
              <a:t>Gruber, S., Hunkler, C. &amp; Stuck, S. (2014). Generating easySHARE: guidelines, structure, content and programming. SHARE Working Paper Series 17-2014.</a:t>
            </a:r>
            <a:endParaRPr sz="1100">
              <a:solidFill>
                <a:schemeClr val="dk1"/>
              </a:solidFill>
              <a:latin typeface="Calibri"/>
              <a:ea typeface="Calibri"/>
              <a:cs typeface="Calibri"/>
              <a:sym typeface="Calibri"/>
            </a:endParaRPr>
          </a:p>
          <a:p>
            <a:pPr indent="-260350" lvl="0" marL="254000" marR="0" rtl="0" algn="l">
              <a:spcBef>
                <a:spcPts val="600"/>
              </a:spcBef>
              <a:spcAft>
                <a:spcPts val="0"/>
              </a:spcAft>
              <a:buClr>
                <a:schemeClr val="dk1"/>
              </a:buClr>
              <a:buSzPts val="1100"/>
              <a:buFont typeface="Calibri"/>
              <a:buChar char="•"/>
            </a:pPr>
            <a:r>
              <a:rPr lang="en-GB" sz="1100">
                <a:solidFill>
                  <a:schemeClr val="dk1"/>
                </a:solidFill>
                <a:latin typeface="Calibri"/>
                <a:ea typeface="Calibri"/>
                <a:cs typeface="Calibri"/>
                <a:sym typeface="Calibri"/>
              </a:rPr>
              <a:t>Börsch-Supan, A. et al. (2013). Data resource profile: the Survey of Health, Ageing and Retirement in Europe (SHARE). International Journal of Epidemiology, 42(4), 992–1001.</a:t>
            </a:r>
            <a:endParaRPr sz="1100">
              <a:solidFill>
                <a:schemeClr val="dk1"/>
              </a:solidFill>
              <a:latin typeface="Calibri"/>
              <a:ea typeface="Calibri"/>
              <a:cs typeface="Calibri"/>
              <a:sym typeface="Calibri"/>
            </a:endParaRPr>
          </a:p>
          <a:p>
            <a:pPr indent="-260350" lvl="0" marL="254000" marR="0" rtl="0" algn="l">
              <a:spcBef>
                <a:spcPts val="600"/>
              </a:spcBef>
              <a:spcAft>
                <a:spcPts val="0"/>
              </a:spcAft>
              <a:buClr>
                <a:schemeClr val="dk1"/>
              </a:buClr>
              <a:buSzPts val="1100"/>
              <a:buFont typeface="Calibri"/>
              <a:buChar char="•"/>
            </a:pPr>
            <a:r>
              <a:rPr lang="en-GB" sz="1100">
                <a:solidFill>
                  <a:schemeClr val="dk1"/>
                </a:solidFill>
                <a:latin typeface="Calibri"/>
                <a:ea typeface="Calibri"/>
                <a:cs typeface="Calibri"/>
                <a:sym typeface="Calibri"/>
              </a:rPr>
              <a:t>Katz, S. et al. (1963). Studies of illness in the aged. The index of ADL. JAMA, 185(12), 914–919.</a:t>
            </a:r>
            <a:endParaRPr sz="1100">
              <a:solidFill>
                <a:schemeClr val="dk1"/>
              </a:solidFill>
              <a:latin typeface="Calibri"/>
              <a:ea typeface="Calibri"/>
              <a:cs typeface="Calibri"/>
              <a:sym typeface="Calibri"/>
            </a:endParaRPr>
          </a:p>
          <a:p>
            <a:pPr indent="-260350" lvl="0" marL="254000" marR="0" rtl="0" algn="l">
              <a:spcBef>
                <a:spcPts val="600"/>
              </a:spcBef>
              <a:spcAft>
                <a:spcPts val="0"/>
              </a:spcAft>
              <a:buClr>
                <a:schemeClr val="dk1"/>
              </a:buClr>
              <a:buSzPts val="1100"/>
              <a:buFont typeface="Calibri"/>
              <a:buChar char="•"/>
            </a:pPr>
            <a:r>
              <a:rPr lang="en-GB" sz="1100">
                <a:solidFill>
                  <a:schemeClr val="dk1"/>
                </a:solidFill>
                <a:latin typeface="Calibri"/>
                <a:ea typeface="Calibri"/>
                <a:cs typeface="Calibri"/>
                <a:sym typeface="Calibri"/>
              </a:rPr>
              <a:t>Cruz-Jentoft, A. J. et al. (2019). Sarcopenia: revised European consensus on definition and diagnosis (EWGSOP2). Age and Ageing, 48(1), 16–31.</a:t>
            </a:r>
            <a:endParaRPr sz="1100">
              <a:solidFill>
                <a:schemeClr val="dk1"/>
              </a:solidFill>
              <a:latin typeface="Calibri"/>
              <a:ea typeface="Calibri"/>
              <a:cs typeface="Calibri"/>
              <a:sym typeface="Calibri"/>
            </a:endParaRPr>
          </a:p>
          <a:p>
            <a:pPr indent="-260350" lvl="0" marL="254000" marR="0" rtl="0" algn="l">
              <a:spcBef>
                <a:spcPts val="600"/>
              </a:spcBef>
              <a:spcAft>
                <a:spcPts val="0"/>
              </a:spcAft>
              <a:buClr>
                <a:schemeClr val="dk1"/>
              </a:buClr>
              <a:buSzPts val="1100"/>
              <a:buFont typeface="Calibri"/>
              <a:buChar char="•"/>
            </a:pPr>
            <a:r>
              <a:rPr lang="en-GB" sz="1100">
                <a:solidFill>
                  <a:schemeClr val="dk1"/>
                </a:solidFill>
                <a:latin typeface="Calibri"/>
                <a:ea typeface="Calibri"/>
                <a:cs typeface="Calibri"/>
                <a:sym typeface="Calibri"/>
              </a:rPr>
              <a:t>Vickers, A. J. &amp; Elkin, E. B. (2006). Decision curve analysis. Medical Decision Making, 26(6), 565–574.</a:t>
            </a:r>
            <a:endParaRPr sz="1100">
              <a:solidFill>
                <a:schemeClr val="dk1"/>
              </a:solidFill>
              <a:latin typeface="Calibri"/>
              <a:ea typeface="Calibri"/>
              <a:cs typeface="Calibri"/>
              <a:sym typeface="Calibri"/>
            </a:endParaRPr>
          </a:p>
          <a:p>
            <a:pPr indent="-260350" lvl="0" marL="254000" marR="0" rtl="0" algn="l">
              <a:spcBef>
                <a:spcPts val="600"/>
              </a:spcBef>
              <a:spcAft>
                <a:spcPts val="0"/>
              </a:spcAft>
              <a:buClr>
                <a:schemeClr val="dk1"/>
              </a:buClr>
              <a:buSzPts val="1100"/>
              <a:buFont typeface="Calibri"/>
              <a:buChar char="•"/>
            </a:pPr>
            <a:r>
              <a:rPr lang="en-GB" sz="1100">
                <a:solidFill>
                  <a:schemeClr val="dk1"/>
                </a:solidFill>
                <a:latin typeface="Calibri"/>
                <a:ea typeface="Calibri"/>
                <a:cs typeface="Calibri"/>
                <a:sym typeface="Calibri"/>
              </a:rPr>
              <a:t>Pedregosa, F. et al. (2011). Scikit-learn: machine learning in Python. Journal of Machine Learning Research, 12, 2825–2830.</a:t>
            </a:r>
            <a:endParaRPr sz="1100">
              <a:solidFill>
                <a:schemeClr val="dk1"/>
              </a:solidFill>
              <a:latin typeface="Calibri"/>
              <a:ea typeface="Calibri"/>
              <a:cs typeface="Calibri"/>
              <a:sym typeface="Calibri"/>
            </a:endParaRPr>
          </a:p>
        </p:txBody>
      </p:sp>
      <p:sp>
        <p:nvSpPr>
          <p:cNvPr id="465" name="Google Shape;465;p37"/>
          <p:cNvSpPr txBox="1"/>
          <p:nvPr/>
        </p:nvSpPr>
        <p:spPr>
          <a:xfrm>
            <a:off x="411480" y="3360420"/>
            <a:ext cx="8298180" cy="12344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F6F75"/>
              </a:buClr>
              <a:buSzPts val="800"/>
              <a:buFont typeface="Calibri"/>
              <a:buNone/>
            </a:pPr>
            <a:r>
              <a:rPr i="1" lang="en-GB" sz="800">
                <a:solidFill>
                  <a:srgbClr val="5F6F75"/>
                </a:solidFill>
                <a:latin typeface="Calibri"/>
                <a:ea typeface="Calibri"/>
                <a:cs typeface="Calibri"/>
                <a:sym typeface="Calibri"/>
              </a:rPr>
              <a:t>This presentation uses data from SHARE via the generated easySHARE data set (DOI: 10.6103/SHARE.easy.900); see Börsch-Supan et al. (2013) and Gruber et al. (2014) for methodological details.</a:t>
            </a:r>
            <a:endParaRPr sz="1100"/>
          </a:p>
          <a:p>
            <a:pPr indent="0" lvl="0" marL="0" marR="0" rtl="0" algn="l">
              <a:spcBef>
                <a:spcPts val="500"/>
              </a:spcBef>
              <a:spcAft>
                <a:spcPts val="0"/>
              </a:spcAft>
              <a:buClr>
                <a:srgbClr val="5F6F75"/>
              </a:buClr>
              <a:buSzPts val="800"/>
              <a:buFont typeface="Calibri"/>
              <a:buNone/>
            </a:pPr>
            <a:r>
              <a:rPr i="1" lang="en-GB" sz="800">
                <a:solidFill>
                  <a:srgbClr val="5F6F75"/>
                </a:solidFill>
                <a:latin typeface="Calibri"/>
                <a:ea typeface="Calibri"/>
                <a:cs typeface="Calibri"/>
                <a:sym typeface="Calibri"/>
              </a:rPr>
              <a:t>The SHARE data collection has been funded by the European Commission, DG RTD through FP5 (QLK6-CT-2001-00360), FP6 (SHARE-I3: RII-CT-2006-062193, COMPARE: CIT5-CT-2005-028857, SHARELIFE: CIT4-CT-2006-028812), FP7 (SHARE-PREP: GA N°211909, SHARE-LEAP: GA N°227822, SHARE M4: GA N°261982, DASISH: GA N°283646) and Horizon 2020 (SHARE-DEV3: GA N°676536, SHARE-COHESION: GA N°870628, SERISS: GA N°654221, SSHOC: GA N°823782, SHARE-COVID19: GA N°101015924) and by DG Employment, Social Affairs &amp; Inclusion through VS 2015/0195, VS 2016/0135, VS 2018/0285, VS 2019/0332, VS 2020/0313, SHARE-EUCOV: GA N°101052589 and EUCOVII: GA N°101102412. Additional funding from the German Federal Ministry of Research, Technology and Space (01UW1301, 01UW1801, 01UW2202), the Max Planck Society for the Advancement of Science, the U.S. National Institute on Aging (U01_AG09740-13S2, P01_AG005842, P01_AG08291, P30_AG12815, R21_AG025169, Y1-AG-4553-01, IAG_BSR06-11, OGHA_04-064, BSR12-04, R01_AG052527-02, R01_AG056329-02, R01_AG063944, HHSN271201300071C, RAG052527A) and from various national funding sources is gratefully acknowledged (see share-eric.eu).</a:t>
            </a:r>
            <a:endParaRPr sz="800">
              <a:solidFill>
                <a:schemeClr val="dk1"/>
              </a:solidFill>
              <a:latin typeface="Calibri"/>
              <a:ea typeface="Calibri"/>
              <a:cs typeface="Calibri"/>
              <a:sym typeface="Calibri"/>
            </a:endParaRPr>
          </a:p>
        </p:txBody>
      </p:sp>
      <p:sp>
        <p:nvSpPr>
          <p:cNvPr id="466" name="Google Shape;466;p37"/>
          <p:cNvSpPr txBox="1"/>
          <p:nvPr>
            <p:ph idx="4294967295" type="sldNum"/>
          </p:nvPr>
        </p:nvSpPr>
        <p:spPr>
          <a:xfrm>
            <a:off x="8435340" y="4800600"/>
            <a:ext cx="342900" cy="205740"/>
          </a:xfrm>
          <a:prstGeom prst="rect">
            <a:avLst/>
          </a:prstGeom>
          <a:noFill/>
          <a:ln>
            <a:noFill/>
          </a:ln>
        </p:spPr>
        <p:txBody>
          <a:bodyPr anchorCtr="0" anchor="t" bIns="34275" lIns="68575" spcFirstLastPara="1" rIns="68575" wrap="square" tIns="34275">
            <a:noAutofit/>
          </a:bodyPr>
          <a:lstStyle/>
          <a:p>
            <a:pPr indent="0" lvl="0" marL="0" marR="0" rtl="0" algn="r">
              <a:spcBef>
                <a:spcPts val="0"/>
              </a:spcBef>
              <a:spcAft>
                <a:spcPts val="0"/>
              </a:spcAft>
              <a:buNone/>
            </a:pPr>
            <a:fld id="{00000000-1234-1234-1234-123412341234}" type="slidenum">
              <a:rPr b="0" lang="en-GB" sz="800">
                <a:solidFill>
                  <a:srgbClr val="5F6F75"/>
                </a:solidFill>
                <a:latin typeface="Calibri"/>
                <a:ea typeface="Calibri"/>
                <a:cs typeface="Calibri"/>
                <a:sym typeface="Calibri"/>
              </a:rPr>
              <a:t>‹#›</a:t>
            </a:fld>
            <a:endParaRPr sz="800">
              <a:solidFill>
                <a:srgbClr val="5F6F75"/>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ADL Teal">
  <a:themeElements>
    <a:clrScheme name="ADL Teal">
      <a:dk1>
        <a:srgbClr val="1F2D33"/>
      </a:dk1>
      <a:lt1>
        <a:srgbClr val="FFFFFF"/>
      </a:lt1>
      <a:dk2>
        <a:srgbClr val="123B44"/>
      </a:dk2>
      <a:lt2>
        <a:srgbClr val="EEF3F3"/>
      </a:lt2>
      <a:accent1>
        <a:srgbClr val="157A82"/>
      </a:accent1>
      <a:accent2>
        <a:srgbClr val="E4572E"/>
      </a:accent2>
      <a:accent3>
        <a:srgbClr val="F2A541"/>
      </a:accent3>
      <a:accent4>
        <a:srgbClr val="7FA7A9"/>
      </a:accent4>
      <a:accent5>
        <a:srgbClr val="9AA5AB"/>
      </a:accent5>
      <a:accent6>
        <a:srgbClr val="3C6E71"/>
      </a:accent6>
      <a:hlink>
        <a:srgbClr val="157A82"/>
      </a:hlink>
      <a:folHlink>
        <a:srgbClr val="3C6E7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